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780a86-3036-583a-49d9-5fb0cf74fc23}">
          <p14:sldIdLst>
            <p14:sldId id="256"/>
          </p14:sldIdLst>
        </p14:section>
        <p14:section name="System and workload" id="{bd3493fb-ffd0-c25b-27e7-a53bbb10ec98}">
          <p14:sldIdLst>
            <p14:sldId id="257"/>
            <p14:sldId id="258"/>
          </p14:sldIdLst>
        </p14:section>
        <p14:section name="Requirements and candidates" id="{a7649814-2570-e00c-bcfa-fa22d25b7fde}">
          <p14:sldIdLst>
            <p14:sldId id="259"/>
            <p14:sldId id="260"/>
          </p14:sldIdLst>
        </p14:section>
        <p14:section name="Golden set and testing" id="{6acf025e-6ff1-957c-36d7-a05b6429daa6}">
          <p14:sldIdLst>
            <p14:sldId id="261"/>
            <p14:sldId id="262"/>
            <p14:sldId id="263"/>
          </p14:sldIdLst>
        </p14:section>
        <p14:section name="Results and recommendation" id="{6a100870-ea1f-5006-e6a0-6081ac680af7}">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43B"/>
                </a:solidFill>
                <a:latin typeface="+mn-lt"/>
              </a:defRPr>
            </a:pPr>
            <a:r>
              <a:rPr sz="1300" b="0" i="0" u="none" strike="noStrike">
                <a:solidFill>
                  <a:srgbClr val="12343B"/>
                </a:solidFill>
                <a:latin typeface="+mn-lt"/>
              </a:rPr>
              <a:t>Ticket length in characters (our 1,000) [8]</a:t>
            </a:r>
          </a:p>
        </c:rich>
      </c:tx>
      <c:layout/>
      <c:overlay val="0"/>
    </c:title>
    <c:autoTitleDeleted val="0"/>
    <c:plotArea>
      <c:layout/>
      <c:barChart>
        <c:barDir val="col"/>
        <c:grouping val="clustered"/>
        <c:varyColors val="0"/>
        <c:ser>
          <c:idx val="0"/>
          <c:order val="0"/>
          <c:tx>
            <c:strRef>
              <c:f>Sheet1!$B$1</c:f>
              <c:strCache>
                <c:ptCount val="1"/>
                <c:pt idx="0">
                  <c:v>Characters</c:v>
                </c:pt>
              </c:strCache>
            </c:strRef>
          </c:tx>
          <c:spPr>
            <a:solidFill>
              <a:srgbClr val="0F6E6E"/>
            </a:solidFill>
            <a:effectLst/>
          </c:spPr>
          <c:invertIfNegative val="0"/>
          <c:dLbls>
            <c:numFmt formatCode="#,##0" sourceLinked="0"/>
            <c:txPr>
              <a:bodyPr/>
              <a:lstStyle/>
              <a:p>
                <a:pPr>
                  <a:defRPr b="0" i="0" strike="noStrike" sz="1000" u="none">
                    <a:solidFill>
                      <a:srgbClr val="1B2A30"/>
                    </a:solidFill>
                    <a:latin typeface="+mn-lt"/>
                  </a:defRPr>
                </a:pPr>
              </a:p>
            </c:txPr>
            <c:showLegendKey val="0"/>
            <c:showVal val="1"/>
            <c:showCatName val="0"/>
            <c:showSerName val="0"/>
            <c:showPercent val="0"/>
            <c:showBubbleSize val="0"/>
            <c:showLeaderLines val="0"/>
          </c:dLbls>
          <c:cat>
            <c:multiLvlStrRef>
              <c:f>Sheet1!$A$2:$A$8</c:f>
              <c:multiLvlStrCache>
                <c:ptCount val="7"/>
                <c:lvl>
                  <c:pt idx="0">
                    <c:v>5%</c:v>
                  </c:pt>
                  <c:pt idx="1">
                    <c:v>25%</c:v>
                  </c:pt>
                  <c:pt idx="2">
                    <c:v>50%</c:v>
                  </c:pt>
                  <c:pt idx="3">
                    <c:v>75%</c:v>
                  </c:pt>
                  <c:pt idx="4">
                    <c:v>95%</c:v>
                  </c:pt>
                  <c:pt idx="5">
                    <c:v>99%</c:v>
                  </c:pt>
                  <c:pt idx="6">
                    <c:v>Longest</c:v>
                  </c:pt>
                </c:lvl>
              </c:multiLvlStrCache>
            </c:multiLvlStrRef>
          </c:cat>
          <c:val>
            <c:numRef>
              <c:f>Sheet1!$B$2:$B$8</c:f>
              <c:numCache>
                <c:formatCode>General</c:formatCode>
                <c:ptCount val="7"/>
                <c:pt idx="0">
                  <c:v>263</c:v>
                </c:pt>
                <c:pt idx="1">
                  <c:v>512</c:v>
                </c:pt>
                <c:pt idx="2">
                  <c:v>797</c:v>
                </c:pt>
                <c:pt idx="3">
                  <c:v>1214</c:v>
                </c:pt>
                <c:pt idx="4">
                  <c:v>1780</c:v>
                </c:pt>
                <c:pt idx="5">
                  <c:v>1938</c:v>
                </c:pt>
                <c:pt idx="6">
                  <c:v>2000</c:v>
                </c:pt>
              </c:numCache>
            </c:numRef>
          </c:val>
        </c:ser>
        <c:dLbls>
          <c:numFmt formatCode="#,##0" sourceLinked="0"/>
          <c:txPr>
            <a:bodyPr/>
            <a:lstStyle/>
            <a:p>
              <a:pPr>
                <a:defRPr b="0" i="0" strike="noStrike" sz="1000" u="none">
                  <a:solidFill>
                    <a:srgbClr val="1B2A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47B"/>
                </a:solidFill>
                <a:latin typeface="+mn-lt"/>
              </a:defRPr>
            </a:pPr>
            <a:endParaRPr lang="en-US"/>
          </a:p>
        </c:txPr>
        <c:crossAx val="2094734552"/>
        <c:crosses val="autoZero"/>
        <c:auto val="1"/>
        <c:lblAlgn val="ctr"/>
        <c:noMultiLvlLbl val="1"/>
      </c:catAx>
      <c:valAx>
        <c:axId val="2094734552"/>
        <c:scaling>
          <c:orientation val="minMax"/>
          <c:max val="2400"/>
          <c:min val="0"/>
        </c:scaling>
        <c:delete val="0"/>
        <c:axPos val="l"/>
        <c:majorGridlines>
          <c:spPr>
            <a:ln w="6350" cap="flat">
              <a:solidFill>
                <a:srgbClr val="E2E8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47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2343B"/>
                </a:solidFill>
                <a:latin typeface="+mn-lt"/>
              </a:defRPr>
            </a:pPr>
            <a:r>
              <a:rPr sz="1300" b="0" i="0" u="none" strike="noStrike">
                <a:solidFill>
                  <a:srgbClr val="12343B"/>
                </a:solidFill>
                <a:latin typeface="+mn-lt"/>
              </a:rPr>
              <a:t>Share of each category sorted correctly (%); number of tickets in brackets</a:t>
            </a:r>
          </a:p>
        </c:rich>
      </c:tx>
      <c:layout/>
      <c:overlay val="0"/>
    </c:title>
    <c:autoTitleDeleted val="0"/>
    <c:plotArea>
      <c:layout/>
      <c:barChart>
        <c:barDir val="col"/>
        <c:grouping val="clustered"/>
        <c:varyColors val="0"/>
        <c:ser>
          <c:idx val="0"/>
          <c:order val="0"/>
          <c:tx>
            <c:strRef>
              <c:f>Sheet1!$B$1</c:f>
              <c:strCache>
                <c:ptCount val="1"/>
                <c:pt idx="0">
                  <c:v>qwen2.5:0.5b</c:v>
                </c:pt>
              </c:strCache>
            </c:strRef>
          </c:tx>
          <c:spPr>
            <a:solidFill>
              <a:srgbClr val="9BC1B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Credit reporting (42)</c:v>
                  </c:pt>
                  <c:pt idx="1">
                    <c:v>Debt collection (17)</c:v>
                  </c:pt>
                  <c:pt idx="2">
                    <c:v>Mortgage (27)</c:v>
                  </c:pt>
                  <c:pt idx="3">
                    <c:v>Credit card (18)</c:v>
                  </c:pt>
                  <c:pt idx="4">
                    <c:v>Bank account (37)</c:v>
                  </c:pt>
                  <c:pt idx="5">
                    <c:v>Consumer loan (24)</c:v>
                  </c:pt>
                  <c:pt idx="6">
                    <c:v>Money transfer (30)</c:v>
                  </c:pt>
                </c:lvl>
              </c:multiLvlStrCache>
            </c:multiLvlStrRef>
          </c:cat>
          <c:val>
            <c:numRef>
              <c:f>Sheet1!$B$2:$B$8</c:f>
              <c:numCache>
                <c:formatCode>General</c:formatCode>
                <c:ptCount val="7"/>
                <c:pt idx="0">
                  <c:v>40.5</c:v>
                </c:pt>
                <c:pt idx="1">
                  <c:v>0</c:v>
                </c:pt>
                <c:pt idx="2">
                  <c:v>0</c:v>
                </c:pt>
                <c:pt idx="3">
                  <c:v>94.4</c:v>
                </c:pt>
                <c:pt idx="4">
                  <c:v>2.7</c:v>
                </c:pt>
                <c:pt idx="5">
                  <c:v>0</c:v>
                </c:pt>
                <c:pt idx="6">
                  <c:v>0</c:v>
                </c:pt>
              </c:numCache>
            </c:numRef>
          </c:val>
        </c:ser>
        <c:ser>
          <c:idx val="1"/>
          <c:order val="1"/>
          <c:tx>
            <c:strRef>
              <c:f>Sheet1!$C$1</c:f>
              <c:strCache>
                <c:ptCount val="1"/>
                <c:pt idx="0">
                  <c:v>llama3.2:1b</c:v>
                </c:pt>
              </c:strCache>
            </c:strRef>
          </c:tx>
          <c:spPr>
            <a:solidFill>
              <a:srgbClr val="5F74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Credit reporting (42)</c:v>
                  </c:pt>
                  <c:pt idx="1">
                    <c:v>Debt collection (17)</c:v>
                  </c:pt>
                  <c:pt idx="2">
                    <c:v>Mortgage (27)</c:v>
                  </c:pt>
                  <c:pt idx="3">
                    <c:v>Credit card (18)</c:v>
                  </c:pt>
                  <c:pt idx="4">
                    <c:v>Bank account (37)</c:v>
                  </c:pt>
                  <c:pt idx="5">
                    <c:v>Consumer loan (24)</c:v>
                  </c:pt>
                  <c:pt idx="6">
                    <c:v>Money transfer (30)</c:v>
                  </c:pt>
                </c:lvl>
              </c:multiLvlStrCache>
            </c:multiLvlStrRef>
          </c:cat>
          <c:val>
            <c:numRef>
              <c:f>Sheet1!$C$2:$C$8</c:f>
              <c:numCache>
                <c:formatCode>General</c:formatCode>
                <c:ptCount val="7"/>
                <c:pt idx="0">
                  <c:v>85.7</c:v>
                </c:pt>
                <c:pt idx="1">
                  <c:v>58.8</c:v>
                </c:pt>
                <c:pt idx="2">
                  <c:v>29.6</c:v>
                </c:pt>
                <c:pt idx="3">
                  <c:v>16.7</c:v>
                </c:pt>
                <c:pt idx="4">
                  <c:v>16.2</c:v>
                </c:pt>
                <c:pt idx="5">
                  <c:v>0</c:v>
                </c:pt>
                <c:pt idx="6">
                  <c:v>3.3</c:v>
                </c:pt>
              </c:numCache>
            </c:numRef>
          </c:val>
        </c:ser>
        <c:ser>
          <c:idx val="2"/>
          <c:order val="2"/>
          <c:tx>
            <c:strRef>
              <c:f>Sheet1!$D$1</c:f>
              <c:strCache>
                <c:ptCount val="1"/>
                <c:pt idx="0">
                  <c:v>qwen2.5:7b</c:v>
                </c:pt>
              </c:strCache>
            </c:strRef>
          </c:tx>
          <c:spPr>
            <a:solidFill>
              <a:srgbClr val="0F6E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Credit reporting (42)</c:v>
                  </c:pt>
                  <c:pt idx="1">
                    <c:v>Debt collection (17)</c:v>
                  </c:pt>
                  <c:pt idx="2">
                    <c:v>Mortgage (27)</c:v>
                  </c:pt>
                  <c:pt idx="3">
                    <c:v>Credit card (18)</c:v>
                  </c:pt>
                  <c:pt idx="4">
                    <c:v>Bank account (37)</c:v>
                  </c:pt>
                  <c:pt idx="5">
                    <c:v>Consumer loan (24)</c:v>
                  </c:pt>
                  <c:pt idx="6">
                    <c:v>Money transfer (30)</c:v>
                  </c:pt>
                </c:lvl>
              </c:multiLvlStrCache>
            </c:multiLvlStrRef>
          </c:cat>
          <c:val>
            <c:numRef>
              <c:f>Sheet1!$D$2:$D$8</c:f>
              <c:numCache>
                <c:formatCode>General</c:formatCode>
                <c:ptCount val="7"/>
                <c:pt idx="0">
                  <c:v>81</c:v>
                </c:pt>
                <c:pt idx="1">
                  <c:v>82.4</c:v>
                </c:pt>
                <c:pt idx="2">
                  <c:v>92.6</c:v>
                </c:pt>
                <c:pt idx="3">
                  <c:v>88.9</c:v>
                </c:pt>
                <c:pt idx="4">
                  <c:v>94.6</c:v>
                </c:pt>
                <c:pt idx="5">
                  <c:v>70.8</c:v>
                </c:pt>
                <c:pt idx="6">
                  <c:v>66.7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lineChart>
        <c:varyColors val="0"/>
        <c:ser>
          <c:idx val="3"/>
          <c:order val="3"/>
          <c:tx>
            <c:strRef>
              <c:f>Sheet1!$E$1</c:f>
              <c:strCache>
                <c:ptCount val="1"/>
                <c:pt idx="0">
                  <c:v>R5 target (70%)</c:v>
                </c:pt>
              </c:strCache>
            </c:strRef>
          </c:tx>
          <c:spPr>
            <a:solidFill>
              <a:srgbClr val="B83A2E"/>
            </a:solidFill>
            <a:ln w="19050" cap="flat">
              <a:solidFill>
                <a:srgbClr val="B83A2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3A2E"/>
              </a:solidFill>
              <a:ln w="9525" cap="flat">
                <a:solidFill>
                  <a:srgbClr val="B83A2E"/>
                </a:solidFill>
                <a:prstDash val="solid"/>
                <a:round/>
              </a:ln>
              <a:effectLst/>
            </c:spPr>
          </c:marker>
          <c:cat>
            <c:multiLvlStrRef>
              <c:f>Sheet1!$A$2:$A$8</c:f>
              <c:multiLvlStrCache>
                <c:ptCount val="7"/>
                <c:lvl>
                  <c:pt idx="0">
                    <c:v>Credit reporting (42)</c:v>
                  </c:pt>
                  <c:pt idx="1">
                    <c:v>Debt collection (17)</c:v>
                  </c:pt>
                  <c:pt idx="2">
                    <c:v>Mortgage (27)</c:v>
                  </c:pt>
                  <c:pt idx="3">
                    <c:v>Credit card (18)</c:v>
                  </c:pt>
                  <c:pt idx="4">
                    <c:v>Bank account (37)</c:v>
                  </c:pt>
                  <c:pt idx="5">
                    <c:v>Consumer loan (24)</c:v>
                  </c:pt>
                  <c:pt idx="6">
                    <c:v>Money transfer (30)</c:v>
                  </c:pt>
                </c:lvl>
              </c:multiLvlStrCache>
            </c:multiLvlStrRef>
          </c:cat>
          <c:val>
            <c:numRef>
              <c:f>Sheet1!$E$2:$E$8</c:f>
              <c:numCache>
                <c:formatCode>General</c:formatCode>
                <c:ptCount val="7"/>
                <c:pt idx="0">
                  <c:v>70</c:v>
                </c:pt>
                <c:pt idx="1">
                  <c:v>70</c:v>
                </c:pt>
                <c:pt idx="2">
                  <c:v>70</c:v>
                </c:pt>
                <c:pt idx="3">
                  <c:v>70</c:v>
                </c:pt>
                <c:pt idx="4">
                  <c:v>70</c:v>
                </c:pt>
                <c:pt idx="5">
                  <c:v>70</c:v>
                </c:pt>
                <c:pt idx="6">
                  <c:v>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747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47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Headline figures: results/accuracy/comparison.md (82.6%), results/load/qwen2.5-7b/1.73rpm_s3.5_run*.jtl (p95 6.06 s mean of 3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docs/architecture.md, docker-compose.yml, service/app/. Baseline settings from .env.example: OLLAMA_NUM_PARALLEL=1, uvicorn --workers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planning/workload-model.md. Ticket lengths reproduced with python scripts/ticket_lengths.py over rows 3000-3999.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planning/requirements.md (frozen with tag prediction-freeze).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models/models.lock.json, docs/models.md.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golden/PROTOCOL.md, golden/agreement_summary.md, golden/SUMMARY.md, golden/pairs/*.csv. Label sheets committed in 39d4cc2; golden set frozen in 653a98e; tag prediction-freeze 2026-10-06 15:36 SGT; first official benchmark run 17:13 SGT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evidence/smoke-prototype/env/service_machine.txt (SUT), results/load/*/..._jmeter.log (LG: os.name, java.version, JMeter version), service logs for search latency, *_stats.csv for docker 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step-by-step playbook: docs/actual-jmeter-test.md and docs/load-testing.md. Runners: scripts/run_official_jmeter_suite.py, scripts/run_7b_stress_suite.py, scripts/run_accuracy_suite.py. Reconciliation: scripts/reconcile.py. Summary: scripts/summarise_jtl.py.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python scripts/summarise_jtl.py results/load (POST /tickets) and --label "GET /search". Values are mean (min–max) over 3 runs; no warm-up skip. Error rate 0.0% in all 27 runs: 0 of 594 POSTs, 0 of 1,206 searches. Ollama queue wait from service logs: ollama_total_ms − prompt_eval_ms − eval_ms. CPU from *_stats.csv.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results/accuracy/comparison.md and per-run reports results/accuracy/20261008T*.md (confusion matrices). Run 8 Oct 2026, prompt classify_v1.txt, after the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Predictions: planning/prediction-record.md at tag prediction-freeze (2026-10-06 15:36 SGT). Outcomes: slides 9 and 10. Latency correlation r computed from service logs of the 27 load runs. Single-request latency from the sequential accuracy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style, numbered in order of first citation in the deck. Licences: Qwen2.5 0.5B and 7B are Apache 2.0; the Llama 3.2 Community License requires 'Built with Llama' attribution and a copy of the licence on redistribution; Ollama is MIT; Apache JMeter is Apache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69494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971800"/>
            <a:ext cx="6766560" cy="822960"/>
          </a:xfrm>
          <a:prstGeom prst="rect">
            <a:avLst/>
          </a:prstGeom>
          <a:noFill/>
          <a:ln/>
        </p:spPr>
        <p:txBody>
          <a:bodyPr wrap="square" rtlCol="0"/>
          <a:lstStyle>
            <a:lvl1pPr algn="l" indent="0" marL="0">
              <a:buNone/>
              <a:defRPr lang="en-US" sz="1800" dirty="0">
                <a:solidFill>
                  <a:srgbClr val="CADDDA"/>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ICT3113 Assignment 1  ·  Group P1-3  ·  Ticket triage on CPU</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sdafsafas/ICT3113_A1_P1-3"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6949440" cy="1737360"/>
          </a:xfrm>
          <a:prstGeom prst="rect">
            <a:avLst/>
          </a:prstGeom>
          <a:noFill/>
          <a:ln/>
        </p:spPr>
        <p:txBody>
          <a:bodyPr wrap="square" lIns="0" tIns="0" rIns="0" bIns="0" rtlCol="0" anchor="b"/>
          <a:lstStyle/>
          <a:p>
            <a:pPr algn="l" indent="0" marL="0">
              <a:buNone/>
            </a:pPr>
            <a:r>
              <a:rPr lang="en-US" sz="4000" b="1" dirty="0">
                <a:solidFill>
                  <a:schemeClr val="bg1"/>
                </a:solidFill>
              </a:rPr>
              <a:t>Ticket Triage on CPU-only Hardware: What to Deploy, and What We Can Promise</a:t>
            </a:r>
            <a:endParaRPr lang="en-US" sz="4000" dirty="0"/>
          </a:p>
        </p:txBody>
      </p:sp>
      <p:sp>
        <p:nvSpPr>
          <p:cNvPr id="3" name="Text 0"/>
          <p:cNvSpPr/>
          <p:nvPr>
            <p:ph idx="101" type="body" hasCustomPrompt="1"/>
          </p:nvPr>
        </p:nvSpPr>
        <p:spPr>
          <a:xfrm>
            <a:off x="548640" y="2971800"/>
            <a:ext cx="6766560" cy="822960"/>
          </a:xfrm>
          <a:prstGeom prst="rect">
            <a:avLst/>
          </a:prstGeom>
          <a:noFill/>
          <a:ln/>
        </p:spPr>
        <p:txBody>
          <a:bodyPr wrap="square" lIns="0" tIns="0" rIns="0" bIns="0" rtlCol="0" anchor="t"/>
          <a:lstStyle/>
          <a:p>
            <a:pPr algn="l" indent="0" marL="0">
              <a:buNone/>
            </a:pPr>
            <a:r>
              <a:rPr lang="en-US" sz="1800" dirty="0">
                <a:solidFill>
                  <a:srgbClr val="CADDDA"/>
                </a:solidFill>
              </a:rPr>
              <a:t>Can an AI model running on a bank's own computers sort complaint tickets quickly and accurately enough? We tested three to find out.</a:t>
            </a:r>
            <a:endParaRPr lang="en-US" sz="1800" dirty="0"/>
          </a:p>
        </p:txBody>
      </p:sp>
      <p:sp>
        <p:nvSpPr>
          <p:cNvPr id="4" name="Text 2"/>
          <p:cNvSpPr txBox="1"/>
          <p:nvPr/>
        </p:nvSpPr>
        <p:spPr>
          <a:xfrm>
            <a:off x="548640" y="4069080"/>
            <a:ext cx="6766560" cy="274320"/>
          </a:xfrm>
          <a:prstGeom prst="rect">
            <a:avLst/>
          </a:prstGeom>
          <a:noFill/>
          <a:ln/>
        </p:spPr>
        <p:txBody>
          <a:bodyPr wrap="square" lIns="0" tIns="0" rIns="0" bIns="0" rtlCol="0" anchor="t"/>
          <a:lstStyle/>
          <a:p>
            <a:pPr indent="0" marL="0">
              <a:buNone/>
            </a:pPr>
            <a:r>
              <a:rPr lang="en-US" sz="1200" b="1" spc="100" kern="0" dirty="0">
                <a:solidFill>
                  <a:srgbClr val="9BC1BC"/>
                </a:solidFill>
              </a:rPr>
              <a:t>GROUP P1-3  ·  TEAM 3  ·  DATA ROWS 3000–3999</a:t>
            </a:r>
            <a:endParaRPr lang="en-US" sz="1200" dirty="0"/>
          </a:p>
        </p:txBody>
      </p:sp>
      <p:sp>
        <p:nvSpPr>
          <p:cNvPr id="5" name="Text 3"/>
          <p:cNvSpPr txBox="1"/>
          <p:nvPr/>
        </p:nvSpPr>
        <p:spPr>
          <a:xfrm>
            <a:off x="548640" y="4434840"/>
            <a:ext cx="3657600" cy="310896"/>
          </a:xfrm>
          <a:prstGeom prst="rect">
            <a:avLst/>
          </a:prstGeom>
          <a:noFill/>
          <a:ln/>
        </p:spPr>
        <p:txBody>
          <a:bodyPr wrap="square" lIns="0" tIns="0" rIns="0" bIns="0" rtlCol="0" anchor="t"/>
          <a:lstStyle/>
          <a:p>
            <a:pPr indent="0" marL="0">
              <a:buNone/>
            </a:pPr>
            <a:r>
              <a:rPr lang="en-US" sz="1400" b="1" dirty="0">
                <a:solidFill>
                  <a:schemeClr val="bg1"/>
                </a:solidFill>
              </a:rPr>
              <a:t>Chia ShuXian Natalie</a:t>
            </a:r>
            <a:pPr indent="0" marL="0">
              <a:buNone/>
            </a:pPr>
            <a:r>
              <a:rPr lang="en-US" sz="1400" dirty="0">
                <a:solidFill>
                  <a:srgbClr val="CADDDA"/>
                </a:solidFill>
              </a:rPr>
              <a:t>   2403237</a:t>
            </a:r>
            <a:endParaRPr lang="en-US" sz="1400" dirty="0"/>
          </a:p>
        </p:txBody>
      </p:sp>
      <p:sp>
        <p:nvSpPr>
          <p:cNvPr id="6" name="Text 4"/>
          <p:cNvSpPr txBox="1"/>
          <p:nvPr/>
        </p:nvSpPr>
        <p:spPr>
          <a:xfrm>
            <a:off x="548640" y="4782312"/>
            <a:ext cx="3657600" cy="310896"/>
          </a:xfrm>
          <a:prstGeom prst="rect">
            <a:avLst/>
          </a:prstGeom>
          <a:noFill/>
          <a:ln/>
        </p:spPr>
        <p:txBody>
          <a:bodyPr wrap="square" lIns="0" tIns="0" rIns="0" bIns="0" rtlCol="0" anchor="t"/>
          <a:lstStyle/>
          <a:p>
            <a:pPr indent="0" marL="0">
              <a:buNone/>
            </a:pPr>
            <a:r>
              <a:rPr lang="en-US" sz="1400" b="1" dirty="0">
                <a:solidFill>
                  <a:schemeClr val="bg1"/>
                </a:solidFill>
              </a:rPr>
              <a:t>Chng Zong Han</a:t>
            </a:r>
            <a:pPr indent="0" marL="0">
              <a:buNone/>
            </a:pPr>
            <a:r>
              <a:rPr lang="en-US" sz="1400" dirty="0">
                <a:solidFill>
                  <a:srgbClr val="CADDDA"/>
                </a:solidFill>
              </a:rPr>
              <a:t>   2401892</a:t>
            </a:r>
            <a:endParaRPr lang="en-US" sz="1400" dirty="0"/>
          </a:p>
        </p:txBody>
      </p:sp>
      <p:sp>
        <p:nvSpPr>
          <p:cNvPr id="7" name="Text 5"/>
          <p:cNvSpPr txBox="1"/>
          <p:nvPr/>
        </p:nvSpPr>
        <p:spPr>
          <a:xfrm>
            <a:off x="548640" y="5129784"/>
            <a:ext cx="3657600" cy="310896"/>
          </a:xfrm>
          <a:prstGeom prst="rect">
            <a:avLst/>
          </a:prstGeom>
          <a:noFill/>
          <a:ln/>
        </p:spPr>
        <p:txBody>
          <a:bodyPr wrap="square" lIns="0" tIns="0" rIns="0" bIns="0" rtlCol="0" anchor="t"/>
          <a:lstStyle/>
          <a:p>
            <a:pPr indent="0" marL="0">
              <a:buNone/>
            </a:pPr>
            <a:r>
              <a:rPr lang="en-US" sz="1400" b="1" dirty="0">
                <a:solidFill>
                  <a:schemeClr val="bg1"/>
                </a:solidFill>
              </a:rPr>
              <a:t>Kannan S/O Rajamohan</a:t>
            </a:r>
            <a:pPr indent="0" marL="0">
              <a:buNone/>
            </a:pPr>
            <a:r>
              <a:rPr lang="en-US" sz="1400" dirty="0">
                <a:solidFill>
                  <a:srgbClr val="CADDDA"/>
                </a:solidFill>
              </a:rPr>
              <a:t>   2401517</a:t>
            </a:r>
            <a:endParaRPr lang="en-US" sz="1400" dirty="0"/>
          </a:p>
        </p:txBody>
      </p:sp>
      <p:sp>
        <p:nvSpPr>
          <p:cNvPr id="8" name="Text 6"/>
          <p:cNvSpPr txBox="1"/>
          <p:nvPr/>
        </p:nvSpPr>
        <p:spPr>
          <a:xfrm>
            <a:off x="4251960" y="4434840"/>
            <a:ext cx="3657600" cy="310896"/>
          </a:xfrm>
          <a:prstGeom prst="rect">
            <a:avLst/>
          </a:prstGeom>
          <a:noFill/>
          <a:ln/>
        </p:spPr>
        <p:txBody>
          <a:bodyPr wrap="square" lIns="0" tIns="0" rIns="0" bIns="0" rtlCol="0" anchor="t"/>
          <a:lstStyle/>
          <a:p>
            <a:pPr indent="0" marL="0">
              <a:buNone/>
            </a:pPr>
            <a:r>
              <a:rPr lang="en-US" sz="1400" b="1" dirty="0">
                <a:solidFill>
                  <a:schemeClr val="bg1"/>
                </a:solidFill>
              </a:rPr>
              <a:t>Muhammad Ridwan Putra Jasni</a:t>
            </a:r>
            <a:pPr indent="0" marL="0">
              <a:buNone/>
            </a:pPr>
            <a:r>
              <a:rPr lang="en-US" sz="1400" dirty="0">
                <a:solidFill>
                  <a:srgbClr val="CADDDA"/>
                </a:solidFill>
              </a:rPr>
              <a:t>   2401684</a:t>
            </a:r>
            <a:endParaRPr lang="en-US" sz="1400" dirty="0"/>
          </a:p>
        </p:txBody>
      </p:sp>
      <p:sp>
        <p:nvSpPr>
          <p:cNvPr id="9" name="Text 7"/>
          <p:cNvSpPr txBox="1"/>
          <p:nvPr/>
        </p:nvSpPr>
        <p:spPr>
          <a:xfrm>
            <a:off x="4251960" y="4782312"/>
            <a:ext cx="3657600" cy="310896"/>
          </a:xfrm>
          <a:prstGeom prst="rect">
            <a:avLst/>
          </a:prstGeom>
          <a:noFill/>
          <a:ln/>
        </p:spPr>
        <p:txBody>
          <a:bodyPr wrap="square" lIns="0" tIns="0" rIns="0" bIns="0" rtlCol="0" anchor="t"/>
          <a:lstStyle/>
          <a:p>
            <a:pPr indent="0" marL="0">
              <a:buNone/>
            </a:pPr>
            <a:r>
              <a:rPr lang="en-US" sz="1400" b="1" dirty="0">
                <a:solidFill>
                  <a:schemeClr val="bg1"/>
                </a:solidFill>
              </a:rPr>
              <a:t>Tan Tze Han</a:t>
            </a:r>
            <a:pPr indent="0" marL="0">
              <a:buNone/>
            </a:pPr>
            <a:r>
              <a:rPr lang="en-US" sz="1400" dirty="0">
                <a:solidFill>
                  <a:srgbClr val="CADDDA"/>
                </a:solidFill>
              </a:rPr>
              <a:t>   2301483</a:t>
            </a:r>
            <a:endParaRPr lang="en-US" sz="1400" dirty="0"/>
          </a:p>
        </p:txBody>
      </p:sp>
      <p:sp>
        <p:nvSpPr>
          <p:cNvPr id="10" name="Text 8"/>
          <p:cNvSpPr txBox="1"/>
          <p:nvPr/>
        </p:nvSpPr>
        <p:spPr>
          <a:xfrm>
            <a:off x="548640" y="5623560"/>
            <a:ext cx="8229600" cy="320040"/>
          </a:xfrm>
          <a:prstGeom prst="rect">
            <a:avLst/>
          </a:prstGeom>
          <a:noFill/>
          <a:ln/>
        </p:spPr>
        <p:txBody>
          <a:bodyPr wrap="square" lIns="0" tIns="0" rIns="0" bIns="0" rtlCol="0" anchor="t"/>
          <a:lstStyle/>
          <a:p>
            <a:pPr indent="0" marL="0">
              <a:buNone/>
            </a:pPr>
            <a:r>
              <a:rPr lang="en-US" sz="1300" dirty="0">
                <a:solidFill>
                  <a:srgbClr val="CADDDA"/>
                </a:solidFill>
              </a:rPr>
              <a:t>Repository (rebuild with docker compose up -d --build):  </a:t>
            </a:r>
            <a:pPr indent="0" marL="0">
              <a:buNone/>
            </a:pPr>
            <a:r>
              <a:rPr lang="en-US" sz="1300" b="1"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github.com/asdafsafas/ICT3113_A1_P1-3</a:t>
            </a:r>
            <a:endParaRPr lang="en-US" sz="1300" dirty="0"/>
          </a:p>
        </p:txBody>
      </p:sp>
      <p:sp>
        <p:nvSpPr>
          <p:cNvPr id="11" name="Shape 9"/>
          <p:cNvSpPr/>
          <p:nvPr/>
        </p:nvSpPr>
        <p:spPr>
          <a:xfrm>
            <a:off x="8001000" y="1097280"/>
            <a:ext cx="3611880" cy="4206240"/>
          </a:xfrm>
          <a:prstGeom prst="roundRect">
            <a:avLst>
              <a:gd name="adj" fmla="val 2532"/>
            </a:avLst>
          </a:prstGeom>
          <a:solidFill>
            <a:srgbClr val="1B4A50"/>
          </a:solidFill>
          <a:ln/>
        </p:spPr>
      </p:sp>
      <p:sp>
        <p:nvSpPr>
          <p:cNvPr id="12" name="Text 10"/>
          <p:cNvSpPr txBox="1"/>
          <p:nvPr/>
        </p:nvSpPr>
        <p:spPr>
          <a:xfrm>
            <a:off x="8321040" y="1371600"/>
            <a:ext cx="3017520" cy="274320"/>
          </a:xfrm>
          <a:prstGeom prst="rect">
            <a:avLst/>
          </a:prstGeom>
          <a:noFill/>
          <a:ln/>
        </p:spPr>
        <p:txBody>
          <a:bodyPr wrap="square" lIns="0" tIns="0" rIns="0" bIns="0" rtlCol="0" anchor="t"/>
          <a:lstStyle/>
          <a:p>
            <a:pPr indent="0" marL="0">
              <a:buNone/>
            </a:pPr>
            <a:r>
              <a:rPr lang="en-US" sz="1200" b="1" spc="100" kern="0" dirty="0">
                <a:solidFill>
                  <a:srgbClr val="9BC1BC"/>
                </a:solidFill>
              </a:rPr>
              <a:t>RECOMMENDATION</a:t>
            </a:r>
            <a:endParaRPr lang="en-US" sz="1200" dirty="0"/>
          </a:p>
        </p:txBody>
      </p:sp>
      <p:sp>
        <p:nvSpPr>
          <p:cNvPr id="13" name="Text 11"/>
          <p:cNvSpPr txBox="1"/>
          <p:nvPr/>
        </p:nvSpPr>
        <p:spPr>
          <a:xfrm>
            <a:off x="8321040" y="1691640"/>
            <a:ext cx="301752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qwen2.5:7b</a:t>
            </a:r>
            <a:endParaRPr lang="en-US" sz="2400" dirty="0"/>
          </a:p>
        </p:txBody>
      </p:sp>
      <p:sp>
        <p:nvSpPr>
          <p:cNvPr id="14" name="Text 12"/>
          <p:cNvSpPr txBox="1"/>
          <p:nvPr/>
        </p:nvSpPr>
        <p:spPr>
          <a:xfrm>
            <a:off x="8321040" y="2240280"/>
            <a:ext cx="3017520" cy="91440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82.6%</a:t>
            </a:r>
            <a:endParaRPr lang="en-US" sz="6000" dirty="0"/>
          </a:p>
        </p:txBody>
      </p:sp>
      <p:sp>
        <p:nvSpPr>
          <p:cNvPr id="15" name="Text 13"/>
          <p:cNvSpPr txBox="1"/>
          <p:nvPr/>
        </p:nvSpPr>
        <p:spPr>
          <a:xfrm>
            <a:off x="8321040" y="3154680"/>
            <a:ext cx="3017520" cy="274320"/>
          </a:xfrm>
          <a:prstGeom prst="rect">
            <a:avLst/>
          </a:prstGeom>
          <a:noFill/>
          <a:ln/>
        </p:spPr>
        <p:txBody>
          <a:bodyPr wrap="square" lIns="0" tIns="0" rIns="0" bIns="0" rtlCol="0" anchor="t"/>
          <a:lstStyle/>
          <a:p>
            <a:pPr indent="0" marL="0">
              <a:buNone/>
            </a:pPr>
            <a:r>
              <a:rPr lang="en-US" sz="1300" dirty="0">
                <a:solidFill>
                  <a:srgbClr val="CADDDA"/>
                </a:solidFill>
              </a:rPr>
              <a:t>sorted correctly (161 of 195 tickets)</a:t>
            </a:r>
            <a:endParaRPr lang="en-US" sz="1300" dirty="0"/>
          </a:p>
        </p:txBody>
      </p:sp>
      <p:sp>
        <p:nvSpPr>
          <p:cNvPr id="16" name="Text 14"/>
          <p:cNvSpPr txBox="1"/>
          <p:nvPr/>
        </p:nvSpPr>
        <p:spPr>
          <a:xfrm>
            <a:off x="8321040" y="3520440"/>
            <a:ext cx="3017520" cy="54864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6.1 s</a:t>
            </a:r>
            <a:endParaRPr lang="en-US" sz="3200" dirty="0"/>
          </a:p>
        </p:txBody>
      </p:sp>
      <p:sp>
        <p:nvSpPr>
          <p:cNvPr id="17" name="Text 15"/>
          <p:cNvSpPr txBox="1"/>
          <p:nvPr/>
        </p:nvSpPr>
        <p:spPr>
          <a:xfrm>
            <a:off x="8321040" y="4069080"/>
            <a:ext cx="3017520" cy="502920"/>
          </a:xfrm>
          <a:prstGeom prst="rect">
            <a:avLst/>
          </a:prstGeom>
          <a:noFill/>
          <a:ln/>
        </p:spPr>
        <p:txBody>
          <a:bodyPr wrap="square" lIns="0" tIns="0" rIns="0" bIns="0" rtlCol="0" anchor="t"/>
          <a:lstStyle/>
          <a:p>
            <a:pPr indent="0" marL="0">
              <a:buNone/>
            </a:pPr>
            <a:r>
              <a:rPr lang="en-US" sz="1300" dirty="0">
                <a:solidFill>
                  <a:srgbClr val="CADDDA"/>
                </a:solidFill>
              </a:rPr>
              <a:t>95% of tickets sorted within this, in the busiest hour (target 30 s)</a:t>
            </a:r>
            <a:endParaRPr lang="en-US" sz="1300" dirty="0"/>
          </a:p>
        </p:txBody>
      </p:sp>
      <p:sp>
        <p:nvSpPr>
          <p:cNvPr id="18" name="Text 16"/>
          <p:cNvSpPr txBox="1"/>
          <p:nvPr/>
        </p:nvSpPr>
        <p:spPr>
          <a:xfrm>
            <a:off x="8321040" y="4663440"/>
            <a:ext cx="3017520" cy="548640"/>
          </a:xfrm>
          <a:prstGeom prst="rect">
            <a:avLst/>
          </a:prstGeom>
          <a:noFill/>
          <a:ln/>
        </p:spPr>
        <p:txBody>
          <a:bodyPr wrap="square" lIns="0" tIns="0" rIns="0" bIns="0" rtlCol="0" anchor="t"/>
          <a:lstStyle/>
          <a:p>
            <a:pPr indent="0" marL="0">
              <a:buNone/>
            </a:pPr>
            <a:r>
              <a:rPr lang="en-US" sz="1200" i="1" dirty="0">
                <a:solidFill>
                  <a:srgbClr val="9BC1BC"/>
                </a:solidFill>
              </a:rPr>
              <a:t>Falls just short on one target: 66.7% of money-transfer tickets right (target 70%)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Each ticket goes through one web service to one AI model</a:t>
            </a:r>
            <a:endParaRPr lang="en-US" sz="3000" dirty="0"/>
          </a:p>
        </p:txBody>
      </p:sp>
      <p:sp>
        <p:nvSpPr>
          <p:cNvPr id="4" name="Shape 1"/>
          <p:cNvSpPr/>
          <p:nvPr/>
        </p:nvSpPr>
        <p:spPr>
          <a:xfrm>
            <a:off x="548640" y="1600200"/>
            <a:ext cx="2240280" cy="2194560"/>
          </a:xfrm>
          <a:prstGeom prst="roundRect">
            <a:avLst>
              <a:gd name="adj" fmla="val 3333"/>
            </a:avLst>
          </a:prstGeom>
          <a:solidFill>
            <a:schemeClr val="bg2"/>
          </a:solidFill>
          <a:ln/>
        </p:spPr>
      </p:sp>
      <p:sp>
        <p:nvSpPr>
          <p:cNvPr id="5" name="Text 2"/>
          <p:cNvSpPr txBox="1"/>
          <p:nvPr/>
        </p:nvSpPr>
        <p:spPr>
          <a:xfrm>
            <a:off x="731520" y="1737360"/>
            <a:ext cx="192024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TEST TRAFFIC</a:t>
            </a:r>
            <a:endParaRPr lang="en-US" sz="1100" dirty="0"/>
          </a:p>
        </p:txBody>
      </p:sp>
      <p:sp>
        <p:nvSpPr>
          <p:cNvPr id="6" name="Text 3"/>
          <p:cNvSpPr txBox="1"/>
          <p:nvPr/>
        </p:nvSpPr>
        <p:spPr>
          <a:xfrm>
            <a:off x="731520" y="2011680"/>
            <a:ext cx="1920240" cy="320040"/>
          </a:xfrm>
          <a:prstGeom prst="rect">
            <a:avLst/>
          </a:prstGeom>
          <a:noFill/>
          <a:ln/>
        </p:spPr>
        <p:txBody>
          <a:bodyPr wrap="square" lIns="0" tIns="0" rIns="0" bIns="0" rtlCol="0" anchor="t"/>
          <a:lstStyle/>
          <a:p>
            <a:pPr indent="0" marL="0">
              <a:buNone/>
            </a:pPr>
            <a:r>
              <a:rPr lang="en-US" sz="1600" b="1" dirty="0">
                <a:solidFill>
                  <a:schemeClr val="tx2"/>
                </a:solidFill>
              </a:rPr>
              <a:t>Separate Mac</a:t>
            </a:r>
            <a:endParaRPr lang="en-US" sz="1600" dirty="0"/>
          </a:p>
        </p:txBody>
      </p:sp>
      <p:sp>
        <p:nvSpPr>
          <p:cNvPr id="7" name="Text 4"/>
          <p:cNvSpPr txBox="1"/>
          <p:nvPr/>
        </p:nvSpPr>
        <p:spPr>
          <a:xfrm>
            <a:off x="731520" y="2377440"/>
            <a:ext cx="1920240" cy="1280160"/>
          </a:xfrm>
          <a:prstGeom prst="rect">
            <a:avLst/>
          </a:prstGeom>
          <a:noFill/>
          <a:ln/>
        </p:spPr>
        <p:txBody>
          <a:bodyPr wrap="square" lIns="0" tIns="0" rIns="0" bIns="0" rtlCol="0" anchor="t"/>
          <a:lstStyle/>
          <a:p>
            <a:pPr indent="0" marL="0">
              <a:buNone/>
            </a:pPr>
            <a:r>
              <a:rPr lang="en-US" sz="1200" dirty="0">
                <a:solidFill>
                  <a:schemeClr val="tx1"/>
                </a:solidFill>
              </a:rPr>
              <a:t>Apache JMeter 5.6.3 [2] plays the bank: new complaints arriving, and staff searching past tickets</a:t>
            </a:r>
            <a:endParaRPr lang="en-US" sz="1200" dirty="0"/>
          </a:p>
        </p:txBody>
      </p:sp>
      <p:sp>
        <p:nvSpPr>
          <p:cNvPr id="8" name="Shape 5"/>
          <p:cNvSpPr/>
          <p:nvPr/>
        </p:nvSpPr>
        <p:spPr>
          <a:xfrm>
            <a:off x="2834640" y="2697480"/>
            <a:ext cx="685800" cy="0"/>
          </a:xfrm>
          <a:prstGeom prst="line">
            <a:avLst/>
          </a:prstGeom>
          <a:noFill/>
          <a:ln w="22225">
            <a:solidFill>
              <a:schemeClr val="accent5"/>
            </a:solidFill>
            <a:prstDash val="solid"/>
            <a:tailEnd type="triangle"/>
          </a:ln>
        </p:spPr>
      </p:sp>
      <p:sp>
        <p:nvSpPr>
          <p:cNvPr id="9" name="Text 6"/>
          <p:cNvSpPr txBox="1"/>
          <p:nvPr/>
        </p:nvSpPr>
        <p:spPr>
          <a:xfrm>
            <a:off x="2788920" y="2331720"/>
            <a:ext cx="822960" cy="274320"/>
          </a:xfrm>
          <a:prstGeom prst="rect">
            <a:avLst/>
          </a:prstGeom>
          <a:noFill/>
          <a:ln/>
        </p:spPr>
        <p:txBody>
          <a:bodyPr wrap="square" lIns="0" tIns="0" rIns="0" bIns="0" rtlCol="0" anchor="t"/>
          <a:lstStyle/>
          <a:p>
            <a:pPr algn="ctr" indent="0" marL="0">
              <a:buNone/>
            </a:pPr>
            <a:r>
              <a:rPr lang="en-US" sz="1000" dirty="0">
                <a:solidFill>
                  <a:schemeClr val="accent5"/>
                </a:solidFill>
              </a:rPr>
              <a:t>HTTP, Wi-Fi</a:t>
            </a:r>
            <a:endParaRPr lang="en-US" sz="1000" dirty="0"/>
          </a:p>
        </p:txBody>
      </p:sp>
      <p:sp>
        <p:nvSpPr>
          <p:cNvPr id="10" name="Shape 7"/>
          <p:cNvSpPr/>
          <p:nvPr/>
        </p:nvSpPr>
        <p:spPr>
          <a:xfrm>
            <a:off x="3566160" y="1325880"/>
            <a:ext cx="3886200" cy="4846320"/>
          </a:xfrm>
          <a:prstGeom prst="roundRect">
            <a:avLst>
              <a:gd name="adj" fmla="val 1882"/>
            </a:avLst>
          </a:prstGeom>
          <a:solidFill>
            <a:schemeClr val="bg1"/>
          </a:solidFill>
          <a:ln w="15875">
            <a:solidFill>
              <a:schemeClr val="accent6"/>
            </a:solidFill>
            <a:prstDash val="dash"/>
          </a:ln>
        </p:spPr>
      </p:sp>
      <p:sp>
        <p:nvSpPr>
          <p:cNvPr id="11" name="Text 8"/>
          <p:cNvSpPr txBox="1"/>
          <p:nvPr/>
        </p:nvSpPr>
        <p:spPr>
          <a:xfrm>
            <a:off x="3749040" y="1435608"/>
            <a:ext cx="352044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THE SYSTEM WE TESTED · MacBook Pro M5</a:t>
            </a:r>
            <a:endParaRPr lang="en-US" sz="1100" dirty="0"/>
          </a:p>
        </p:txBody>
      </p:sp>
      <p:sp>
        <p:nvSpPr>
          <p:cNvPr id="12" name="Shape 9"/>
          <p:cNvSpPr/>
          <p:nvPr/>
        </p:nvSpPr>
        <p:spPr>
          <a:xfrm>
            <a:off x="3794760" y="1828800"/>
            <a:ext cx="3429000" cy="1051560"/>
          </a:xfrm>
          <a:prstGeom prst="roundRect">
            <a:avLst>
              <a:gd name="adj" fmla="val 6957"/>
            </a:avLst>
          </a:prstGeom>
          <a:solidFill>
            <a:schemeClr val="tx2"/>
          </a:solidFill>
          <a:ln/>
        </p:spPr>
      </p:sp>
      <p:sp>
        <p:nvSpPr>
          <p:cNvPr id="13" name="Text 10"/>
          <p:cNvSpPr txBox="1"/>
          <p:nvPr/>
        </p:nvSpPr>
        <p:spPr>
          <a:xfrm>
            <a:off x="3977640" y="1920240"/>
            <a:ext cx="3063240" cy="320040"/>
          </a:xfrm>
          <a:prstGeom prst="rect">
            <a:avLst/>
          </a:prstGeom>
          <a:noFill/>
          <a:ln/>
        </p:spPr>
        <p:txBody>
          <a:bodyPr wrap="square" lIns="0" tIns="0" rIns="0" bIns="0" rtlCol="0" anchor="t"/>
          <a:lstStyle/>
          <a:p>
            <a:pPr indent="0" marL="0">
              <a:buNone/>
            </a:pPr>
            <a:r>
              <a:rPr lang="en-US" sz="1400" b="1" dirty="0">
                <a:solidFill>
                  <a:schemeClr val="bg1"/>
                </a:solidFill>
              </a:rPr>
              <a:t>Triage web service (FastAPI)</a:t>
            </a:r>
            <a:endParaRPr lang="en-US" sz="1400" dirty="0"/>
          </a:p>
        </p:txBody>
      </p:sp>
      <p:sp>
        <p:nvSpPr>
          <p:cNvPr id="14" name="Text 11"/>
          <p:cNvSpPr txBox="1"/>
          <p:nvPr/>
        </p:nvSpPr>
        <p:spPr>
          <a:xfrm>
            <a:off x="3977640" y="2240280"/>
            <a:ext cx="3063240" cy="548640"/>
          </a:xfrm>
          <a:prstGeom prst="rect">
            <a:avLst/>
          </a:prstGeom>
          <a:noFill/>
          <a:ln/>
        </p:spPr>
        <p:txBody>
          <a:bodyPr wrap="square" lIns="0" tIns="0" rIns="0" bIns="0" rtlCol="0" anchor="t"/>
          <a:lstStyle/>
          <a:p>
            <a:pPr indent="0" marL="0">
              <a:buNone/>
            </a:pPr>
            <a:r>
              <a:rPr lang="en-US" sz="1100" dirty="0">
                <a:solidFill>
                  <a:srgbClr val="CADDDA"/>
                </a:solidFill>
              </a:rPr>
              <a:t>Receives each ticket, waits for the model's answer, and logs every request</a:t>
            </a:r>
            <a:endParaRPr lang="en-US" sz="1100" dirty="0"/>
          </a:p>
        </p:txBody>
      </p:sp>
      <p:sp>
        <p:nvSpPr>
          <p:cNvPr id="15" name="Shape 12"/>
          <p:cNvSpPr/>
          <p:nvPr/>
        </p:nvSpPr>
        <p:spPr>
          <a:xfrm>
            <a:off x="4617720" y="2898648"/>
            <a:ext cx="0" cy="502920"/>
          </a:xfrm>
          <a:prstGeom prst="line">
            <a:avLst/>
          </a:prstGeom>
          <a:noFill/>
          <a:ln w="22225">
            <a:solidFill>
              <a:schemeClr val="accent5"/>
            </a:solidFill>
            <a:prstDash val="solid"/>
            <a:tailEnd type="triangle"/>
          </a:ln>
        </p:spPr>
      </p:sp>
      <p:sp>
        <p:nvSpPr>
          <p:cNvPr id="16" name="Shape 13"/>
          <p:cNvSpPr/>
          <p:nvPr/>
        </p:nvSpPr>
        <p:spPr>
          <a:xfrm>
            <a:off x="3794760" y="3429000"/>
            <a:ext cx="2697480" cy="1051560"/>
          </a:xfrm>
          <a:prstGeom prst="roundRect">
            <a:avLst>
              <a:gd name="adj" fmla="val 6957"/>
            </a:avLst>
          </a:prstGeom>
          <a:solidFill>
            <a:schemeClr val="accent1"/>
          </a:solidFill>
          <a:ln/>
        </p:spPr>
      </p:sp>
      <p:sp>
        <p:nvSpPr>
          <p:cNvPr id="17" name="Text 14"/>
          <p:cNvSpPr txBox="1"/>
          <p:nvPr/>
        </p:nvSpPr>
        <p:spPr>
          <a:xfrm>
            <a:off x="3977640" y="3520440"/>
            <a:ext cx="2377440" cy="320040"/>
          </a:xfrm>
          <a:prstGeom prst="rect">
            <a:avLst/>
          </a:prstGeom>
          <a:noFill/>
          <a:ln/>
        </p:spPr>
        <p:txBody>
          <a:bodyPr wrap="square" lIns="0" tIns="0" rIns="0" bIns="0" rtlCol="0" anchor="t"/>
          <a:lstStyle/>
          <a:p>
            <a:pPr indent="0" marL="0">
              <a:buNone/>
            </a:pPr>
            <a:r>
              <a:rPr lang="en-US" sz="1400" b="1" dirty="0">
                <a:solidFill>
                  <a:schemeClr val="bg1"/>
                </a:solidFill>
              </a:rPr>
              <a:t>AI model server (Ollama) [1]</a:t>
            </a:r>
            <a:endParaRPr lang="en-US" sz="1400" dirty="0"/>
          </a:p>
        </p:txBody>
      </p:sp>
      <p:sp>
        <p:nvSpPr>
          <p:cNvPr id="18" name="Text 15"/>
          <p:cNvSpPr txBox="1"/>
          <p:nvPr/>
        </p:nvSpPr>
        <p:spPr>
          <a:xfrm>
            <a:off x="3977640" y="3840480"/>
            <a:ext cx="2377440" cy="548640"/>
          </a:xfrm>
          <a:prstGeom prst="rect">
            <a:avLst/>
          </a:prstGeom>
          <a:noFill/>
          <a:ln/>
        </p:spPr>
        <p:txBody>
          <a:bodyPr wrap="square" lIns="0" tIns="0" rIns="0" bIns="0" rtlCol="0" anchor="t"/>
          <a:lstStyle/>
          <a:p>
            <a:pPr indent="0" marL="0">
              <a:buNone/>
            </a:pPr>
            <a:r>
              <a:rPr lang="en-US" sz="1100" dirty="0">
                <a:solidFill>
                  <a:schemeClr val="bg1"/>
                </a:solidFill>
              </a:rPr>
              <a:t>Runs on the processor, no graphics card; one ticket at a time</a:t>
            </a:r>
            <a:endParaRPr lang="en-US" sz="1100" dirty="0"/>
          </a:p>
        </p:txBody>
      </p:sp>
      <p:sp>
        <p:nvSpPr>
          <p:cNvPr id="19" name="Shape 16"/>
          <p:cNvSpPr/>
          <p:nvPr/>
        </p:nvSpPr>
        <p:spPr>
          <a:xfrm>
            <a:off x="6858000" y="2898648"/>
            <a:ext cx="0" cy="1874520"/>
          </a:xfrm>
          <a:prstGeom prst="line">
            <a:avLst/>
          </a:prstGeom>
          <a:noFill/>
          <a:ln w="22225">
            <a:solidFill>
              <a:schemeClr val="accent5"/>
            </a:solidFill>
            <a:prstDash val="solid"/>
            <a:tailEnd type="triangle"/>
          </a:ln>
        </p:spPr>
      </p:sp>
      <p:sp>
        <p:nvSpPr>
          <p:cNvPr id="20" name="Shape 17"/>
          <p:cNvSpPr/>
          <p:nvPr/>
        </p:nvSpPr>
        <p:spPr>
          <a:xfrm>
            <a:off x="5623560" y="4800600"/>
            <a:ext cx="1600200" cy="1143000"/>
          </a:xfrm>
          <a:prstGeom prst="roundRect">
            <a:avLst>
              <a:gd name="adj" fmla="val 6400"/>
            </a:avLst>
          </a:prstGeom>
          <a:solidFill>
            <a:schemeClr val="bg2"/>
          </a:solidFill>
          <a:ln/>
        </p:spPr>
      </p:sp>
      <p:sp>
        <p:nvSpPr>
          <p:cNvPr id="21" name="Text 18"/>
          <p:cNvSpPr txBox="1"/>
          <p:nvPr/>
        </p:nvSpPr>
        <p:spPr>
          <a:xfrm>
            <a:off x="5760720" y="4892040"/>
            <a:ext cx="1371600" cy="274320"/>
          </a:xfrm>
          <a:prstGeom prst="rect">
            <a:avLst/>
          </a:prstGeom>
          <a:noFill/>
          <a:ln/>
        </p:spPr>
        <p:txBody>
          <a:bodyPr wrap="square" lIns="0" tIns="0" rIns="0" bIns="0" rtlCol="0" anchor="t"/>
          <a:lstStyle/>
          <a:p>
            <a:pPr indent="0" marL="0">
              <a:buNone/>
            </a:pPr>
            <a:r>
              <a:rPr lang="en-US" sz="1300" b="1" dirty="0">
                <a:solidFill>
                  <a:schemeClr val="tx2"/>
                </a:solidFill>
              </a:rPr>
              <a:t>Database</a:t>
            </a:r>
            <a:endParaRPr lang="en-US" sz="1300" dirty="0"/>
          </a:p>
        </p:txBody>
      </p:sp>
      <p:sp>
        <p:nvSpPr>
          <p:cNvPr id="22" name="Text 19"/>
          <p:cNvSpPr txBox="1"/>
          <p:nvPr/>
        </p:nvSpPr>
        <p:spPr>
          <a:xfrm>
            <a:off x="5760720" y="5212080"/>
            <a:ext cx="1371600" cy="640080"/>
          </a:xfrm>
          <a:prstGeom prst="rect">
            <a:avLst/>
          </a:prstGeom>
          <a:noFill/>
          <a:ln/>
        </p:spPr>
        <p:txBody>
          <a:bodyPr wrap="square" lIns="0" tIns="0" rIns="0" bIns="0" rtlCol="0" anchor="t"/>
          <a:lstStyle/>
          <a:p>
            <a:pPr indent="0" marL="0">
              <a:buNone/>
            </a:pPr>
            <a:r>
              <a:rPr lang="en-US" sz="1100" dirty="0">
                <a:solidFill>
                  <a:schemeClr val="tx1"/>
                </a:solidFill>
              </a:rPr>
              <a:t>Sorted tickets; starts empty each run</a:t>
            </a:r>
            <a:endParaRPr lang="en-US" sz="1100" dirty="0"/>
          </a:p>
        </p:txBody>
      </p:sp>
      <p:sp>
        <p:nvSpPr>
          <p:cNvPr id="23" name="Shape 20"/>
          <p:cNvSpPr/>
          <p:nvPr/>
        </p:nvSpPr>
        <p:spPr>
          <a:xfrm>
            <a:off x="3794760" y="4800600"/>
            <a:ext cx="1600200" cy="1143000"/>
          </a:xfrm>
          <a:prstGeom prst="roundRect">
            <a:avLst>
              <a:gd name="adj" fmla="val 6400"/>
            </a:avLst>
          </a:prstGeom>
          <a:solidFill>
            <a:schemeClr val="bg2"/>
          </a:solidFill>
          <a:ln/>
        </p:spPr>
      </p:sp>
      <p:sp>
        <p:nvSpPr>
          <p:cNvPr id="24" name="Text 21"/>
          <p:cNvSpPr txBox="1"/>
          <p:nvPr/>
        </p:nvSpPr>
        <p:spPr>
          <a:xfrm>
            <a:off x="3931920" y="4892040"/>
            <a:ext cx="1371600" cy="274320"/>
          </a:xfrm>
          <a:prstGeom prst="rect">
            <a:avLst/>
          </a:prstGeom>
          <a:noFill/>
          <a:ln/>
        </p:spPr>
        <p:txBody>
          <a:bodyPr wrap="square" lIns="0" tIns="0" rIns="0" bIns="0" rtlCol="0" anchor="t"/>
          <a:lstStyle/>
          <a:p>
            <a:pPr indent="0" marL="0">
              <a:buNone/>
            </a:pPr>
            <a:r>
              <a:rPr lang="en-US" sz="1300" b="1" dirty="0">
                <a:solidFill>
                  <a:schemeClr val="tx2"/>
                </a:solidFill>
              </a:rPr>
              <a:t>Request log</a:t>
            </a:r>
            <a:endParaRPr lang="en-US" sz="1300" dirty="0"/>
          </a:p>
        </p:txBody>
      </p:sp>
      <p:sp>
        <p:nvSpPr>
          <p:cNvPr id="25" name="Text 22"/>
          <p:cNvSpPr txBox="1"/>
          <p:nvPr/>
        </p:nvSpPr>
        <p:spPr>
          <a:xfrm>
            <a:off x="3931920" y="5212080"/>
            <a:ext cx="1371600" cy="640080"/>
          </a:xfrm>
          <a:prstGeom prst="rect">
            <a:avLst/>
          </a:prstGeom>
          <a:noFill/>
          <a:ln/>
        </p:spPr>
        <p:txBody>
          <a:bodyPr wrap="square" lIns="0" tIns="0" rIns="0" bIns="0" rtlCol="0" anchor="t"/>
          <a:lstStyle/>
          <a:p>
            <a:pPr indent="0" marL="0">
              <a:buNone/>
            </a:pPr>
            <a:r>
              <a:rPr lang="en-US" sz="1100" dirty="0">
                <a:solidFill>
                  <a:schemeClr val="tx1"/>
                </a:solidFill>
              </a:rPr>
              <a:t>One line per request, kept as evidence</a:t>
            </a:r>
            <a:endParaRPr lang="en-US" sz="1100" dirty="0"/>
          </a:p>
        </p:txBody>
      </p:sp>
      <p:sp>
        <p:nvSpPr>
          <p:cNvPr id="26" name="Text 23"/>
          <p:cNvSpPr txBox="1"/>
          <p:nvPr/>
        </p:nvSpPr>
        <p:spPr>
          <a:xfrm>
            <a:off x="7818120" y="1325880"/>
            <a:ext cx="3824935"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the service offers</a:t>
            </a:r>
            <a:endParaRPr lang="en-US" sz="1800" dirty="0"/>
          </a:p>
        </p:txBody>
      </p:sp>
      <p:sp>
        <p:nvSpPr>
          <p:cNvPr id="27" name="Shape 24"/>
          <p:cNvSpPr/>
          <p:nvPr/>
        </p:nvSpPr>
        <p:spPr>
          <a:xfrm>
            <a:off x="7818120" y="1783080"/>
            <a:ext cx="3824935" cy="749808"/>
          </a:xfrm>
          <a:prstGeom prst="roundRect">
            <a:avLst>
              <a:gd name="adj" fmla="val 9756"/>
            </a:avLst>
          </a:prstGeom>
          <a:solidFill>
            <a:schemeClr val="bg2"/>
          </a:solidFill>
          <a:ln/>
        </p:spPr>
      </p:sp>
      <p:sp>
        <p:nvSpPr>
          <p:cNvPr id="28" name="Text 25"/>
          <p:cNvSpPr txBox="1"/>
          <p:nvPr/>
        </p:nvSpPr>
        <p:spPr>
          <a:xfrm>
            <a:off x="7955280" y="1856232"/>
            <a:ext cx="3550615"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POST /tickets</a:t>
            </a:r>
            <a:endParaRPr lang="en-US" sz="1300" dirty="0"/>
          </a:p>
        </p:txBody>
      </p:sp>
      <p:sp>
        <p:nvSpPr>
          <p:cNvPr id="29" name="Text 26"/>
          <p:cNvSpPr txBox="1"/>
          <p:nvPr/>
        </p:nvSpPr>
        <p:spPr>
          <a:xfrm>
            <a:off x="7955280" y="2130552"/>
            <a:ext cx="3550615" cy="384048"/>
          </a:xfrm>
          <a:prstGeom prst="rect">
            <a:avLst/>
          </a:prstGeom>
          <a:noFill/>
          <a:ln/>
        </p:spPr>
        <p:txBody>
          <a:bodyPr wrap="square" lIns="0" tIns="0" rIns="0" bIns="0" rtlCol="0" anchor="t"/>
          <a:lstStyle/>
          <a:p>
            <a:pPr indent="0" marL="0">
              <a:buNone/>
            </a:pPr>
            <a:r>
              <a:rPr lang="en-US" sz="1100" dirty="0">
                <a:solidFill>
                  <a:schemeClr val="tx1"/>
                </a:solidFill>
              </a:rPr>
              <a:t>Send in one complaint; the model picks 1 of 7 categories; the ticket is saved and its category returned</a:t>
            </a:r>
            <a:endParaRPr lang="en-US" sz="1100" dirty="0"/>
          </a:p>
        </p:txBody>
      </p:sp>
      <p:sp>
        <p:nvSpPr>
          <p:cNvPr id="30" name="Shape 27"/>
          <p:cNvSpPr/>
          <p:nvPr/>
        </p:nvSpPr>
        <p:spPr>
          <a:xfrm>
            <a:off x="7818120" y="2651760"/>
            <a:ext cx="3824935" cy="749808"/>
          </a:xfrm>
          <a:prstGeom prst="roundRect">
            <a:avLst>
              <a:gd name="adj" fmla="val 9756"/>
            </a:avLst>
          </a:prstGeom>
          <a:solidFill>
            <a:schemeClr val="bg2"/>
          </a:solidFill>
          <a:ln/>
        </p:spPr>
      </p:sp>
      <p:sp>
        <p:nvSpPr>
          <p:cNvPr id="31" name="Text 28"/>
          <p:cNvSpPr txBox="1"/>
          <p:nvPr/>
        </p:nvSpPr>
        <p:spPr>
          <a:xfrm>
            <a:off x="7955280" y="2724912"/>
            <a:ext cx="3550615"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GET /search?q=</a:t>
            </a:r>
            <a:endParaRPr lang="en-US" sz="1300" dirty="0"/>
          </a:p>
        </p:txBody>
      </p:sp>
      <p:sp>
        <p:nvSpPr>
          <p:cNvPr id="32" name="Text 29"/>
          <p:cNvSpPr txBox="1"/>
          <p:nvPr/>
        </p:nvSpPr>
        <p:spPr>
          <a:xfrm>
            <a:off x="7955280" y="2999232"/>
            <a:ext cx="3550615" cy="384048"/>
          </a:xfrm>
          <a:prstGeom prst="rect">
            <a:avLst/>
          </a:prstGeom>
          <a:noFill/>
          <a:ln/>
        </p:spPr>
        <p:txBody>
          <a:bodyPr wrap="square" lIns="0" tIns="0" rIns="0" bIns="0" rtlCol="0" anchor="t"/>
          <a:lstStyle/>
          <a:p>
            <a:pPr indent="0" marL="0">
              <a:buNone/>
            </a:pPr>
            <a:r>
              <a:rPr lang="en-US" sz="1100" dirty="0">
                <a:solidFill>
                  <a:schemeClr val="tx1"/>
                </a:solidFill>
              </a:rPr>
              <a:t>Find saved tickets that contain a word, newest first</a:t>
            </a:r>
            <a:endParaRPr lang="en-US" sz="1100" dirty="0"/>
          </a:p>
        </p:txBody>
      </p:sp>
      <p:sp>
        <p:nvSpPr>
          <p:cNvPr id="33" name="Shape 30"/>
          <p:cNvSpPr/>
          <p:nvPr/>
        </p:nvSpPr>
        <p:spPr>
          <a:xfrm>
            <a:off x="7818120" y="3520440"/>
            <a:ext cx="3824935" cy="749808"/>
          </a:xfrm>
          <a:prstGeom prst="roundRect">
            <a:avLst>
              <a:gd name="adj" fmla="val 9756"/>
            </a:avLst>
          </a:prstGeom>
          <a:solidFill>
            <a:schemeClr val="bg2"/>
          </a:solidFill>
          <a:ln/>
        </p:spPr>
      </p:sp>
      <p:sp>
        <p:nvSpPr>
          <p:cNvPr id="34" name="Text 31"/>
          <p:cNvSpPr txBox="1"/>
          <p:nvPr/>
        </p:nvSpPr>
        <p:spPr>
          <a:xfrm>
            <a:off x="7955280" y="3593592"/>
            <a:ext cx="3550615" cy="27432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GET /stats</a:t>
            </a:r>
            <a:endParaRPr lang="en-US" sz="1300" dirty="0"/>
          </a:p>
        </p:txBody>
      </p:sp>
      <p:sp>
        <p:nvSpPr>
          <p:cNvPr id="35" name="Text 32"/>
          <p:cNvSpPr txBox="1"/>
          <p:nvPr/>
        </p:nvSpPr>
        <p:spPr>
          <a:xfrm>
            <a:off x="7955280" y="3867912"/>
            <a:ext cx="3550615" cy="384048"/>
          </a:xfrm>
          <a:prstGeom prst="rect">
            <a:avLst/>
          </a:prstGeom>
          <a:noFill/>
          <a:ln/>
        </p:spPr>
        <p:txBody>
          <a:bodyPr wrap="square" lIns="0" tIns="0" rIns="0" bIns="0" rtlCol="0" anchor="t"/>
          <a:lstStyle/>
          <a:p>
            <a:pPr indent="0" marL="0">
              <a:buNone/>
            </a:pPr>
            <a:r>
              <a:rPr lang="en-US" sz="1100" dirty="0">
                <a:solidFill>
                  <a:schemeClr val="tx1"/>
                </a:solidFill>
              </a:rPr>
              <a:t>How many saved tickets are in each category</a:t>
            </a:r>
            <a:endParaRPr lang="en-US" sz="1100" dirty="0"/>
          </a:p>
        </p:txBody>
      </p:sp>
      <p:sp>
        <p:nvSpPr>
          <p:cNvPr id="36" name="Text 33"/>
          <p:cNvSpPr txBox="1"/>
          <p:nvPr/>
        </p:nvSpPr>
        <p:spPr>
          <a:xfrm>
            <a:off x="7818120" y="4434840"/>
            <a:ext cx="3824935" cy="3200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Kept deliberately simple</a:t>
            </a:r>
            <a:endParaRPr lang="en-US" sz="1600" dirty="0"/>
          </a:p>
        </p:txBody>
      </p:sp>
      <p:sp>
        <p:nvSpPr>
          <p:cNvPr id="37" name="Text 34"/>
          <p:cNvSpPr txBox="1"/>
          <p:nvPr/>
        </p:nvSpPr>
        <p:spPr>
          <a:xfrm>
            <a:off x="7818120" y="4800600"/>
            <a:ext cx="3824935" cy="1417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The sender waits until the model has answered</a:t>
            </a:r>
            <a:endParaRPr lang="en-US" sz="1200" dirty="0"/>
          </a:p>
          <a:p>
            <a:pPr marL="342900" indent="-342900">
              <a:spcAft>
                <a:spcPts val="300"/>
              </a:spcAft>
              <a:buSzPct val="100000"/>
              <a:buChar char="•"/>
            </a:pPr>
            <a:r>
              <a:rPr lang="en-US" sz="1200" dirty="0">
                <a:solidFill>
                  <a:schemeClr val="tx1"/>
                </a:solidFill>
              </a:rPr>
              <a:t>No shortcuts: a repeated ticket is sorted again</a:t>
            </a:r>
            <a:endParaRPr lang="en-US" sz="1200" dirty="0"/>
          </a:p>
          <a:p>
            <a:pPr marL="342900" indent="-342900">
              <a:spcAft>
                <a:spcPts val="300"/>
              </a:spcAft>
              <a:buSzPct val="100000"/>
              <a:buChar char="•"/>
            </a:pPr>
            <a:r>
              <a:rPr lang="en-US" sz="1200" dirty="0">
                <a:solidFill>
                  <a:schemeClr val="tx1"/>
                </a:solidFill>
              </a:rPr>
              <a:t>No waiting line in our code; the model server has its own</a:t>
            </a:r>
            <a:endParaRPr lang="en-US" sz="1200" dirty="0"/>
          </a:p>
          <a:p>
            <a:pPr marL="342900" indent="-342900">
              <a:spcAft>
                <a:spcPts val="300"/>
              </a:spcAft>
              <a:buSzPct val="100000"/>
              <a:buChar char="•"/>
            </a:pPr>
            <a:r>
              <a:rPr lang="en-US" sz="1200" dirty="0">
                <a:solidFill>
                  <a:schemeClr val="tx1"/>
                </a:solidFill>
              </a:rPr>
              <a:t>Search reads through every saved ticket (no index)</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The desk peaks at 1.73 tickets per minute, all in business hours</a:t>
            </a:r>
            <a:endParaRPr lang="en-US" sz="3000" dirty="0"/>
          </a:p>
        </p:txBody>
      </p:sp>
      <p:sp>
        <p:nvSpPr>
          <p:cNvPr id="4" name="Shape 1"/>
          <p:cNvSpPr/>
          <p:nvPr/>
        </p:nvSpPr>
        <p:spPr>
          <a:xfrm>
            <a:off x="548640" y="1325880"/>
            <a:ext cx="1600200" cy="1874520"/>
          </a:xfrm>
          <a:prstGeom prst="roundRect">
            <a:avLst>
              <a:gd name="adj" fmla="val 4571"/>
            </a:avLst>
          </a:prstGeom>
          <a:solidFill>
            <a:schemeClr val="bg2"/>
          </a:solidFill>
          <a:ln/>
        </p:spPr>
      </p:sp>
      <p:sp>
        <p:nvSpPr>
          <p:cNvPr id="5" name="Text 2"/>
          <p:cNvSpPr txBox="1"/>
          <p:nvPr/>
        </p:nvSpPr>
        <p:spPr>
          <a:xfrm>
            <a:off x="685800" y="1444752"/>
            <a:ext cx="132588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86,719</a:t>
            </a:r>
            <a:endParaRPr lang="en-US" sz="2200" dirty="0"/>
          </a:p>
        </p:txBody>
      </p:sp>
      <p:sp>
        <p:nvSpPr>
          <p:cNvPr id="6" name="Text 3"/>
          <p:cNvSpPr txBox="1"/>
          <p:nvPr/>
        </p:nvSpPr>
        <p:spPr>
          <a:xfrm>
            <a:off x="685800" y="1965960"/>
            <a:ext cx="1325880" cy="868680"/>
          </a:xfrm>
          <a:prstGeom prst="rect">
            <a:avLst/>
          </a:prstGeom>
          <a:noFill/>
          <a:ln/>
        </p:spPr>
        <p:txBody>
          <a:bodyPr wrap="square" lIns="0" tIns="0" rIns="0" bIns="0" rtlCol="0" anchor="t"/>
          <a:lstStyle/>
          <a:p>
            <a:pPr indent="0" marL="0">
              <a:buNone/>
            </a:pPr>
            <a:r>
              <a:rPr lang="en-US" sz="1100" dirty="0">
                <a:solidFill>
                  <a:schemeClr val="tx1"/>
                </a:solidFill>
              </a:rPr>
              <a:t>complaints in 6 months at a large UK bank (Bank of Scotland, Jul–Dec 2025)</a:t>
            </a:r>
            <a:endParaRPr lang="en-US" sz="1100" dirty="0"/>
          </a:p>
        </p:txBody>
      </p:sp>
      <p:sp>
        <p:nvSpPr>
          <p:cNvPr id="7" name="Text 4"/>
          <p:cNvSpPr txBox="1"/>
          <p:nvPr/>
        </p:nvSpPr>
        <p:spPr>
          <a:xfrm>
            <a:off x="685800" y="2852928"/>
            <a:ext cx="1325880" cy="228600"/>
          </a:xfrm>
          <a:prstGeom prst="rect">
            <a:avLst/>
          </a:prstGeom>
          <a:noFill/>
          <a:ln/>
        </p:spPr>
        <p:txBody>
          <a:bodyPr wrap="square" lIns="0" tIns="0" rIns="0" bIns="0" rtlCol="0" anchor="t"/>
          <a:lstStyle/>
          <a:p>
            <a:pPr indent="0" marL="0">
              <a:buNone/>
            </a:pPr>
            <a:r>
              <a:rPr lang="en-US" sz="1000" b="1" dirty="0">
                <a:solidFill>
                  <a:schemeClr val="accent1"/>
                </a:solidFill>
              </a:rPr>
              <a:t>SOURCED [3]</a:t>
            </a:r>
            <a:endParaRPr lang="en-US" sz="1000" dirty="0"/>
          </a:p>
        </p:txBody>
      </p:sp>
      <p:sp>
        <p:nvSpPr>
          <p:cNvPr id="8" name="Shape 5"/>
          <p:cNvSpPr/>
          <p:nvPr/>
        </p:nvSpPr>
        <p:spPr>
          <a:xfrm>
            <a:off x="2258568" y="1325880"/>
            <a:ext cx="1600200" cy="1874520"/>
          </a:xfrm>
          <a:prstGeom prst="roundRect">
            <a:avLst>
              <a:gd name="adj" fmla="val 4571"/>
            </a:avLst>
          </a:prstGeom>
          <a:solidFill>
            <a:schemeClr val="bg2"/>
          </a:solidFill>
          <a:ln/>
        </p:spPr>
      </p:sp>
      <p:sp>
        <p:nvSpPr>
          <p:cNvPr id="9" name="Text 6"/>
          <p:cNvSpPr txBox="1"/>
          <p:nvPr/>
        </p:nvSpPr>
        <p:spPr>
          <a:xfrm>
            <a:off x="2395728" y="1444752"/>
            <a:ext cx="132588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 694</a:t>
            </a:r>
            <a:endParaRPr lang="en-US" sz="2200" dirty="0"/>
          </a:p>
        </p:txBody>
      </p:sp>
      <p:sp>
        <p:nvSpPr>
          <p:cNvPr id="10" name="Text 7"/>
          <p:cNvSpPr txBox="1"/>
          <p:nvPr/>
        </p:nvSpPr>
        <p:spPr>
          <a:xfrm>
            <a:off x="2395728" y="1965960"/>
            <a:ext cx="1325880" cy="868680"/>
          </a:xfrm>
          <a:prstGeom prst="rect">
            <a:avLst/>
          </a:prstGeom>
          <a:noFill/>
          <a:ln/>
        </p:spPr>
        <p:txBody>
          <a:bodyPr wrap="square" lIns="0" tIns="0" rIns="0" bIns="0" rtlCol="0" anchor="t"/>
          <a:lstStyle/>
          <a:p>
            <a:pPr indent="0" marL="0">
              <a:buNone/>
            </a:pPr>
            <a:r>
              <a:rPr lang="en-US" sz="1100" dirty="0">
                <a:solidFill>
                  <a:schemeClr val="tx1"/>
                </a:solidFill>
              </a:rPr>
              <a:t>per working day: 86,719 × 2 = 173,438 a year, ÷ 250 working days</a:t>
            </a:r>
            <a:endParaRPr lang="en-US" sz="1100" dirty="0"/>
          </a:p>
        </p:txBody>
      </p:sp>
      <p:sp>
        <p:nvSpPr>
          <p:cNvPr id="11" name="Text 8"/>
          <p:cNvSpPr txBox="1"/>
          <p:nvPr/>
        </p:nvSpPr>
        <p:spPr>
          <a:xfrm>
            <a:off x="2395728" y="2852928"/>
            <a:ext cx="1325880" cy="228600"/>
          </a:xfrm>
          <a:prstGeom prst="rect">
            <a:avLst/>
          </a:prstGeom>
          <a:noFill/>
          <a:ln/>
        </p:spPr>
        <p:txBody>
          <a:bodyPr wrap="square" lIns="0" tIns="0" rIns="0" bIns="0" rtlCol="0" anchor="t"/>
          <a:lstStyle/>
          <a:p>
            <a:pPr indent="0" marL="0">
              <a:buNone/>
            </a:pPr>
            <a:r>
              <a:rPr lang="en-US" sz="1000" b="1" dirty="0">
                <a:solidFill>
                  <a:schemeClr val="accent1"/>
                </a:solidFill>
              </a:rPr>
              <a:t>EST. FROM [4]</a:t>
            </a:r>
            <a:endParaRPr lang="en-US" sz="1000" dirty="0"/>
          </a:p>
        </p:txBody>
      </p:sp>
      <p:sp>
        <p:nvSpPr>
          <p:cNvPr id="12" name="Shape 9"/>
          <p:cNvSpPr/>
          <p:nvPr/>
        </p:nvSpPr>
        <p:spPr>
          <a:xfrm>
            <a:off x="3968496" y="1325880"/>
            <a:ext cx="1600200" cy="1874520"/>
          </a:xfrm>
          <a:prstGeom prst="roundRect">
            <a:avLst>
              <a:gd name="adj" fmla="val 4571"/>
            </a:avLst>
          </a:prstGeom>
          <a:solidFill>
            <a:schemeClr val="bg2"/>
          </a:solidFill>
          <a:ln/>
        </p:spPr>
      </p:sp>
      <p:sp>
        <p:nvSpPr>
          <p:cNvPr id="13" name="Text 10"/>
          <p:cNvSpPr txBox="1"/>
          <p:nvPr/>
        </p:nvSpPr>
        <p:spPr>
          <a:xfrm>
            <a:off x="4105656" y="1444752"/>
            <a:ext cx="1325880"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1.45/min</a:t>
            </a:r>
            <a:endParaRPr lang="en-US" sz="2200" dirty="0"/>
          </a:p>
        </p:txBody>
      </p:sp>
      <p:sp>
        <p:nvSpPr>
          <p:cNvPr id="14" name="Text 11"/>
          <p:cNvSpPr txBox="1"/>
          <p:nvPr/>
        </p:nvSpPr>
        <p:spPr>
          <a:xfrm>
            <a:off x="4105656" y="1965960"/>
            <a:ext cx="1325880" cy="868680"/>
          </a:xfrm>
          <a:prstGeom prst="rect">
            <a:avLst/>
          </a:prstGeom>
          <a:noFill/>
          <a:ln/>
        </p:spPr>
        <p:txBody>
          <a:bodyPr wrap="square" lIns="0" tIns="0" rIns="0" bIns="0" rtlCol="0" anchor="t"/>
          <a:lstStyle/>
          <a:p>
            <a:pPr indent="0" marL="0">
              <a:buNone/>
            </a:pPr>
            <a:r>
              <a:rPr lang="en-US" sz="1100" dirty="0">
                <a:solidFill>
                  <a:schemeClr val="tx1"/>
                </a:solidFill>
              </a:rPr>
              <a:t>on average: 694 spread over an 8-hour working day</a:t>
            </a:r>
            <a:endParaRPr lang="en-US" sz="1100" dirty="0"/>
          </a:p>
        </p:txBody>
      </p:sp>
      <p:sp>
        <p:nvSpPr>
          <p:cNvPr id="15" name="Text 12"/>
          <p:cNvSpPr txBox="1"/>
          <p:nvPr/>
        </p:nvSpPr>
        <p:spPr>
          <a:xfrm>
            <a:off x="4105656" y="2852928"/>
            <a:ext cx="1325880" cy="228600"/>
          </a:xfrm>
          <a:prstGeom prst="rect">
            <a:avLst/>
          </a:prstGeom>
          <a:noFill/>
          <a:ln/>
        </p:spPr>
        <p:txBody>
          <a:bodyPr wrap="square" lIns="0" tIns="0" rIns="0" bIns="0" rtlCol="0" anchor="t"/>
          <a:lstStyle/>
          <a:p>
            <a:pPr indent="0" marL="0">
              <a:buNone/>
            </a:pPr>
            <a:r>
              <a:rPr lang="en-US" sz="1000" b="1" dirty="0">
                <a:solidFill>
                  <a:schemeClr val="accent1"/>
                </a:solidFill>
              </a:rPr>
              <a:t>ESTIMATED</a:t>
            </a:r>
            <a:endParaRPr lang="en-US" sz="1000" dirty="0"/>
          </a:p>
        </p:txBody>
      </p:sp>
      <p:sp>
        <p:nvSpPr>
          <p:cNvPr id="16" name="Shape 13"/>
          <p:cNvSpPr/>
          <p:nvPr/>
        </p:nvSpPr>
        <p:spPr>
          <a:xfrm>
            <a:off x="5678424" y="1325880"/>
            <a:ext cx="1600200" cy="1874520"/>
          </a:xfrm>
          <a:prstGeom prst="roundRect">
            <a:avLst>
              <a:gd name="adj" fmla="val 4571"/>
            </a:avLst>
          </a:prstGeom>
          <a:solidFill>
            <a:schemeClr val="tx2"/>
          </a:solidFill>
          <a:ln/>
        </p:spPr>
      </p:sp>
      <p:sp>
        <p:nvSpPr>
          <p:cNvPr id="17" name="Text 14"/>
          <p:cNvSpPr txBox="1"/>
          <p:nvPr/>
        </p:nvSpPr>
        <p:spPr>
          <a:xfrm>
            <a:off x="5815584" y="1444752"/>
            <a:ext cx="1325880" cy="5029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1.73/min</a:t>
            </a:r>
            <a:endParaRPr lang="en-US" sz="2200" dirty="0"/>
          </a:p>
        </p:txBody>
      </p:sp>
      <p:sp>
        <p:nvSpPr>
          <p:cNvPr id="18" name="Text 15"/>
          <p:cNvSpPr txBox="1"/>
          <p:nvPr/>
        </p:nvSpPr>
        <p:spPr>
          <a:xfrm>
            <a:off x="5815584" y="1965960"/>
            <a:ext cx="1325880" cy="868680"/>
          </a:xfrm>
          <a:prstGeom prst="rect">
            <a:avLst/>
          </a:prstGeom>
          <a:noFill/>
          <a:ln/>
        </p:spPr>
        <p:txBody>
          <a:bodyPr wrap="square" lIns="0" tIns="0" rIns="0" bIns="0" rtlCol="0" anchor="t"/>
          <a:lstStyle/>
          <a:p>
            <a:pPr indent="0" marL="0">
              <a:buNone/>
            </a:pPr>
            <a:r>
              <a:rPr lang="en-US" sz="1100" dirty="0">
                <a:solidFill>
                  <a:srgbClr val="CADDDA"/>
                </a:solidFill>
              </a:rPr>
              <a:t>in the busiest hour, which gets 15% of the day (104 tickets)</a:t>
            </a:r>
            <a:endParaRPr lang="en-US" sz="1100" dirty="0"/>
          </a:p>
        </p:txBody>
      </p:sp>
      <p:sp>
        <p:nvSpPr>
          <p:cNvPr id="19" name="Text 16"/>
          <p:cNvSpPr txBox="1"/>
          <p:nvPr/>
        </p:nvSpPr>
        <p:spPr>
          <a:xfrm>
            <a:off x="5815584" y="2852928"/>
            <a:ext cx="1325880" cy="228600"/>
          </a:xfrm>
          <a:prstGeom prst="rect">
            <a:avLst/>
          </a:prstGeom>
          <a:noFill/>
          <a:ln/>
        </p:spPr>
        <p:txBody>
          <a:bodyPr wrap="square" lIns="0" tIns="0" rIns="0" bIns="0" rtlCol="0" anchor="t"/>
          <a:lstStyle/>
          <a:p>
            <a:pPr indent="0" marL="0">
              <a:buNone/>
            </a:pPr>
            <a:r>
              <a:rPr lang="en-US" sz="1000" b="1" dirty="0">
                <a:solidFill>
                  <a:srgbClr val="9BC1BC"/>
                </a:solidFill>
              </a:rPr>
              <a:t>EST. FROM [5], [6]</a:t>
            </a:r>
            <a:endParaRPr lang="en-US" sz="1000" dirty="0"/>
          </a:p>
        </p:txBody>
      </p:sp>
      <p:sp>
        <p:nvSpPr>
          <p:cNvPr id="20" name="Text 17"/>
          <p:cNvSpPr txBox="1"/>
          <p:nvPr/>
        </p:nvSpPr>
        <p:spPr>
          <a:xfrm>
            <a:off x="548640" y="3429000"/>
            <a:ext cx="676656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Traffic levels we tested</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6720840" cy="914400"/>
        </p:xfrm>
        <a:graphic>
          <a:graphicData uri="http://schemas.openxmlformats.org/drawingml/2006/table">
            <a:tbl>
              <a:tblPr/>
              <a:tblGrid>
                <a:gridCol w="1325880"/>
                <a:gridCol w="1234440"/>
                <a:gridCol w="1325880"/>
                <a:gridCol w="2834640"/>
              </a:tblGrid>
              <a:tr h="329184">
                <a:tc>
                  <a:txBody>
                    <a:bodyPr/>
                    <a:lstStyle/>
                    <a:p>
                      <a:pPr indent="0" marL="0">
                        <a:buNone/>
                      </a:pPr>
                      <a:r>
                        <a:rPr lang="en-US" sz="1200" b="1" dirty="0">
                          <a:solidFill>
                            <a:schemeClr val="bg1"/>
                          </a:solidFill>
                        </a:rPr>
                        <a:t>Level</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Tickets /min</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Searches /min</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rPr>
                        <a:t>Average</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1.45</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2.9</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A normal hour</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29184">
                <a:tc>
                  <a:txBody>
                    <a:bodyPr/>
                    <a:lstStyle/>
                    <a:p>
                      <a:pPr indent="0" marL="0">
                        <a:buNone/>
                      </a:pPr>
                      <a:r>
                        <a:rPr lang="en-US" sz="1200" b="1" dirty="0">
                          <a:solidFill>
                            <a:schemeClr val="tx1"/>
                          </a:solidFill>
                        </a:rPr>
                        <a:t>Peak</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b="1" dirty="0">
                          <a:solidFill>
                            <a:schemeClr val="tx1"/>
                          </a:solidFill>
                        </a:rPr>
                        <a:t>1.73</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b="1" dirty="0">
                          <a:solidFill>
                            <a:schemeClr val="tx1"/>
                          </a:solidFill>
                        </a:rPr>
                        <a:t>3.5</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b="1" dirty="0">
                          <a:solidFill>
                            <a:schemeClr val="tx1"/>
                          </a:solidFill>
                        </a:rPr>
                        <a:t>Busiest hour: targets must be met here</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29184">
                <a:tc>
                  <a:txBody>
                    <a:bodyPr/>
                    <a:lstStyle/>
                    <a:p>
                      <a:pPr indent="0" marL="0">
                        <a:buNone/>
                      </a:pPr>
                      <a:r>
                        <a:rPr lang="en-US" sz="1200" dirty="0">
                          <a:solidFill>
                            <a:schemeClr val="tx1"/>
                          </a:solidFill>
                        </a:rPr>
                        <a:t>Beyond peak</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3.5</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Double the peak: room for busy seasons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22" name="Text 18"/>
          <p:cNvSpPr txBox="1"/>
          <p:nvPr/>
        </p:nvSpPr>
        <p:spPr>
          <a:xfrm>
            <a:off x="548640" y="5257800"/>
            <a:ext cx="6720840" cy="10058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Searches: we assume staff search twice per ticket (the customer's past complaints, similar cases). An estimate: no published figure exists</a:t>
            </a:r>
            <a:endParaRPr lang="en-US" sz="1200" dirty="0"/>
          </a:p>
          <a:p>
            <a:pPr marL="342900" indent="-342900">
              <a:spcAft>
                <a:spcPts val="300"/>
              </a:spcAft>
              <a:buSzPct val="100000"/>
              <a:buChar char="•"/>
            </a:pPr>
            <a:r>
              <a:rPr lang="en-US" sz="1200" dirty="0">
                <a:solidFill>
                  <a:schemeClr val="tx1"/>
                </a:solidFill>
              </a:rPr>
              <a:t>We count phone complaints as tickets too, and move out-of-hours ones into office hours. Both make our test harder than reality [7]</a:t>
            </a:r>
            <a:endParaRPr lang="en-US" sz="1200" dirty="0"/>
          </a:p>
        </p:txBody>
      </p:sp>
      <p:graphicFrame>
        <p:nvGraphicFramePr>
          <p:cNvPr id="23" name="Chart 0" descr=""/>
          <p:cNvGraphicFramePr/>
          <p:nvPr/>
        </p:nvGraphicFramePr>
        <p:xfrm>
          <a:off x="7589520" y="1280160"/>
          <a:ext cx="4053535" cy="3429000"/>
        </p:xfrm>
        <a:graphic xmlns:a="http://schemas.openxmlformats.org/drawingml/2006/main">
          <a:graphicData uri="http://schemas.openxmlformats.org/drawingml/2006/chart">
            <c:chart xmlns:c="http://schemas.openxmlformats.org/drawingml/2006/chart" r:id="rId1"/>
          </a:graphicData>
        </a:graphic>
      </p:graphicFrame>
      <p:sp>
        <p:nvSpPr>
          <p:cNvPr id="24" name="Text 19"/>
          <p:cNvSpPr txBox="1"/>
          <p:nvPr/>
        </p:nvSpPr>
        <p:spPr>
          <a:xfrm>
            <a:off x="7589520" y="4846320"/>
            <a:ext cx="4053535" cy="1371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Each bar is the length that share of tickets stays under: half are under 797 characters (~144 words), 95% under 1,780</a:t>
            </a:r>
            <a:endParaRPr lang="en-US" sz="1200" dirty="0"/>
          </a:p>
          <a:p>
            <a:pPr marL="342900" indent="-342900">
              <a:spcAft>
                <a:spcPts val="300"/>
              </a:spcAft>
              <a:buSzPct val="100000"/>
              <a:buChar char="•"/>
            </a:pPr>
            <a:r>
              <a:rPr lang="en-US" sz="1200" dirty="0">
                <a:solidFill>
                  <a:schemeClr val="tx1"/>
                </a:solidFill>
              </a:rPr>
              <a:t>Even the longest (2,000 characters) plus our instructions fits in what the model reads at once, so no ticket is cut short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As accurate as a trained human, fast enough for the peak</a:t>
            </a:r>
            <a:endParaRPr lang="en-US" sz="3000" dirty="0"/>
          </a:p>
        </p:txBody>
      </p:sp>
      <p:sp>
        <p:nvSpPr>
          <p:cNvPr id="4" name="Shape 1"/>
          <p:cNvSpPr/>
          <p:nvPr/>
        </p:nvSpPr>
        <p:spPr>
          <a:xfrm>
            <a:off x="548640" y="1280160"/>
            <a:ext cx="11094415" cy="822960"/>
          </a:xfrm>
          <a:prstGeom prst="roundRect">
            <a:avLst>
              <a:gd name="adj" fmla="val 8889"/>
            </a:avLst>
          </a:prstGeom>
          <a:solidFill>
            <a:schemeClr val="tx2"/>
          </a:solidFill>
          <a:ln/>
        </p:spPr>
      </p:sp>
      <p:sp>
        <p:nvSpPr>
          <p:cNvPr id="5" name="Text 2"/>
          <p:cNvSpPr txBox="1"/>
          <p:nvPr/>
        </p:nvSpPr>
        <p:spPr>
          <a:xfrm>
            <a:off x="777240" y="1325880"/>
            <a:ext cx="10637215" cy="731520"/>
          </a:xfrm>
          <a:prstGeom prst="rect">
            <a:avLst/>
          </a:prstGeom>
          <a:noFill/>
          <a:ln/>
        </p:spPr>
        <p:txBody>
          <a:bodyPr wrap="square" lIns="0" tIns="0" rIns="0" bIns="0" rtlCol="0" anchor="ctr"/>
          <a:lstStyle/>
          <a:p>
            <a:pPr indent="0" marL="0">
              <a:buNone/>
            </a:pPr>
            <a:r>
              <a:rPr lang="en-US" sz="1300" b="1" dirty="0">
                <a:solidFill>
                  <a:schemeClr val="accent2"/>
                </a:solidFill>
              </a:rPr>
              <a:t>Our position: </a:t>
            </a:r>
            <a:pPr indent="0" marL="0">
              <a:buNone/>
            </a:pPr>
            <a:r>
              <a:rPr lang="en-US" sz="1300" dirty="0">
                <a:solidFill>
                  <a:schemeClr val="bg1"/>
                </a:solidFill>
              </a:rPr>
              <a:t>sending a ticket to the wrong team costs more than sorting it slowly. A wrong ticket must be spotted, re-read and passed on by another team. Waiting 30 seconds instead of 5 makes no difference to a complaint a person answers over hours or days.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4415" cy="914400"/>
        </p:xfrm>
        <a:graphic>
          <a:graphicData uri="http://schemas.openxmlformats.org/drawingml/2006/table">
            <a:tbl>
              <a:tblPr/>
              <a:tblGrid>
                <a:gridCol w="548640"/>
                <a:gridCol w="3246120"/>
                <a:gridCol w="2834640"/>
                <a:gridCol w="4462272"/>
              </a:tblGrid>
              <a:tr h="329184">
                <a:tc>
                  <a:txBody>
                    <a:bodyPr/>
                    <a:lstStyle/>
                    <a:p>
                      <a:pPr indent="0" marL="0">
                        <a:buNone/>
                      </a:pPr>
                      <a:r>
                        <a:rPr lang="en-US" sz="1200" b="1" dirty="0">
                          <a:solidFill>
                            <a:schemeClr val="bg1"/>
                          </a:solidFill>
                        </a:rPr>
                        <a:t>ID</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Target</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Tested under</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this number</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r>
              <a:tr h="603504">
                <a:tc>
                  <a:txBody>
                    <a:bodyPr/>
                    <a:lstStyle/>
                    <a:p>
                      <a:pPr indent="0" marL="0">
                        <a:buNone/>
                      </a:pPr>
                      <a:r>
                        <a:rPr lang="en-US" sz="1200" b="1" dirty="0">
                          <a:solidFill>
                            <a:schemeClr val="accent1"/>
                          </a:solidFill>
                        </a:rPr>
                        <a:t>R1</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95% of tickets sorted within 30 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Busiest hour: 1.73 tickets/min for 10 min, 3 runs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At peak a ticket arrives about every 35 s. Sorting slower than that means tickets pile up</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603504">
                <a:tc>
                  <a:txBody>
                    <a:bodyPr/>
                    <a:lstStyle/>
                    <a:p>
                      <a:pPr indent="0" marL="0">
                        <a:buNone/>
                      </a:pPr>
                      <a:r>
                        <a:rPr lang="en-US" sz="1200" b="1" dirty="0">
                          <a:solidFill>
                            <a:schemeClr val="accent1"/>
                          </a:solidFill>
                        </a:rPr>
                        <a:t>R2</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95% of searches answered within 1 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Busiest hour plus 3.5 searches/min, 10 min</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Staff wait at the screen; about 1 s keeps their train of thought [9]</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603504">
                <a:tc>
                  <a:txBody>
                    <a:bodyPr/>
                    <a:lstStyle/>
                    <a:p>
                      <a:pPr indent="0" marL="0">
                        <a:buNone/>
                      </a:pPr>
                      <a:r>
                        <a:rPr lang="en-US" sz="1200" b="1" dirty="0">
                          <a:solidFill>
                            <a:schemeClr val="accent1"/>
                          </a:solidFill>
                        </a:rPr>
                        <a:t>R3</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Keeps up: ≥ 104 tickets sorted an hour, ≤ 1% failures, delays not growing</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Busiest hour, 10 min, 3 runs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104 is the busiest hour's volume; sorting fewer means a growing backlog</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603504">
                <a:tc>
                  <a:txBody>
                    <a:bodyPr/>
                    <a:lstStyle/>
                    <a:p>
                      <a:pPr indent="0" marL="0">
                        <a:buNone/>
                      </a:pPr>
                      <a:r>
                        <a:rPr lang="en-US" sz="1200" b="1" dirty="0">
                          <a:solidFill>
                            <a:schemeClr val="accent1"/>
                          </a:solidFill>
                        </a:rPr>
                        <a:t>R4</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At least 80% of tickets sorted correctly</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Our 195 hand-checked tickets, once each</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Our own team agreed with each other on 78–85% of tickets: the model should do as well as one trained person</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603504">
                <a:tc>
                  <a:txBody>
                    <a:bodyPr/>
                    <a:lstStyle/>
                    <a:p>
                      <a:pPr indent="0" marL="0">
                        <a:buNone/>
                      </a:pPr>
                      <a:r>
                        <a:rPr lang="en-US" sz="1200" b="1" dirty="0">
                          <a:solidFill>
                            <a:schemeClr val="accent1"/>
                          </a:solidFill>
                        </a:rPr>
                        <a:t>R5</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At least 70% correct in every category</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Each category of the 195</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200" dirty="0">
                          <a:solidFill>
                            <a:schemeClr val="tx1"/>
                          </a:solidFill>
                        </a:rPr>
                        <a:t>Small categories have only 17–18 tickets, so one wrong ticket costs ~6 points. A lower bar avoids failing a model over 1–2 tickets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7" name="Shape 3"/>
          <p:cNvSpPr/>
          <p:nvPr/>
        </p:nvSpPr>
        <p:spPr>
          <a:xfrm>
            <a:off x="548640" y="5806440"/>
            <a:ext cx="11094415" cy="457200"/>
          </a:xfrm>
          <a:prstGeom prst="roundRect">
            <a:avLst>
              <a:gd name="adj" fmla="val 16000"/>
            </a:avLst>
          </a:prstGeom>
          <a:solidFill>
            <a:schemeClr val="bg2"/>
          </a:solidFill>
          <a:ln/>
        </p:spPr>
      </p:sp>
      <p:sp>
        <p:nvSpPr>
          <p:cNvPr id="8" name="Text 4"/>
          <p:cNvSpPr txBox="1"/>
          <p:nvPr/>
        </p:nvSpPr>
        <p:spPr>
          <a:xfrm>
            <a:off x="777240" y="5806440"/>
            <a:ext cx="10637215" cy="457200"/>
          </a:xfrm>
          <a:prstGeom prst="rect">
            <a:avLst/>
          </a:prstGeom>
          <a:noFill/>
          <a:ln/>
        </p:spPr>
        <p:txBody>
          <a:bodyPr wrap="square" lIns="0" tIns="0" rIns="0" bIns="0" rtlCol="0" anchor="ctr"/>
          <a:lstStyle/>
          <a:p>
            <a:pPr indent="0" marL="0">
              <a:buNone/>
            </a:pPr>
            <a:r>
              <a:rPr lang="en-US" sz="1200" b="1" dirty="0">
                <a:solidFill>
                  <a:schemeClr val="tx2"/>
                </a:solidFill>
              </a:rPr>
              <a:t>Client rules.  C1: </a:t>
            </a:r>
            <a:pPr indent="0" marL="0">
              <a:buNone/>
            </a:pPr>
            <a:r>
              <a:rPr lang="en-US" sz="1200" dirty="0">
                <a:solidFill>
                  <a:schemeClr val="tx1"/>
                </a:solidFill>
              </a:rPr>
              <a:t>the model runs on the bank's own computers, without graphics cards; no outside AI service.   </a:t>
            </a:r>
            <a:pPr indent="0" marL="0">
              <a:buNone/>
            </a:pPr>
            <a:r>
              <a:rPr lang="en-US" sz="1200" b="1" dirty="0">
                <a:solidFill>
                  <a:schemeClr val="tx2"/>
                </a:solidFill>
              </a:rPr>
              <a:t>C2: </a:t>
            </a:r>
            <a:pPr indent="0" marL="0">
              <a:buNone/>
            </a:pPr>
            <a:r>
              <a:rPr lang="en-US" sz="1200" dirty="0">
                <a:solidFill>
                  <a:schemeClr val="tx1"/>
                </a:solidFill>
              </a:rPr>
              <a:t>the model's licence must allow commercial use.</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We tested three models, from small and fast to 15 times larger</a:t>
            </a:r>
            <a:endParaRPr lang="en-US" sz="3000" dirty="0"/>
          </a:p>
        </p:txBody>
      </p:sp>
      <p:sp>
        <p:nvSpPr>
          <p:cNvPr id="4" name="Shape 1"/>
          <p:cNvSpPr/>
          <p:nvPr/>
        </p:nvSpPr>
        <p:spPr>
          <a:xfrm>
            <a:off x="548640" y="1325880"/>
            <a:ext cx="3515258" cy="2514600"/>
          </a:xfrm>
          <a:prstGeom prst="roundRect">
            <a:avLst>
              <a:gd name="adj" fmla="val 2909"/>
            </a:avLst>
          </a:prstGeom>
          <a:solidFill>
            <a:schemeClr val="bg2"/>
          </a:solidFill>
          <a:ln/>
        </p:spPr>
      </p:sp>
      <p:sp>
        <p:nvSpPr>
          <p:cNvPr id="5" name="Shape 2"/>
          <p:cNvSpPr/>
          <p:nvPr/>
        </p:nvSpPr>
        <p:spPr>
          <a:xfrm>
            <a:off x="777240" y="1508760"/>
            <a:ext cx="292608" cy="292608"/>
          </a:xfrm>
          <a:prstGeom prst="ellipse">
            <a:avLst/>
          </a:prstGeom>
          <a:solidFill>
            <a:srgbClr val="9BC1BC"/>
          </a:solidFill>
          <a:ln/>
        </p:spPr>
      </p:sp>
      <p:sp>
        <p:nvSpPr>
          <p:cNvPr id="6" name="Text 3"/>
          <p:cNvSpPr txBox="1"/>
          <p:nvPr/>
        </p:nvSpPr>
        <p:spPr>
          <a:xfrm>
            <a:off x="1188720" y="1527048"/>
            <a:ext cx="2692298"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SMALL</a:t>
            </a:r>
            <a:endParaRPr lang="en-US" sz="1100" dirty="0"/>
          </a:p>
        </p:txBody>
      </p:sp>
      <p:sp>
        <p:nvSpPr>
          <p:cNvPr id="7" name="Text 4"/>
          <p:cNvSpPr txBox="1"/>
          <p:nvPr/>
        </p:nvSpPr>
        <p:spPr>
          <a:xfrm>
            <a:off x="777240" y="1920240"/>
            <a:ext cx="3058058" cy="36576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qwen2.5:0.5b</a:t>
            </a:r>
            <a:endParaRPr lang="en-US" sz="1300" dirty="0"/>
          </a:p>
        </p:txBody>
      </p:sp>
      <p:sp>
        <p:nvSpPr>
          <p:cNvPr id="8" name="Text 5"/>
          <p:cNvSpPr txBox="1"/>
          <p:nvPr/>
        </p:nvSpPr>
        <p:spPr>
          <a:xfrm>
            <a:off x="777240" y="2331720"/>
            <a:ext cx="3058058" cy="274320"/>
          </a:xfrm>
          <a:prstGeom prst="rect">
            <a:avLst/>
          </a:prstGeom>
          <a:noFill/>
          <a:ln/>
        </p:spPr>
        <p:txBody>
          <a:bodyPr wrap="square" lIns="0" tIns="0" rIns="0" bIns="0" rtlCol="0" anchor="t"/>
          <a:lstStyle/>
          <a:p>
            <a:pPr indent="0" marL="0">
              <a:buNone/>
            </a:pPr>
            <a:r>
              <a:rPr lang="en-US" sz="1200" dirty="0">
                <a:solidFill>
                  <a:schemeClr val="tx1"/>
                </a:solidFill>
              </a:rPr>
              <a:t>0.5 billion parameters · 398 MB</a:t>
            </a:r>
            <a:endParaRPr lang="en-US" sz="1200" dirty="0"/>
          </a:p>
        </p:txBody>
      </p:sp>
      <p:sp>
        <p:nvSpPr>
          <p:cNvPr id="9" name="Text 6"/>
          <p:cNvSpPr txBox="1"/>
          <p:nvPr/>
        </p:nvSpPr>
        <p:spPr>
          <a:xfrm>
            <a:off x="777240" y="2633472"/>
            <a:ext cx="3058058" cy="274320"/>
          </a:xfrm>
          <a:prstGeom prst="rect">
            <a:avLst/>
          </a:prstGeom>
          <a:noFill/>
          <a:ln/>
        </p:spPr>
        <p:txBody>
          <a:bodyPr wrap="square" lIns="0" tIns="0" rIns="0" bIns="0" rtlCol="0" anchor="t"/>
          <a:lstStyle/>
          <a:p>
            <a:pPr indent="0" marL="0">
              <a:buNone/>
            </a:pPr>
            <a:r>
              <a:rPr lang="en-US" sz="1200" b="1" dirty="0">
                <a:solidFill>
                  <a:schemeClr val="tx1"/>
                </a:solidFill>
              </a:rPr>
              <a:t>Licence: </a:t>
            </a:r>
            <a:pPr indent="0" marL="0">
              <a:buNone/>
            </a:pPr>
            <a:r>
              <a:rPr lang="en-US" sz="1200" dirty="0">
                <a:solidFill>
                  <a:schemeClr val="tx1"/>
                </a:solidFill>
              </a:rPr>
              <a:t>Apache 2.0 [11]</a:t>
            </a:r>
            <a:endParaRPr lang="en-US" sz="1200" dirty="0"/>
          </a:p>
        </p:txBody>
      </p:sp>
      <p:sp>
        <p:nvSpPr>
          <p:cNvPr id="10" name="Text 7"/>
          <p:cNvSpPr txBox="1"/>
          <p:nvPr/>
        </p:nvSpPr>
        <p:spPr>
          <a:xfrm>
            <a:off x="777240" y="2971800"/>
            <a:ext cx="3058058" cy="777240"/>
          </a:xfrm>
          <a:prstGeom prst="rect">
            <a:avLst/>
          </a:prstGeom>
          <a:noFill/>
          <a:ln/>
        </p:spPr>
        <p:txBody>
          <a:bodyPr wrap="square" lIns="0" tIns="0" rIns="0" bIns="0" rtlCol="0" anchor="t"/>
          <a:lstStyle/>
          <a:p>
            <a:pPr indent="0" marL="0">
              <a:buNone/>
            </a:pPr>
            <a:r>
              <a:rPr lang="en-US" sz="1200" i="1" dirty="0">
                <a:solidFill>
                  <a:schemeClr val="accent5"/>
                </a:solidFill>
              </a:rPr>
              <a:t>Fastest. Same maker as the large one [10], so only size differs</a:t>
            </a:r>
            <a:endParaRPr lang="en-US" sz="1200" dirty="0"/>
          </a:p>
        </p:txBody>
      </p:sp>
      <p:sp>
        <p:nvSpPr>
          <p:cNvPr id="11" name="Shape 8"/>
          <p:cNvSpPr/>
          <p:nvPr/>
        </p:nvSpPr>
        <p:spPr>
          <a:xfrm>
            <a:off x="4338218" y="1325880"/>
            <a:ext cx="3515258" cy="2514600"/>
          </a:xfrm>
          <a:prstGeom prst="roundRect">
            <a:avLst>
              <a:gd name="adj" fmla="val 2909"/>
            </a:avLst>
          </a:prstGeom>
          <a:solidFill>
            <a:schemeClr val="bg2"/>
          </a:solidFill>
          <a:ln/>
        </p:spPr>
      </p:sp>
      <p:sp>
        <p:nvSpPr>
          <p:cNvPr id="12" name="Shape 9"/>
          <p:cNvSpPr/>
          <p:nvPr/>
        </p:nvSpPr>
        <p:spPr>
          <a:xfrm>
            <a:off x="4566818" y="1508760"/>
            <a:ext cx="292608" cy="292608"/>
          </a:xfrm>
          <a:prstGeom prst="ellipse">
            <a:avLst/>
          </a:prstGeom>
          <a:solidFill>
            <a:srgbClr val="5F747B"/>
          </a:solidFill>
          <a:ln/>
        </p:spPr>
      </p:sp>
      <p:sp>
        <p:nvSpPr>
          <p:cNvPr id="13" name="Text 10"/>
          <p:cNvSpPr txBox="1"/>
          <p:nvPr/>
        </p:nvSpPr>
        <p:spPr>
          <a:xfrm>
            <a:off x="4978298" y="1527048"/>
            <a:ext cx="2692298"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SMALL</a:t>
            </a:r>
            <a:endParaRPr lang="en-US" sz="1100" dirty="0"/>
          </a:p>
        </p:txBody>
      </p:sp>
      <p:sp>
        <p:nvSpPr>
          <p:cNvPr id="14" name="Text 11"/>
          <p:cNvSpPr txBox="1"/>
          <p:nvPr/>
        </p:nvSpPr>
        <p:spPr>
          <a:xfrm>
            <a:off x="4566818" y="1920240"/>
            <a:ext cx="3058058" cy="36576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llama3.2:1b-instruct-q4_K_M</a:t>
            </a:r>
            <a:endParaRPr lang="en-US" sz="1300" dirty="0"/>
          </a:p>
        </p:txBody>
      </p:sp>
      <p:sp>
        <p:nvSpPr>
          <p:cNvPr id="15" name="Text 12"/>
          <p:cNvSpPr txBox="1"/>
          <p:nvPr/>
        </p:nvSpPr>
        <p:spPr>
          <a:xfrm>
            <a:off x="4566818" y="2331720"/>
            <a:ext cx="3058058" cy="274320"/>
          </a:xfrm>
          <a:prstGeom prst="rect">
            <a:avLst/>
          </a:prstGeom>
          <a:noFill/>
          <a:ln/>
        </p:spPr>
        <p:txBody>
          <a:bodyPr wrap="square" lIns="0" tIns="0" rIns="0" bIns="0" rtlCol="0" anchor="t"/>
          <a:lstStyle/>
          <a:p>
            <a:pPr indent="0" marL="0">
              <a:buNone/>
            </a:pPr>
            <a:r>
              <a:rPr lang="en-US" sz="1200" dirty="0">
                <a:solidFill>
                  <a:schemeClr val="tx1"/>
                </a:solidFill>
              </a:rPr>
              <a:t>1.2 billion parameters · 808 MB</a:t>
            </a:r>
            <a:endParaRPr lang="en-US" sz="1200" dirty="0"/>
          </a:p>
        </p:txBody>
      </p:sp>
      <p:sp>
        <p:nvSpPr>
          <p:cNvPr id="16" name="Text 13"/>
          <p:cNvSpPr txBox="1"/>
          <p:nvPr/>
        </p:nvSpPr>
        <p:spPr>
          <a:xfrm>
            <a:off x="4566818" y="2633472"/>
            <a:ext cx="3058058" cy="274320"/>
          </a:xfrm>
          <a:prstGeom prst="rect">
            <a:avLst/>
          </a:prstGeom>
          <a:noFill/>
          <a:ln/>
        </p:spPr>
        <p:txBody>
          <a:bodyPr wrap="square" lIns="0" tIns="0" rIns="0" bIns="0" rtlCol="0" anchor="t"/>
          <a:lstStyle/>
          <a:p>
            <a:pPr indent="0" marL="0">
              <a:buNone/>
            </a:pPr>
            <a:r>
              <a:rPr lang="en-US" sz="1200" b="1" dirty="0">
                <a:solidFill>
                  <a:schemeClr val="tx1"/>
                </a:solidFill>
              </a:rPr>
              <a:t>Licence: </a:t>
            </a:r>
            <a:pPr indent="0" marL="0">
              <a:buNone/>
            </a:pPr>
            <a:r>
              <a:rPr lang="en-US" sz="1200" dirty="0">
                <a:solidFill>
                  <a:schemeClr val="tx1"/>
                </a:solidFill>
              </a:rPr>
              <a:t>Llama 3.2 Community [12]</a:t>
            </a:r>
            <a:endParaRPr lang="en-US" sz="1200" dirty="0"/>
          </a:p>
        </p:txBody>
      </p:sp>
      <p:sp>
        <p:nvSpPr>
          <p:cNvPr id="17" name="Text 14"/>
          <p:cNvSpPr txBox="1"/>
          <p:nvPr/>
        </p:nvSpPr>
        <p:spPr>
          <a:xfrm>
            <a:off x="4566818" y="2971800"/>
            <a:ext cx="3058058" cy="777240"/>
          </a:xfrm>
          <a:prstGeom prst="rect">
            <a:avLst/>
          </a:prstGeom>
          <a:noFill/>
          <a:ln/>
        </p:spPr>
        <p:txBody>
          <a:bodyPr wrap="square" lIns="0" tIns="0" rIns="0" bIns="0" rtlCol="0" anchor="t"/>
          <a:lstStyle/>
          <a:p>
            <a:pPr indent="0" marL="0">
              <a:buNone/>
            </a:pPr>
            <a:r>
              <a:rPr lang="en-US" sz="1200" i="1" dirty="0">
                <a:solidFill>
                  <a:schemeClr val="accent5"/>
                </a:solidFill>
              </a:rPr>
              <a:t>A small model from a different maker: does how it was trained matter as much as size?</a:t>
            </a:r>
            <a:endParaRPr lang="en-US" sz="1200" dirty="0"/>
          </a:p>
        </p:txBody>
      </p:sp>
      <p:sp>
        <p:nvSpPr>
          <p:cNvPr id="18" name="Shape 15"/>
          <p:cNvSpPr/>
          <p:nvPr/>
        </p:nvSpPr>
        <p:spPr>
          <a:xfrm>
            <a:off x="8127797" y="1325880"/>
            <a:ext cx="3515258" cy="2514600"/>
          </a:xfrm>
          <a:prstGeom prst="roundRect">
            <a:avLst>
              <a:gd name="adj" fmla="val 2909"/>
            </a:avLst>
          </a:prstGeom>
          <a:solidFill>
            <a:schemeClr val="bg2"/>
          </a:solidFill>
          <a:ln/>
        </p:spPr>
      </p:sp>
      <p:sp>
        <p:nvSpPr>
          <p:cNvPr id="19" name="Shape 16"/>
          <p:cNvSpPr/>
          <p:nvPr/>
        </p:nvSpPr>
        <p:spPr>
          <a:xfrm>
            <a:off x="8356397" y="1508760"/>
            <a:ext cx="292608" cy="292608"/>
          </a:xfrm>
          <a:prstGeom prst="ellipse">
            <a:avLst/>
          </a:prstGeom>
          <a:solidFill>
            <a:srgbClr val="0F6E6E"/>
          </a:solidFill>
          <a:ln/>
        </p:spPr>
      </p:sp>
      <p:sp>
        <p:nvSpPr>
          <p:cNvPr id="20" name="Text 17"/>
          <p:cNvSpPr txBox="1"/>
          <p:nvPr/>
        </p:nvSpPr>
        <p:spPr>
          <a:xfrm>
            <a:off x="8767877" y="1527048"/>
            <a:ext cx="2692298"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LARGE</a:t>
            </a:r>
            <a:endParaRPr lang="en-US" sz="1100" dirty="0"/>
          </a:p>
        </p:txBody>
      </p:sp>
      <p:sp>
        <p:nvSpPr>
          <p:cNvPr id="21" name="Text 18"/>
          <p:cNvSpPr txBox="1"/>
          <p:nvPr/>
        </p:nvSpPr>
        <p:spPr>
          <a:xfrm>
            <a:off x="8356397" y="1920240"/>
            <a:ext cx="3058058" cy="36576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qwen2.5:7b</a:t>
            </a:r>
            <a:endParaRPr lang="en-US" sz="1300" dirty="0"/>
          </a:p>
        </p:txBody>
      </p:sp>
      <p:sp>
        <p:nvSpPr>
          <p:cNvPr id="22" name="Text 19"/>
          <p:cNvSpPr txBox="1"/>
          <p:nvPr/>
        </p:nvSpPr>
        <p:spPr>
          <a:xfrm>
            <a:off x="8356397" y="2331720"/>
            <a:ext cx="3058058" cy="274320"/>
          </a:xfrm>
          <a:prstGeom prst="rect">
            <a:avLst/>
          </a:prstGeom>
          <a:noFill/>
          <a:ln/>
        </p:spPr>
        <p:txBody>
          <a:bodyPr wrap="square" lIns="0" tIns="0" rIns="0" bIns="0" rtlCol="0" anchor="t"/>
          <a:lstStyle/>
          <a:p>
            <a:pPr indent="0" marL="0">
              <a:buNone/>
            </a:pPr>
            <a:r>
              <a:rPr lang="en-US" sz="1200" dirty="0">
                <a:solidFill>
                  <a:schemeClr val="tx1"/>
                </a:solidFill>
              </a:rPr>
              <a:t>7.6 billion parameters · 4.7 GB</a:t>
            </a:r>
            <a:endParaRPr lang="en-US" sz="1200" dirty="0"/>
          </a:p>
        </p:txBody>
      </p:sp>
      <p:sp>
        <p:nvSpPr>
          <p:cNvPr id="23" name="Text 20"/>
          <p:cNvSpPr txBox="1"/>
          <p:nvPr/>
        </p:nvSpPr>
        <p:spPr>
          <a:xfrm>
            <a:off x="8356397" y="2633472"/>
            <a:ext cx="3058058" cy="274320"/>
          </a:xfrm>
          <a:prstGeom prst="rect">
            <a:avLst/>
          </a:prstGeom>
          <a:noFill/>
          <a:ln/>
        </p:spPr>
        <p:txBody>
          <a:bodyPr wrap="square" lIns="0" tIns="0" rIns="0" bIns="0" rtlCol="0" anchor="t"/>
          <a:lstStyle/>
          <a:p>
            <a:pPr indent="0" marL="0">
              <a:buNone/>
            </a:pPr>
            <a:r>
              <a:rPr lang="en-US" sz="1200" b="1" dirty="0">
                <a:solidFill>
                  <a:schemeClr val="tx1"/>
                </a:solidFill>
              </a:rPr>
              <a:t>Licence: </a:t>
            </a:r>
            <a:pPr indent="0" marL="0">
              <a:buNone/>
            </a:pPr>
            <a:r>
              <a:rPr lang="en-US" sz="1200" dirty="0">
                <a:solidFill>
                  <a:schemeClr val="tx1"/>
                </a:solidFill>
              </a:rPr>
              <a:t>Apache 2.0 [11]</a:t>
            </a:r>
            <a:endParaRPr lang="en-US" sz="1200" dirty="0"/>
          </a:p>
        </p:txBody>
      </p:sp>
      <p:sp>
        <p:nvSpPr>
          <p:cNvPr id="24" name="Text 21"/>
          <p:cNvSpPr txBox="1"/>
          <p:nvPr/>
        </p:nvSpPr>
        <p:spPr>
          <a:xfrm>
            <a:off x="8356397" y="2971800"/>
            <a:ext cx="3058058" cy="777240"/>
          </a:xfrm>
          <a:prstGeom prst="rect">
            <a:avLst/>
          </a:prstGeom>
          <a:noFill/>
          <a:ln/>
        </p:spPr>
        <p:txBody>
          <a:bodyPr wrap="square" lIns="0" tIns="0" rIns="0" bIns="0" rtlCol="0" anchor="t"/>
          <a:lstStyle/>
          <a:p>
            <a:pPr indent="0" marL="0">
              <a:buNone/>
            </a:pPr>
            <a:r>
              <a:rPr lang="en-US" sz="1200" i="1" dirty="0">
                <a:solidFill>
                  <a:schemeClr val="accent5"/>
                </a:solidFill>
              </a:rPr>
              <a:t>The largest that fits our test machine's memory; expected to be most accurate</a:t>
            </a:r>
            <a:endParaRPr lang="en-US" sz="1200" dirty="0"/>
          </a:p>
        </p:txBody>
      </p:sp>
      <p:sp>
        <p:nvSpPr>
          <p:cNvPr id="25" name="Text 22"/>
          <p:cNvSpPr txBox="1"/>
          <p:nvPr/>
        </p:nvSpPr>
        <p:spPr>
          <a:xfrm>
            <a:off x="548640" y="4069080"/>
            <a:ext cx="11094415" cy="274320"/>
          </a:xfrm>
          <a:prstGeom prst="rect">
            <a:avLst/>
          </a:prstGeom>
          <a:noFill/>
          <a:ln/>
        </p:spPr>
        <p:txBody>
          <a:bodyPr wrap="square" lIns="0" tIns="0" rIns="0" bIns="0" rtlCol="0" anchor="t"/>
          <a:lstStyle/>
          <a:p>
            <a:pPr indent="0" marL="0">
              <a:buNone/>
            </a:pPr>
            <a:r>
              <a:rPr lang="en-US" sz="1300" b="1" dirty="0">
                <a:solidFill>
                  <a:schemeClr val="tx2"/>
                </a:solidFill>
              </a:rPr>
              <a:t>Exact versions tested: each model's unique fingerprint (digest), checked before every test session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389120"/>
          <a:ext cx="11094415" cy="914400"/>
        </p:xfrm>
        <a:graphic>
          <a:graphicData uri="http://schemas.openxmlformats.org/drawingml/2006/table">
            <a:tbl>
              <a:tblPr/>
              <a:tblGrid>
                <a:gridCol w="3291840"/>
                <a:gridCol w="7799832"/>
              </a:tblGrid>
              <a:tr h="274320">
                <a:tc>
                  <a:txBody>
                    <a:bodyPr/>
                    <a:lstStyle/>
                    <a:p>
                      <a:pPr indent="0" marL="0">
                        <a:buNone/>
                      </a:pPr>
                      <a:r>
                        <a:rPr lang="en-US" sz="1100" b="1" dirty="0">
                          <a:solidFill>
                            <a:schemeClr val="bg1"/>
                          </a:solidFill>
                        </a:rPr>
                        <a:t>Tag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Digest</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r>
              <a:tr h="27432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qwen2.5:0.5b</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a8b0c51577010a279d933d14c2a8ab4b268079d44c5c8830c0a93900f1827c67</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27432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llama3.2:1b-instruct-q4_K_M</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22bc6b92eb0160c4629782fca05a9032c59d306ab2058b7dacc8a4644fbafa02</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27432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qwen2.5:7b</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845dbda0ea48ed749caafd9e6037047aa19acfcfd82e704d7ca97d631a0b697e</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27432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ollama/ollama:0.35.1 (image)</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sha256:292ee7945dfc3d5840a181f3ab86fedb1e66703e02c8af98b50f4da56b7e278c</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27" name="Text 23"/>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200" i="1" dirty="0">
                <a:solidFill>
                  <a:schemeClr val="accent5"/>
                </a:solidFill>
              </a:rPr>
              <a:t>All three are compressed the same way (Q4_K_M), so size is the only difference.</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195 tickets labelled twice by hand, then locked</a:t>
            </a:r>
            <a:endParaRPr lang="en-US" sz="3000" dirty="0"/>
          </a:p>
        </p:txBody>
      </p:sp>
      <p:sp>
        <p:nvSpPr>
          <p:cNvPr id="4" name="Shape 1"/>
          <p:cNvSpPr/>
          <p:nvPr/>
        </p:nvSpPr>
        <p:spPr>
          <a:xfrm>
            <a:off x="548640" y="1280160"/>
            <a:ext cx="3515258" cy="1325880"/>
          </a:xfrm>
          <a:prstGeom prst="roundRect">
            <a:avLst>
              <a:gd name="adj" fmla="val 5517"/>
            </a:avLst>
          </a:prstGeom>
          <a:solidFill>
            <a:schemeClr val="bg2"/>
          </a:solidFill>
          <a:ln/>
        </p:spPr>
      </p:sp>
      <p:sp>
        <p:nvSpPr>
          <p:cNvPr id="5" name="Text 2"/>
          <p:cNvSpPr txBox="1"/>
          <p:nvPr/>
        </p:nvSpPr>
        <p:spPr>
          <a:xfrm>
            <a:off x="777240" y="1371600"/>
            <a:ext cx="3058058"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κ = 0.735</a:t>
            </a:r>
            <a:endParaRPr lang="en-US" sz="2800" dirty="0"/>
          </a:p>
        </p:txBody>
      </p:sp>
      <p:sp>
        <p:nvSpPr>
          <p:cNvPr id="6" name="Text 3"/>
          <p:cNvSpPr txBox="1"/>
          <p:nvPr/>
        </p:nvSpPr>
        <p:spPr>
          <a:xfrm>
            <a:off x="777240" y="1901952"/>
            <a:ext cx="3058058" cy="274320"/>
          </a:xfrm>
          <a:prstGeom prst="rect">
            <a:avLst/>
          </a:prstGeom>
          <a:noFill/>
          <a:ln/>
        </p:spPr>
        <p:txBody>
          <a:bodyPr wrap="square" lIns="0" tIns="0" rIns="0" bIns="0" rtlCol="0" anchor="t"/>
          <a:lstStyle/>
          <a:p>
            <a:pPr indent="0" marL="0">
              <a:buNone/>
            </a:pPr>
            <a:r>
              <a:rPr lang="en-US" sz="1300" b="1" dirty="0">
                <a:solidFill>
                  <a:schemeClr val="accent1"/>
                </a:solidFill>
              </a:rPr>
              <a:t>Group A agreement (2 people)</a:t>
            </a:r>
            <a:endParaRPr lang="en-US" sz="1300" dirty="0"/>
          </a:p>
        </p:txBody>
      </p:sp>
      <p:sp>
        <p:nvSpPr>
          <p:cNvPr id="7" name="Text 4"/>
          <p:cNvSpPr txBox="1"/>
          <p:nvPr/>
        </p:nvSpPr>
        <p:spPr>
          <a:xfrm>
            <a:off x="777240" y="2176272"/>
            <a:ext cx="3058058" cy="365760"/>
          </a:xfrm>
          <a:prstGeom prst="rect">
            <a:avLst/>
          </a:prstGeom>
          <a:noFill/>
          <a:ln/>
        </p:spPr>
        <p:txBody>
          <a:bodyPr wrap="square" lIns="0" tIns="0" rIns="0" bIns="0" rtlCol="0" anchor="t"/>
          <a:lstStyle/>
          <a:p>
            <a:pPr indent="0" marL="0">
              <a:buNone/>
            </a:pPr>
            <a:r>
              <a:rPr lang="en-US" sz="1100" dirty="0">
                <a:solidFill>
                  <a:schemeClr val="tx1"/>
                </a:solidFill>
              </a:rPr>
              <a:t>Cohen's kappa: 0 = chance, 1 = perfect. Same label on 78% of tickets</a:t>
            </a:r>
            <a:endParaRPr lang="en-US" sz="1100" dirty="0"/>
          </a:p>
        </p:txBody>
      </p:sp>
      <p:sp>
        <p:nvSpPr>
          <p:cNvPr id="8" name="Shape 5"/>
          <p:cNvSpPr/>
          <p:nvPr/>
        </p:nvSpPr>
        <p:spPr>
          <a:xfrm>
            <a:off x="4338218" y="1280160"/>
            <a:ext cx="3515258" cy="1325880"/>
          </a:xfrm>
          <a:prstGeom prst="roundRect">
            <a:avLst>
              <a:gd name="adj" fmla="val 5517"/>
            </a:avLst>
          </a:prstGeom>
          <a:solidFill>
            <a:schemeClr val="bg2"/>
          </a:solidFill>
          <a:ln/>
        </p:spPr>
      </p:sp>
      <p:sp>
        <p:nvSpPr>
          <p:cNvPr id="9" name="Text 6"/>
          <p:cNvSpPr txBox="1"/>
          <p:nvPr/>
        </p:nvSpPr>
        <p:spPr>
          <a:xfrm>
            <a:off x="4566818" y="1371600"/>
            <a:ext cx="3058058"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κ = 0.778</a:t>
            </a:r>
            <a:endParaRPr lang="en-US" sz="2800" dirty="0"/>
          </a:p>
        </p:txBody>
      </p:sp>
      <p:sp>
        <p:nvSpPr>
          <p:cNvPr id="10" name="Text 7"/>
          <p:cNvSpPr txBox="1"/>
          <p:nvPr/>
        </p:nvSpPr>
        <p:spPr>
          <a:xfrm>
            <a:off x="4566818" y="1901952"/>
            <a:ext cx="3058058" cy="274320"/>
          </a:xfrm>
          <a:prstGeom prst="rect">
            <a:avLst/>
          </a:prstGeom>
          <a:noFill/>
          <a:ln/>
        </p:spPr>
        <p:txBody>
          <a:bodyPr wrap="square" lIns="0" tIns="0" rIns="0" bIns="0" rtlCol="0" anchor="t"/>
          <a:lstStyle/>
          <a:p>
            <a:pPr indent="0" marL="0">
              <a:buNone/>
            </a:pPr>
            <a:r>
              <a:rPr lang="en-US" sz="1300" b="1" dirty="0">
                <a:solidFill>
                  <a:schemeClr val="accent1"/>
                </a:solidFill>
              </a:rPr>
              <a:t>Group B agreement (3 people)</a:t>
            </a:r>
            <a:endParaRPr lang="en-US" sz="1300" dirty="0"/>
          </a:p>
        </p:txBody>
      </p:sp>
      <p:sp>
        <p:nvSpPr>
          <p:cNvPr id="11" name="Text 8"/>
          <p:cNvSpPr txBox="1"/>
          <p:nvPr/>
        </p:nvSpPr>
        <p:spPr>
          <a:xfrm>
            <a:off x="4566818" y="2176272"/>
            <a:ext cx="3058058" cy="365760"/>
          </a:xfrm>
          <a:prstGeom prst="rect">
            <a:avLst/>
          </a:prstGeom>
          <a:noFill/>
          <a:ln/>
        </p:spPr>
        <p:txBody>
          <a:bodyPr wrap="square" lIns="0" tIns="0" rIns="0" bIns="0" rtlCol="0" anchor="t"/>
          <a:lstStyle/>
          <a:p>
            <a:pPr indent="0" marL="0">
              <a:buNone/>
            </a:pPr>
            <a:r>
              <a:rPr lang="en-US" sz="1100" dirty="0">
                <a:solidFill>
                  <a:schemeClr val="tx1"/>
                </a:solidFill>
              </a:rPr>
              <a:t>Fleiss' kappa. Both groups count as substantial agreement</a:t>
            </a:r>
            <a:endParaRPr lang="en-US" sz="1100" dirty="0"/>
          </a:p>
        </p:txBody>
      </p:sp>
      <p:sp>
        <p:nvSpPr>
          <p:cNvPr id="12" name="Shape 9"/>
          <p:cNvSpPr/>
          <p:nvPr/>
        </p:nvSpPr>
        <p:spPr>
          <a:xfrm>
            <a:off x="8127797" y="1280160"/>
            <a:ext cx="3515258" cy="1325880"/>
          </a:xfrm>
          <a:prstGeom prst="roundRect">
            <a:avLst>
              <a:gd name="adj" fmla="val 5517"/>
            </a:avLst>
          </a:prstGeom>
          <a:solidFill>
            <a:schemeClr val="bg2"/>
          </a:solidFill>
          <a:ln/>
        </p:spPr>
      </p:sp>
      <p:sp>
        <p:nvSpPr>
          <p:cNvPr id="13" name="Text 10"/>
          <p:cNvSpPr txBox="1"/>
          <p:nvPr/>
        </p:nvSpPr>
        <p:spPr>
          <a:xfrm>
            <a:off x="8356397" y="1371600"/>
            <a:ext cx="3058058" cy="54864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49</a:t>
            </a:r>
            <a:endParaRPr lang="en-US" sz="2800" dirty="0"/>
          </a:p>
        </p:txBody>
      </p:sp>
      <p:sp>
        <p:nvSpPr>
          <p:cNvPr id="14" name="Text 11"/>
          <p:cNvSpPr txBox="1"/>
          <p:nvPr/>
        </p:nvSpPr>
        <p:spPr>
          <a:xfrm>
            <a:off x="8356397" y="1901952"/>
            <a:ext cx="3058058" cy="274320"/>
          </a:xfrm>
          <a:prstGeom prst="rect">
            <a:avLst/>
          </a:prstGeom>
          <a:noFill/>
          <a:ln/>
        </p:spPr>
        <p:txBody>
          <a:bodyPr wrap="square" lIns="0" tIns="0" rIns="0" bIns="0" rtlCol="0" anchor="t"/>
          <a:lstStyle/>
          <a:p>
            <a:pPr indent="0" marL="0">
              <a:buNone/>
            </a:pPr>
            <a:r>
              <a:rPr lang="en-US" sz="1300" b="1" dirty="0">
                <a:solidFill>
                  <a:schemeClr val="accent1"/>
                </a:solidFill>
              </a:rPr>
              <a:t>disagreements, each discussed</a:t>
            </a:r>
            <a:endParaRPr lang="en-US" sz="1300" dirty="0"/>
          </a:p>
        </p:txBody>
      </p:sp>
      <p:sp>
        <p:nvSpPr>
          <p:cNvPr id="15" name="Text 12"/>
          <p:cNvSpPr txBox="1"/>
          <p:nvPr/>
        </p:nvSpPr>
        <p:spPr>
          <a:xfrm>
            <a:off x="8356397" y="2176272"/>
            <a:ext cx="3058058" cy="365760"/>
          </a:xfrm>
          <a:prstGeom prst="rect">
            <a:avLst/>
          </a:prstGeom>
          <a:noFill/>
          <a:ln/>
        </p:spPr>
        <p:txBody>
          <a:bodyPr wrap="square" lIns="0" tIns="0" rIns="0" bIns="0" rtlCol="0" anchor="t"/>
          <a:lstStyle/>
          <a:p>
            <a:pPr indent="0" marL="0">
              <a:buNone/>
            </a:pPr>
            <a:r>
              <a:rPr lang="en-US" sz="1100" dirty="0">
                <a:solidFill>
                  <a:schemeClr val="tx1"/>
                </a:solidFill>
              </a:rPr>
              <a:t>44 settled on a category · 5 dropped: no product named</a:t>
            </a:r>
            <a:endParaRPr lang="en-US" sz="1100" dirty="0"/>
          </a:p>
        </p:txBody>
      </p:sp>
      <p:sp>
        <p:nvSpPr>
          <p:cNvPr id="16" name="Text 13"/>
          <p:cNvSpPr txBox="1"/>
          <p:nvPr/>
        </p:nvSpPr>
        <p:spPr>
          <a:xfrm>
            <a:off x="548640" y="2788920"/>
            <a:ext cx="3657600"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How our labelling rules changed</a:t>
            </a:r>
            <a:endParaRPr lang="en-US" sz="1500" dirty="0"/>
          </a:p>
        </p:txBody>
      </p:sp>
      <p:sp>
        <p:nvSpPr>
          <p:cNvPr id="17" name="Shape 14"/>
          <p:cNvSpPr/>
          <p:nvPr/>
        </p:nvSpPr>
        <p:spPr>
          <a:xfrm>
            <a:off x="731520" y="3392424"/>
            <a:ext cx="10728655" cy="0"/>
          </a:xfrm>
          <a:prstGeom prst="line">
            <a:avLst/>
          </a:prstGeom>
          <a:noFill/>
          <a:ln w="25400">
            <a:solidFill>
              <a:schemeClr val="accent6"/>
            </a:solidFill>
            <a:prstDash val="solid"/>
          </a:ln>
        </p:spPr>
      </p:sp>
      <p:sp>
        <p:nvSpPr>
          <p:cNvPr id="18" name="Shape 15"/>
          <p:cNvSpPr/>
          <p:nvPr/>
        </p:nvSpPr>
        <p:spPr>
          <a:xfrm>
            <a:off x="548640" y="3200400"/>
            <a:ext cx="384048" cy="384048"/>
          </a:xfrm>
          <a:prstGeom prst="ellipse">
            <a:avLst/>
          </a:prstGeom>
          <a:solidFill>
            <a:schemeClr val="accent5"/>
          </a:solidFill>
          <a:ln/>
        </p:spPr>
      </p:sp>
      <p:sp>
        <p:nvSpPr>
          <p:cNvPr id="19" name="Text 16"/>
          <p:cNvSpPr txBox="1"/>
          <p:nvPr/>
        </p:nvSpPr>
        <p:spPr>
          <a:xfrm>
            <a:off x="548640" y="3200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v0.1</a:t>
            </a:r>
            <a:endParaRPr lang="en-US" sz="1400" dirty="0"/>
          </a:p>
        </p:txBody>
      </p:sp>
      <p:sp>
        <p:nvSpPr>
          <p:cNvPr id="20" name="Text 17"/>
          <p:cNvSpPr txBox="1"/>
          <p:nvPr/>
        </p:nvSpPr>
        <p:spPr>
          <a:xfrm>
            <a:off x="548640" y="3675888"/>
            <a:ext cx="3423818" cy="822960"/>
          </a:xfrm>
          <a:prstGeom prst="rect">
            <a:avLst/>
          </a:prstGeom>
          <a:noFill/>
          <a:ln/>
        </p:spPr>
        <p:txBody>
          <a:bodyPr wrap="square" lIns="0" tIns="0" rIns="0" bIns="0" rtlCol="0" anchor="t"/>
          <a:lstStyle/>
          <a:p>
            <a:pPr indent="0" marL="0">
              <a:buNone/>
            </a:pPr>
            <a:r>
              <a:rPr lang="en-US" sz="1100" dirty="0">
                <a:solidFill>
                  <a:schemeClr val="tx1"/>
                </a:solidFill>
              </a:rPr>
              <a:t>First rules: a definition per category; if unsure, pick the product the complaint is mainly about</a:t>
            </a:r>
            <a:endParaRPr lang="en-US" sz="1100" dirty="0"/>
          </a:p>
        </p:txBody>
      </p:sp>
      <p:sp>
        <p:nvSpPr>
          <p:cNvPr id="21" name="Shape 18"/>
          <p:cNvSpPr/>
          <p:nvPr/>
        </p:nvSpPr>
        <p:spPr>
          <a:xfrm>
            <a:off x="4338218" y="3200400"/>
            <a:ext cx="384048" cy="384048"/>
          </a:xfrm>
          <a:prstGeom prst="ellipse">
            <a:avLst/>
          </a:prstGeom>
          <a:solidFill>
            <a:schemeClr val="accent1"/>
          </a:solidFill>
          <a:ln/>
        </p:spPr>
      </p:sp>
      <p:sp>
        <p:nvSpPr>
          <p:cNvPr id="22" name="Text 19"/>
          <p:cNvSpPr txBox="1"/>
          <p:nvPr/>
        </p:nvSpPr>
        <p:spPr>
          <a:xfrm>
            <a:off x="4338218" y="3200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v0.2</a:t>
            </a:r>
            <a:endParaRPr lang="en-US" sz="1400" dirty="0"/>
          </a:p>
        </p:txBody>
      </p:sp>
      <p:sp>
        <p:nvSpPr>
          <p:cNvPr id="23" name="Text 20"/>
          <p:cNvSpPr txBox="1"/>
          <p:nvPr/>
        </p:nvSpPr>
        <p:spPr>
          <a:xfrm>
            <a:off x="4338218" y="3675888"/>
            <a:ext cx="3423818" cy="822960"/>
          </a:xfrm>
          <a:prstGeom prst="rect">
            <a:avLst/>
          </a:prstGeom>
          <a:noFill/>
          <a:ln/>
        </p:spPr>
        <p:txBody>
          <a:bodyPr wrap="square" lIns="0" tIns="0" rIns="0" bIns="0" rtlCol="0" anchor="t"/>
          <a:lstStyle/>
          <a:p>
            <a:pPr indent="0" marL="0">
              <a:buNone/>
            </a:pPr>
            <a:r>
              <a:rPr lang="en-US" sz="1100" dirty="0">
                <a:solidFill>
                  <a:schemeClr val="tx1"/>
                </a:solidFill>
              </a:rPr>
              <a:t>After 16 disputed tickets: credit report vs debt collector decided by who the complaint is against; student loans count as Consumer loan</a:t>
            </a:r>
            <a:endParaRPr lang="en-US" sz="1100" dirty="0"/>
          </a:p>
        </p:txBody>
      </p:sp>
      <p:sp>
        <p:nvSpPr>
          <p:cNvPr id="24" name="Shape 21"/>
          <p:cNvSpPr/>
          <p:nvPr/>
        </p:nvSpPr>
        <p:spPr>
          <a:xfrm>
            <a:off x="8127797" y="3200400"/>
            <a:ext cx="384048" cy="384048"/>
          </a:xfrm>
          <a:prstGeom prst="ellipse">
            <a:avLst/>
          </a:prstGeom>
          <a:solidFill>
            <a:schemeClr val="accent1"/>
          </a:solidFill>
          <a:ln/>
        </p:spPr>
      </p:sp>
      <p:sp>
        <p:nvSpPr>
          <p:cNvPr id="25" name="Text 22"/>
          <p:cNvSpPr txBox="1"/>
          <p:nvPr/>
        </p:nvSpPr>
        <p:spPr>
          <a:xfrm>
            <a:off x="8127797" y="3200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v0.3</a:t>
            </a:r>
            <a:endParaRPr lang="en-US" sz="1400" dirty="0"/>
          </a:p>
        </p:txBody>
      </p:sp>
      <p:sp>
        <p:nvSpPr>
          <p:cNvPr id="26" name="Text 23"/>
          <p:cNvSpPr txBox="1"/>
          <p:nvPr/>
        </p:nvSpPr>
        <p:spPr>
          <a:xfrm>
            <a:off x="8127797" y="3675888"/>
            <a:ext cx="3423818" cy="822960"/>
          </a:xfrm>
          <a:prstGeom prst="rect">
            <a:avLst/>
          </a:prstGeom>
          <a:noFill/>
          <a:ln/>
        </p:spPr>
        <p:txBody>
          <a:bodyPr wrap="square" lIns="0" tIns="0" rIns="0" bIns="0" rtlCol="0" anchor="t"/>
          <a:lstStyle/>
          <a:p>
            <a:pPr indent="0" marL="0">
              <a:buNone/>
            </a:pPr>
            <a:r>
              <a:rPr lang="en-US" sz="1100" dirty="0">
                <a:solidFill>
                  <a:schemeClr val="tx1"/>
                </a:solidFill>
              </a:rPr>
              <a:t>After 12 more: prepaid cards and crypto count as Money transfer; scams go with where the money left from; when to drop a ticket</a:t>
            </a:r>
            <a:endParaRPr lang="en-US" sz="1100" dirty="0"/>
          </a:p>
        </p:txBody>
      </p:sp>
      <p:sp>
        <p:nvSpPr>
          <p:cNvPr id="27" name="Shape 24"/>
          <p:cNvSpPr/>
          <p:nvPr/>
        </p:nvSpPr>
        <p:spPr>
          <a:xfrm>
            <a:off x="548640" y="4617720"/>
            <a:ext cx="5410048" cy="1645920"/>
          </a:xfrm>
          <a:prstGeom prst="roundRect">
            <a:avLst>
              <a:gd name="adj" fmla="val 4444"/>
            </a:avLst>
          </a:prstGeom>
          <a:solidFill>
            <a:schemeClr val="bg1"/>
          </a:solidFill>
          <a:ln w="12700">
            <a:solidFill>
              <a:srgbClr val="D5DFDD"/>
            </a:solidFill>
            <a:prstDash val="solid"/>
          </a:ln>
        </p:spPr>
      </p:sp>
      <p:sp>
        <p:nvSpPr>
          <p:cNvPr id="28" name="Text 25"/>
          <p:cNvSpPr txBox="1"/>
          <p:nvPr/>
        </p:nvSpPr>
        <p:spPr>
          <a:xfrm>
            <a:off x="777240" y="4709160"/>
            <a:ext cx="4952848" cy="320040"/>
          </a:xfrm>
          <a:prstGeom prst="rect">
            <a:avLst/>
          </a:prstGeom>
          <a:noFill/>
          <a:ln/>
        </p:spPr>
        <p:txBody>
          <a:bodyPr wrap="square" lIns="0" tIns="0" rIns="0" bIns="0" rtlCol="0" anchor="t"/>
          <a:lstStyle/>
          <a:p>
            <a:pPr indent="0" marL="0">
              <a:buNone/>
            </a:pPr>
            <a:r>
              <a:rPr lang="en-US" sz="1300" b="1" dirty="0">
                <a:solidFill>
                  <a:schemeClr val="accent1"/>
                </a:solidFill>
              </a:rPr>
              <a:t>Same problem, two answers (tickets 3025 and 3072)</a:t>
            </a:r>
            <a:endParaRPr lang="en-US" sz="1300" dirty="0"/>
          </a:p>
        </p:txBody>
      </p:sp>
      <p:sp>
        <p:nvSpPr>
          <p:cNvPr id="29" name="Text 26"/>
          <p:cNvSpPr txBox="1"/>
          <p:nvPr/>
        </p:nvSpPr>
        <p:spPr>
          <a:xfrm>
            <a:off x="777240" y="5047488"/>
            <a:ext cx="4952848" cy="1143000"/>
          </a:xfrm>
          <a:prstGeom prst="rect">
            <a:avLst/>
          </a:prstGeom>
          <a:noFill/>
          <a:ln/>
        </p:spPr>
        <p:txBody>
          <a:bodyPr wrap="square" lIns="0" tIns="0" rIns="0" bIns="0" rtlCol="0" anchor="t"/>
          <a:lstStyle/>
          <a:p>
            <a:pPr indent="0" marL="0">
              <a:buNone/>
            </a:pPr>
            <a:r>
              <a:rPr lang="en-US" sz="1200" dirty="0">
                <a:solidFill>
                  <a:schemeClr val="tx1"/>
                </a:solidFill>
              </a:rPr>
              <a:t>Both are about a debt showing on a credit report. 3025 asks the credit agency (TransUnion) to remove it → Credit reporting. 3072 says the debt collector (Midland) never proved the debt → Debt collection.</a:t>
            </a:r>
            <a:endParaRPr lang="en-US" sz="1200" dirty="0"/>
          </a:p>
        </p:txBody>
      </p:sp>
      <p:sp>
        <p:nvSpPr>
          <p:cNvPr id="30" name="Shape 27"/>
          <p:cNvSpPr/>
          <p:nvPr/>
        </p:nvSpPr>
        <p:spPr>
          <a:xfrm>
            <a:off x="6233008" y="4617720"/>
            <a:ext cx="5410048" cy="1645920"/>
          </a:xfrm>
          <a:prstGeom prst="roundRect">
            <a:avLst>
              <a:gd name="adj" fmla="val 4444"/>
            </a:avLst>
          </a:prstGeom>
          <a:solidFill>
            <a:schemeClr val="bg1"/>
          </a:solidFill>
          <a:ln w="12700">
            <a:solidFill>
              <a:srgbClr val="D5DFDD"/>
            </a:solidFill>
            <a:prstDash val="solid"/>
          </a:ln>
        </p:spPr>
      </p:sp>
      <p:sp>
        <p:nvSpPr>
          <p:cNvPr id="31" name="Text 28"/>
          <p:cNvSpPr txBox="1"/>
          <p:nvPr/>
        </p:nvSpPr>
        <p:spPr>
          <a:xfrm>
            <a:off x="6461608" y="4709160"/>
            <a:ext cx="4952848" cy="320040"/>
          </a:xfrm>
          <a:prstGeom prst="rect">
            <a:avLst/>
          </a:prstGeom>
          <a:noFill/>
          <a:ln/>
        </p:spPr>
        <p:txBody>
          <a:bodyPr wrap="square" lIns="0" tIns="0" rIns="0" bIns="0" rtlCol="0" anchor="t"/>
          <a:lstStyle/>
          <a:p>
            <a:pPr indent="0" marL="0">
              <a:buNone/>
            </a:pPr>
            <a:r>
              <a:rPr lang="en-US" sz="1300" b="1" dirty="0">
                <a:solidFill>
                  <a:schemeClr val="accent1"/>
                </a:solidFill>
              </a:rPr>
              <a:t>A rule overruling the majority (ticket 3141)</a:t>
            </a:r>
            <a:endParaRPr lang="en-US" sz="1300" dirty="0"/>
          </a:p>
        </p:txBody>
      </p:sp>
      <p:sp>
        <p:nvSpPr>
          <p:cNvPr id="32" name="Text 29"/>
          <p:cNvSpPr txBox="1"/>
          <p:nvPr/>
        </p:nvSpPr>
        <p:spPr>
          <a:xfrm>
            <a:off x="6461608" y="5047488"/>
            <a:ext cx="4952848" cy="1143000"/>
          </a:xfrm>
          <a:prstGeom prst="rect">
            <a:avLst/>
          </a:prstGeom>
          <a:noFill/>
          <a:ln/>
        </p:spPr>
        <p:txBody>
          <a:bodyPr wrap="square" lIns="0" tIns="0" rIns="0" bIns="0" rtlCol="0" anchor="t"/>
          <a:lstStyle/>
          <a:p>
            <a:pPr indent="0" marL="0">
              <a:buNone/>
            </a:pPr>
            <a:r>
              <a:rPr lang="en-US" sz="1200" dirty="0">
                <a:solidFill>
                  <a:schemeClr val="tx1"/>
                </a:solidFill>
              </a:rPr>
              <a:t>2 of 3 labellers chose Credit reporting: the person wants a car repossession off their report. But they are asking the car lender (Ally Financial), not a credit agency, so the rule makes it Consumer loan.</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Our test set-up, and how it carries over to the bank</a:t>
            </a:r>
            <a:endParaRPr lang="en-US" sz="3000" dirty="0"/>
          </a:p>
        </p:txBody>
      </p:sp>
      <p:sp>
        <p:nvSpPr>
          <p:cNvPr id="4" name="Shape 1"/>
          <p:cNvSpPr/>
          <p:nvPr/>
        </p:nvSpPr>
        <p:spPr>
          <a:xfrm>
            <a:off x="548640" y="1280160"/>
            <a:ext cx="5090008" cy="2697480"/>
          </a:xfrm>
          <a:prstGeom prst="roundRect">
            <a:avLst>
              <a:gd name="adj" fmla="val 2712"/>
            </a:avLst>
          </a:prstGeom>
          <a:solidFill>
            <a:schemeClr val="tx2"/>
          </a:solidFill>
          <a:ln/>
        </p:spPr>
      </p:sp>
      <p:sp>
        <p:nvSpPr>
          <p:cNvPr id="5" name="Text 2"/>
          <p:cNvSpPr txBox="1"/>
          <p:nvPr/>
        </p:nvSpPr>
        <p:spPr>
          <a:xfrm>
            <a:off x="777240" y="1389888"/>
            <a:ext cx="4632808" cy="274320"/>
          </a:xfrm>
          <a:prstGeom prst="rect">
            <a:avLst/>
          </a:prstGeom>
          <a:noFill/>
          <a:ln/>
        </p:spPr>
        <p:txBody>
          <a:bodyPr wrap="square" lIns="0" tIns="0" rIns="0" bIns="0" rtlCol="0" anchor="t"/>
          <a:lstStyle/>
          <a:p>
            <a:pPr indent="0" marL="0">
              <a:buNone/>
            </a:pPr>
            <a:r>
              <a:rPr lang="en-US" sz="1100" b="1" spc="100" kern="0" dirty="0">
                <a:solidFill>
                  <a:srgbClr val="9BC1BC"/>
                </a:solidFill>
              </a:rPr>
              <a:t>MACHINE RUNNING THE SYSTEM</a:t>
            </a:r>
            <a:endParaRPr lang="en-US" sz="1100" dirty="0"/>
          </a:p>
        </p:txBody>
      </p:sp>
      <p:sp>
        <p:nvSpPr>
          <p:cNvPr id="6" name="Text 3"/>
          <p:cNvSpPr txBox="1"/>
          <p:nvPr/>
        </p:nvSpPr>
        <p:spPr>
          <a:xfrm>
            <a:off x="777240" y="1737360"/>
            <a:ext cx="4632808" cy="2148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1"/>
                </a:solidFill>
              </a:rPr>
              <a:t>MacBook Pro, Apple M5 chip, 10 cores, 16 GB memory</a:t>
            </a:r>
            <a:endParaRPr lang="en-US" sz="1300" dirty="0"/>
          </a:p>
          <a:p>
            <a:pPr marL="342900" indent="-342900">
              <a:spcAft>
                <a:spcPts val="400"/>
              </a:spcAft>
              <a:buSzPct val="100000"/>
              <a:buChar char="•"/>
            </a:pPr>
            <a:r>
              <a:rPr lang="en-US" sz="1300" dirty="0">
                <a:solidFill>
                  <a:schemeClr val="bg1"/>
                </a:solidFill>
              </a:rPr>
              <a:t>macOS 26.6.2; Docker 29.8.2 given 10 cores and 9.7 GiB</a:t>
            </a:r>
            <a:endParaRPr lang="en-US" sz="1300" dirty="0"/>
          </a:p>
          <a:p>
            <a:pPr marL="342900" indent="-342900">
              <a:spcAft>
                <a:spcPts val="400"/>
              </a:spcAft>
              <a:buSzPct val="100000"/>
              <a:buChar char="•"/>
            </a:pPr>
            <a:r>
              <a:rPr lang="en-US" sz="1300" dirty="0">
                <a:solidFill>
                  <a:schemeClr val="bg1"/>
                </a:solidFill>
              </a:rPr>
              <a:t>Ollama 0.35.1, processor only (no graphics card)</a:t>
            </a:r>
            <a:endParaRPr lang="en-US" sz="1300" dirty="0"/>
          </a:p>
          <a:p>
            <a:pPr marL="342900" indent="-342900">
              <a:spcAft>
                <a:spcPts val="400"/>
              </a:spcAft>
              <a:buSzPct val="100000"/>
              <a:buChar char="•"/>
            </a:pPr>
            <a:r>
              <a:rPr lang="en-US" sz="1300" dirty="0">
                <a:solidFill>
                  <a:schemeClr val="bg1"/>
                </a:solidFill>
              </a:rPr>
              <a:t>One ticket at a time; fixed settings so answers repeat exactly</a:t>
            </a:r>
            <a:endParaRPr lang="en-US" sz="1300" dirty="0"/>
          </a:p>
        </p:txBody>
      </p:sp>
      <p:sp>
        <p:nvSpPr>
          <p:cNvPr id="7" name="Shape 4"/>
          <p:cNvSpPr/>
          <p:nvPr/>
        </p:nvSpPr>
        <p:spPr>
          <a:xfrm>
            <a:off x="5730088" y="2606040"/>
            <a:ext cx="731520" cy="0"/>
          </a:xfrm>
          <a:prstGeom prst="line">
            <a:avLst/>
          </a:prstGeom>
          <a:noFill/>
          <a:ln w="22225">
            <a:solidFill>
              <a:schemeClr val="accent1"/>
            </a:solidFill>
            <a:prstDash val="solid"/>
            <a:tailEnd type="triangle"/>
          </a:ln>
        </p:spPr>
      </p:sp>
      <p:sp>
        <p:nvSpPr>
          <p:cNvPr id="8" name="Text 5"/>
          <p:cNvSpPr txBox="1"/>
          <p:nvPr/>
        </p:nvSpPr>
        <p:spPr>
          <a:xfrm>
            <a:off x="5656936" y="2240280"/>
            <a:ext cx="877824" cy="274320"/>
          </a:xfrm>
          <a:prstGeom prst="rect">
            <a:avLst/>
          </a:prstGeom>
          <a:noFill/>
          <a:ln/>
        </p:spPr>
        <p:txBody>
          <a:bodyPr wrap="square" lIns="0" tIns="0" rIns="0" bIns="0" rtlCol="0" anchor="t"/>
          <a:lstStyle/>
          <a:p>
            <a:pPr algn="ctr" indent="0" marL="0">
              <a:buNone/>
            </a:pPr>
            <a:r>
              <a:rPr lang="en-US" sz="1000" dirty="0">
                <a:solidFill>
                  <a:schemeClr val="accent5"/>
                </a:solidFill>
              </a:rPr>
              <a:t>phone hotspot</a:t>
            </a:r>
            <a:endParaRPr lang="en-US" sz="1000" dirty="0"/>
          </a:p>
        </p:txBody>
      </p:sp>
      <p:sp>
        <p:nvSpPr>
          <p:cNvPr id="9" name="Shape 6"/>
          <p:cNvSpPr/>
          <p:nvPr/>
        </p:nvSpPr>
        <p:spPr>
          <a:xfrm>
            <a:off x="6553048" y="1280160"/>
            <a:ext cx="5090008" cy="2697480"/>
          </a:xfrm>
          <a:prstGeom prst="roundRect">
            <a:avLst>
              <a:gd name="adj" fmla="val 2712"/>
            </a:avLst>
          </a:prstGeom>
          <a:solidFill>
            <a:schemeClr val="bg2"/>
          </a:solidFill>
          <a:ln/>
        </p:spPr>
      </p:sp>
      <p:sp>
        <p:nvSpPr>
          <p:cNvPr id="10" name="Text 7"/>
          <p:cNvSpPr txBox="1"/>
          <p:nvPr/>
        </p:nvSpPr>
        <p:spPr>
          <a:xfrm>
            <a:off x="6781648" y="1389888"/>
            <a:ext cx="4632808"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MACHINE SENDING TEST TRAFFIC</a:t>
            </a:r>
            <a:endParaRPr lang="en-US" sz="1100" dirty="0"/>
          </a:p>
        </p:txBody>
      </p:sp>
      <p:sp>
        <p:nvSpPr>
          <p:cNvPr id="11" name="Text 8"/>
          <p:cNvSpPr txBox="1"/>
          <p:nvPr/>
        </p:nvSpPr>
        <p:spPr>
          <a:xfrm>
            <a:off x="6781648" y="1737360"/>
            <a:ext cx="4632808" cy="21488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 second Mac (Ridwan's), macOS 26.5</a:t>
            </a:r>
            <a:endParaRPr lang="en-US" sz="1300" dirty="0"/>
          </a:p>
          <a:p>
            <a:pPr marL="342900" indent="-342900">
              <a:spcAft>
                <a:spcPts val="400"/>
              </a:spcAft>
              <a:buSzPct val="100000"/>
              <a:buChar char="•"/>
            </a:pPr>
            <a:r>
              <a:rPr lang="en-US" sz="1300" dirty="0">
                <a:solidFill>
                  <a:schemeClr val="tx1"/>
                </a:solidFill>
              </a:rPr>
              <a:t>Apache JMeter 5.6.3 (Java 17.0.17), run without its on-screen interface</a:t>
            </a:r>
            <a:endParaRPr lang="en-US" sz="1300" dirty="0"/>
          </a:p>
          <a:p>
            <a:pPr marL="342900" indent="-342900">
              <a:spcAft>
                <a:spcPts val="400"/>
              </a:spcAft>
              <a:buSzPct val="100000"/>
              <a:buChar char="•"/>
            </a:pPr>
            <a:r>
              <a:rPr lang="en-US" sz="1300" dirty="0">
                <a:solidFill>
                  <a:schemeClr val="tx1"/>
                </a:solidFill>
              </a:rPr>
              <a:t>Connects over Wi-Fi to the system at 172.20.10.2</a:t>
            </a:r>
            <a:endParaRPr lang="en-US" sz="1300" dirty="0"/>
          </a:p>
          <a:p>
            <a:pPr marL="342900" indent="-342900">
              <a:spcAft>
                <a:spcPts val="400"/>
              </a:spcAft>
              <a:buSzPct val="100000"/>
              <a:buChar char="•"/>
            </a:pPr>
            <a:r>
              <a:rPr lang="en-US" sz="1300" dirty="0">
                <a:solidFill>
                  <a:schemeClr val="tx1"/>
                </a:solidFill>
              </a:rPr>
              <a:t>Proof it is separate: a different macOS version, and every JMeter log points at the other machine</a:t>
            </a:r>
            <a:endParaRPr lang="en-US" sz="1300" dirty="0"/>
          </a:p>
        </p:txBody>
      </p:sp>
      <p:sp>
        <p:nvSpPr>
          <p:cNvPr id="12" name="Text 9"/>
          <p:cNvSpPr txBox="1"/>
          <p:nvPr/>
        </p:nvSpPr>
        <p:spPr>
          <a:xfrm>
            <a:off x="548640" y="4206240"/>
            <a:ext cx="5410048"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How results carry over to the bank's servers</a:t>
            </a:r>
            <a:endParaRPr lang="en-US" sz="1500" dirty="0"/>
          </a:p>
        </p:txBody>
      </p:sp>
      <p:sp>
        <p:nvSpPr>
          <p:cNvPr id="13" name="Text 10"/>
          <p:cNvSpPr txBox="1"/>
          <p:nvPr/>
        </p:nvSpPr>
        <p:spPr>
          <a:xfrm>
            <a:off x="548640" y="4572000"/>
            <a:ext cx="5410048"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82–89% of the model's time goes on reading the ticket, so speed depends mostly on the server's processor and memory</a:t>
            </a:r>
            <a:endParaRPr lang="en-US" sz="1200" dirty="0"/>
          </a:p>
          <a:p>
            <a:pPr marL="342900" indent="-342900">
              <a:spcAft>
                <a:spcPts val="400"/>
              </a:spcAft>
              <a:buSzPct val="100000"/>
              <a:buChar char="•"/>
            </a:pPr>
            <a:r>
              <a:rPr lang="en-US" sz="1200" dirty="0">
                <a:solidFill>
                  <a:schemeClr val="tx1"/>
                </a:solidFill>
              </a:rPr>
              <a:t>Capacity ≈ 60 s ÷ time per ticket: 3.1 s here, so about 19 tickets a minute for the large model</a:t>
            </a:r>
            <a:endParaRPr lang="en-US" sz="1200" dirty="0"/>
          </a:p>
          <a:p>
            <a:pPr marL="342900" indent="-342900">
              <a:spcAft>
                <a:spcPts val="400"/>
              </a:spcAft>
              <a:buSzPct val="100000"/>
              <a:buChar char="•"/>
            </a:pPr>
            <a:r>
              <a:rPr lang="en-US" sz="1200" dirty="0">
                <a:solidFill>
                  <a:schemeClr val="tx1"/>
                </a:solidFill>
              </a:rPr>
              <a:t>Our estimate: a server up to 3× slower would still meet the 30 s target. Time one ticket on the bank's server first</a:t>
            </a:r>
            <a:endParaRPr lang="en-US" sz="1200" dirty="0"/>
          </a:p>
        </p:txBody>
      </p:sp>
      <p:sp>
        <p:nvSpPr>
          <p:cNvPr id="14" name="Text 11"/>
          <p:cNvSpPr txBox="1"/>
          <p:nvPr/>
        </p:nvSpPr>
        <p:spPr>
          <a:xfrm>
            <a:off x="6233008" y="4206240"/>
            <a:ext cx="5410048"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What could make our numbers misleading</a:t>
            </a:r>
            <a:endParaRPr lang="en-US" sz="1500" dirty="0"/>
          </a:p>
        </p:txBody>
      </p:sp>
      <p:sp>
        <p:nvSpPr>
          <p:cNvPr id="15" name="Text 12"/>
          <p:cNvSpPr txBox="1"/>
          <p:nvPr/>
        </p:nvSpPr>
        <p:spPr>
          <a:xfrm>
            <a:off x="6233008" y="4572000"/>
            <a:ext cx="5410048"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A laptop chip is not a typical bank server chip; laptops slow down when hot; power source was not recorded</a:t>
            </a:r>
            <a:endParaRPr lang="en-US" sz="1200" dirty="0"/>
          </a:p>
          <a:p>
            <a:pPr marL="342900" indent="-342900">
              <a:spcAft>
                <a:spcPts val="400"/>
              </a:spcAft>
              <a:buSzPct val="100000"/>
              <a:buChar char="•"/>
            </a:pPr>
            <a:r>
              <a:rPr lang="en-US" sz="1200" dirty="0">
                <a:solidFill>
                  <a:schemeClr val="tx1"/>
                </a:solidFill>
              </a:rPr>
              <a:t>Wi-Fi: a search takes under 7 ms inside the system but 0.2–0.5 s as JMeter sees it, so most of that is network</a:t>
            </a:r>
            <a:endParaRPr lang="en-US" sz="1200" dirty="0"/>
          </a:p>
          <a:p>
            <a:pPr marL="342900" indent="-342900">
              <a:spcAft>
                <a:spcPts val="400"/>
              </a:spcAft>
              <a:buSzPct val="100000"/>
              <a:buChar char="•"/>
            </a:pPr>
            <a:r>
              <a:rPr lang="en-US" sz="1200" dirty="0">
                <a:solidFill>
                  <a:schemeClr val="tx1"/>
                </a:solidFill>
              </a:rPr>
              <a:t>Each 10-min run has only 14–35 tickets, so the slowest-1% figure (p99) is just the slowest ticket</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Every test run follows the same six steps</a:t>
            </a:r>
            <a:endParaRPr lang="en-US" sz="3000" dirty="0"/>
          </a:p>
        </p:txBody>
      </p:sp>
      <p:sp>
        <p:nvSpPr>
          <p:cNvPr id="4" name="Shape 1"/>
          <p:cNvSpPr/>
          <p:nvPr/>
        </p:nvSpPr>
        <p:spPr>
          <a:xfrm>
            <a:off x="548640" y="1280160"/>
            <a:ext cx="1696669" cy="1600200"/>
          </a:xfrm>
          <a:prstGeom prst="roundRect">
            <a:avLst>
              <a:gd name="adj" fmla="val 4571"/>
            </a:avLst>
          </a:prstGeom>
          <a:solidFill>
            <a:schemeClr val="bg2"/>
          </a:solidFill>
          <a:ln/>
        </p:spPr>
      </p:sp>
      <p:sp>
        <p:nvSpPr>
          <p:cNvPr id="5" name="Shape 2"/>
          <p:cNvSpPr/>
          <p:nvPr/>
        </p:nvSpPr>
        <p:spPr>
          <a:xfrm>
            <a:off x="685800" y="1389888"/>
            <a:ext cx="365760" cy="365760"/>
          </a:xfrm>
          <a:prstGeom prst="ellipse">
            <a:avLst/>
          </a:prstGeom>
          <a:solidFill>
            <a:schemeClr val="accent1"/>
          </a:solidFill>
          <a:ln/>
        </p:spPr>
      </p:sp>
      <p:sp>
        <p:nvSpPr>
          <p:cNvPr id="6" name="Text 3"/>
          <p:cNvSpPr txBox="1"/>
          <p:nvPr/>
        </p:nvSpPr>
        <p:spPr>
          <a:xfrm>
            <a:off x="685800"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417320"/>
            <a:ext cx="1010869" cy="320040"/>
          </a:xfrm>
          <a:prstGeom prst="rect">
            <a:avLst/>
          </a:prstGeom>
          <a:noFill/>
          <a:ln/>
        </p:spPr>
        <p:txBody>
          <a:bodyPr wrap="square" lIns="0" tIns="0" rIns="0" bIns="0" rtlCol="0" anchor="ctr"/>
          <a:lstStyle/>
          <a:p>
            <a:pPr indent="0" marL="0">
              <a:buNone/>
            </a:pPr>
            <a:r>
              <a:rPr lang="en-US" sz="1400" b="1" dirty="0">
                <a:solidFill>
                  <a:schemeClr val="tx2"/>
                </a:solidFill>
              </a:rPr>
              <a:t>Reset</a:t>
            </a:r>
            <a:endParaRPr lang="en-US" sz="1400" dirty="0"/>
          </a:p>
        </p:txBody>
      </p:sp>
      <p:sp>
        <p:nvSpPr>
          <p:cNvPr id="8" name="Text 5"/>
          <p:cNvSpPr txBox="1"/>
          <p:nvPr/>
        </p:nvSpPr>
        <p:spPr>
          <a:xfrm>
            <a:off x="685800" y="1874520"/>
            <a:ext cx="1422349" cy="960120"/>
          </a:xfrm>
          <a:prstGeom prst="rect">
            <a:avLst/>
          </a:prstGeom>
          <a:noFill/>
          <a:ln/>
        </p:spPr>
        <p:txBody>
          <a:bodyPr wrap="square" lIns="0" tIns="0" rIns="0" bIns="0" rtlCol="0" anchor="t"/>
          <a:lstStyle/>
          <a:p>
            <a:pPr indent="0" marL="0">
              <a:buNone/>
            </a:pPr>
            <a:r>
              <a:rPr lang="en-US" sz="1100" dirty="0">
                <a:solidFill>
                  <a:schemeClr val="tx1"/>
                </a:solidFill>
              </a:rPr>
              <a:t>Restart the model server, empty the database, check the right model is loaded</a:t>
            </a:r>
            <a:endParaRPr lang="en-US" sz="1100" dirty="0"/>
          </a:p>
        </p:txBody>
      </p:sp>
      <p:sp>
        <p:nvSpPr>
          <p:cNvPr id="9" name="Shape 6"/>
          <p:cNvSpPr/>
          <p:nvPr/>
        </p:nvSpPr>
        <p:spPr>
          <a:xfrm>
            <a:off x="2254453" y="2075688"/>
            <a:ext cx="164592" cy="0"/>
          </a:xfrm>
          <a:prstGeom prst="line">
            <a:avLst/>
          </a:prstGeom>
          <a:noFill/>
          <a:ln w="22225">
            <a:solidFill>
              <a:schemeClr val="accent6"/>
            </a:solidFill>
            <a:prstDash val="solid"/>
            <a:tailEnd type="triangle"/>
          </a:ln>
        </p:spPr>
      </p:sp>
      <p:sp>
        <p:nvSpPr>
          <p:cNvPr id="10" name="Shape 7"/>
          <p:cNvSpPr/>
          <p:nvPr/>
        </p:nvSpPr>
        <p:spPr>
          <a:xfrm>
            <a:off x="2428189" y="1280160"/>
            <a:ext cx="1696669" cy="1600200"/>
          </a:xfrm>
          <a:prstGeom prst="roundRect">
            <a:avLst>
              <a:gd name="adj" fmla="val 4571"/>
            </a:avLst>
          </a:prstGeom>
          <a:solidFill>
            <a:schemeClr val="bg2"/>
          </a:solidFill>
          <a:ln/>
        </p:spPr>
      </p:sp>
      <p:sp>
        <p:nvSpPr>
          <p:cNvPr id="11" name="Shape 8"/>
          <p:cNvSpPr/>
          <p:nvPr/>
        </p:nvSpPr>
        <p:spPr>
          <a:xfrm>
            <a:off x="2565349" y="1389888"/>
            <a:ext cx="365760" cy="365760"/>
          </a:xfrm>
          <a:prstGeom prst="ellipse">
            <a:avLst/>
          </a:prstGeom>
          <a:solidFill>
            <a:schemeClr val="accent1"/>
          </a:solidFill>
          <a:ln/>
        </p:spPr>
      </p:sp>
      <p:sp>
        <p:nvSpPr>
          <p:cNvPr id="12" name="Text 9"/>
          <p:cNvSpPr txBox="1"/>
          <p:nvPr/>
        </p:nvSpPr>
        <p:spPr>
          <a:xfrm>
            <a:off x="2565349"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3022549" y="1417320"/>
            <a:ext cx="1010869" cy="320040"/>
          </a:xfrm>
          <a:prstGeom prst="rect">
            <a:avLst/>
          </a:prstGeom>
          <a:noFill/>
          <a:ln/>
        </p:spPr>
        <p:txBody>
          <a:bodyPr wrap="square" lIns="0" tIns="0" rIns="0" bIns="0" rtlCol="0" anchor="ctr"/>
          <a:lstStyle/>
          <a:p>
            <a:pPr indent="0" marL="0">
              <a:buNone/>
            </a:pPr>
            <a:r>
              <a:rPr lang="en-US" sz="1400" b="1" dirty="0">
                <a:solidFill>
                  <a:schemeClr val="tx2"/>
                </a:solidFill>
              </a:rPr>
              <a:t>Warm up</a:t>
            </a:r>
            <a:endParaRPr lang="en-US" sz="1400" dirty="0"/>
          </a:p>
        </p:txBody>
      </p:sp>
      <p:sp>
        <p:nvSpPr>
          <p:cNvPr id="14" name="Text 11"/>
          <p:cNvSpPr txBox="1"/>
          <p:nvPr/>
        </p:nvSpPr>
        <p:spPr>
          <a:xfrm>
            <a:off x="2565349" y="1874520"/>
            <a:ext cx="1422349" cy="960120"/>
          </a:xfrm>
          <a:prstGeom prst="rect">
            <a:avLst/>
          </a:prstGeom>
          <a:noFill/>
          <a:ln/>
        </p:spPr>
        <p:txBody>
          <a:bodyPr wrap="square" lIns="0" tIns="0" rIns="0" bIns="0" rtlCol="0" anchor="t"/>
          <a:lstStyle/>
          <a:p>
            <a:pPr indent="0" marL="0">
              <a:buNone/>
            </a:pPr>
            <a:r>
              <a:rPr lang="en-US" sz="1100" dirty="0">
                <a:solidFill>
                  <a:schemeClr val="tx1"/>
                </a:solidFill>
              </a:rPr>
              <a:t>Send one made-up ticket to load the model, then empty the database again</a:t>
            </a:r>
            <a:endParaRPr lang="en-US" sz="1100" dirty="0"/>
          </a:p>
        </p:txBody>
      </p:sp>
      <p:sp>
        <p:nvSpPr>
          <p:cNvPr id="15" name="Shape 12"/>
          <p:cNvSpPr/>
          <p:nvPr/>
        </p:nvSpPr>
        <p:spPr>
          <a:xfrm>
            <a:off x="4134002" y="2075688"/>
            <a:ext cx="164592" cy="0"/>
          </a:xfrm>
          <a:prstGeom prst="line">
            <a:avLst/>
          </a:prstGeom>
          <a:noFill/>
          <a:ln w="22225">
            <a:solidFill>
              <a:schemeClr val="accent6"/>
            </a:solidFill>
            <a:prstDash val="solid"/>
            <a:tailEnd type="triangle"/>
          </a:ln>
        </p:spPr>
      </p:sp>
      <p:sp>
        <p:nvSpPr>
          <p:cNvPr id="16" name="Shape 13"/>
          <p:cNvSpPr/>
          <p:nvPr/>
        </p:nvSpPr>
        <p:spPr>
          <a:xfrm>
            <a:off x="4307738" y="1280160"/>
            <a:ext cx="1696669" cy="1600200"/>
          </a:xfrm>
          <a:prstGeom prst="roundRect">
            <a:avLst>
              <a:gd name="adj" fmla="val 4571"/>
            </a:avLst>
          </a:prstGeom>
          <a:solidFill>
            <a:schemeClr val="bg2"/>
          </a:solidFill>
          <a:ln/>
        </p:spPr>
      </p:sp>
      <p:sp>
        <p:nvSpPr>
          <p:cNvPr id="17" name="Shape 14"/>
          <p:cNvSpPr/>
          <p:nvPr/>
        </p:nvSpPr>
        <p:spPr>
          <a:xfrm>
            <a:off x="4444898" y="1389888"/>
            <a:ext cx="365760" cy="365760"/>
          </a:xfrm>
          <a:prstGeom prst="ellipse">
            <a:avLst/>
          </a:prstGeom>
          <a:solidFill>
            <a:schemeClr val="accent1"/>
          </a:solidFill>
          <a:ln/>
        </p:spPr>
      </p:sp>
      <p:sp>
        <p:nvSpPr>
          <p:cNvPr id="18" name="Text 15"/>
          <p:cNvSpPr txBox="1"/>
          <p:nvPr/>
        </p:nvSpPr>
        <p:spPr>
          <a:xfrm>
            <a:off x="4444898"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902098" y="1417320"/>
            <a:ext cx="1010869" cy="320040"/>
          </a:xfrm>
          <a:prstGeom prst="rect">
            <a:avLst/>
          </a:prstGeom>
          <a:noFill/>
          <a:ln/>
        </p:spPr>
        <p:txBody>
          <a:bodyPr wrap="square" lIns="0" tIns="0" rIns="0" bIns="0" rtlCol="0" anchor="ctr"/>
          <a:lstStyle/>
          <a:p>
            <a:pPr indent="0" marL="0">
              <a:buNone/>
            </a:pPr>
            <a:r>
              <a:rPr lang="en-US" sz="1400" b="1" dirty="0">
                <a:solidFill>
                  <a:schemeClr val="tx2"/>
                </a:solidFill>
              </a:rPr>
              <a:t>Monitor</a:t>
            </a:r>
            <a:endParaRPr lang="en-US" sz="1400" dirty="0"/>
          </a:p>
        </p:txBody>
      </p:sp>
      <p:sp>
        <p:nvSpPr>
          <p:cNvPr id="20" name="Text 17"/>
          <p:cNvSpPr txBox="1"/>
          <p:nvPr/>
        </p:nvSpPr>
        <p:spPr>
          <a:xfrm>
            <a:off x="4444898" y="1874520"/>
            <a:ext cx="1422349" cy="960120"/>
          </a:xfrm>
          <a:prstGeom prst="rect">
            <a:avLst/>
          </a:prstGeom>
          <a:noFill/>
          <a:ln/>
        </p:spPr>
        <p:txBody>
          <a:bodyPr wrap="square" lIns="0" tIns="0" rIns="0" bIns="0" rtlCol="0" anchor="t"/>
          <a:lstStyle/>
          <a:p>
            <a:pPr indent="0" marL="0">
              <a:buNone/>
            </a:pPr>
            <a:r>
              <a:rPr lang="en-US" sz="1100" dirty="0">
                <a:solidFill>
                  <a:schemeClr val="tx1"/>
                </a:solidFill>
              </a:rPr>
              <a:t>Record processor and memory use every 5 s</a:t>
            </a:r>
            <a:endParaRPr lang="en-US" sz="1100" dirty="0"/>
          </a:p>
        </p:txBody>
      </p:sp>
      <p:sp>
        <p:nvSpPr>
          <p:cNvPr id="21" name="Shape 18"/>
          <p:cNvSpPr/>
          <p:nvPr/>
        </p:nvSpPr>
        <p:spPr>
          <a:xfrm>
            <a:off x="6013552" y="2075688"/>
            <a:ext cx="164592" cy="0"/>
          </a:xfrm>
          <a:prstGeom prst="line">
            <a:avLst/>
          </a:prstGeom>
          <a:noFill/>
          <a:ln w="22225">
            <a:solidFill>
              <a:schemeClr val="accent6"/>
            </a:solidFill>
            <a:prstDash val="solid"/>
            <a:tailEnd type="triangle"/>
          </a:ln>
        </p:spPr>
      </p:sp>
      <p:sp>
        <p:nvSpPr>
          <p:cNvPr id="22" name="Shape 19"/>
          <p:cNvSpPr/>
          <p:nvPr/>
        </p:nvSpPr>
        <p:spPr>
          <a:xfrm>
            <a:off x="6187288" y="1280160"/>
            <a:ext cx="1696669" cy="1600200"/>
          </a:xfrm>
          <a:prstGeom prst="roundRect">
            <a:avLst>
              <a:gd name="adj" fmla="val 4571"/>
            </a:avLst>
          </a:prstGeom>
          <a:solidFill>
            <a:schemeClr val="tx2"/>
          </a:solidFill>
          <a:ln/>
        </p:spPr>
      </p:sp>
      <p:sp>
        <p:nvSpPr>
          <p:cNvPr id="23" name="Shape 20"/>
          <p:cNvSpPr/>
          <p:nvPr/>
        </p:nvSpPr>
        <p:spPr>
          <a:xfrm>
            <a:off x="6324448" y="1389888"/>
            <a:ext cx="365760" cy="365760"/>
          </a:xfrm>
          <a:prstGeom prst="ellipse">
            <a:avLst/>
          </a:prstGeom>
          <a:solidFill>
            <a:schemeClr val="accent2"/>
          </a:solidFill>
          <a:ln/>
        </p:spPr>
      </p:sp>
      <p:sp>
        <p:nvSpPr>
          <p:cNvPr id="24" name="Text 21"/>
          <p:cNvSpPr txBox="1"/>
          <p:nvPr/>
        </p:nvSpPr>
        <p:spPr>
          <a:xfrm>
            <a:off x="6324448"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2"/>
          <p:cNvSpPr txBox="1"/>
          <p:nvPr/>
        </p:nvSpPr>
        <p:spPr>
          <a:xfrm>
            <a:off x="6781648" y="1417320"/>
            <a:ext cx="1010869" cy="320040"/>
          </a:xfrm>
          <a:prstGeom prst="rect">
            <a:avLst/>
          </a:prstGeom>
          <a:noFill/>
          <a:ln/>
        </p:spPr>
        <p:txBody>
          <a:bodyPr wrap="square" lIns="0" tIns="0" rIns="0" bIns="0" rtlCol="0" anchor="ctr"/>
          <a:lstStyle/>
          <a:p>
            <a:pPr indent="0" marL="0">
              <a:buNone/>
            </a:pPr>
            <a:r>
              <a:rPr lang="en-US" sz="1400" b="1" dirty="0">
                <a:solidFill>
                  <a:schemeClr val="bg1"/>
                </a:solidFill>
              </a:rPr>
              <a:t>Load</a:t>
            </a:r>
            <a:endParaRPr lang="en-US" sz="1400" dirty="0"/>
          </a:p>
        </p:txBody>
      </p:sp>
      <p:sp>
        <p:nvSpPr>
          <p:cNvPr id="26" name="Text 23"/>
          <p:cNvSpPr txBox="1"/>
          <p:nvPr/>
        </p:nvSpPr>
        <p:spPr>
          <a:xfrm>
            <a:off x="6324448" y="1874520"/>
            <a:ext cx="1422349" cy="960120"/>
          </a:xfrm>
          <a:prstGeom prst="rect">
            <a:avLst/>
          </a:prstGeom>
          <a:noFill/>
          <a:ln/>
        </p:spPr>
        <p:txBody>
          <a:bodyPr wrap="square" lIns="0" tIns="0" rIns="0" bIns="0" rtlCol="0" anchor="t"/>
          <a:lstStyle/>
          <a:p>
            <a:pPr indent="0" marL="0">
              <a:buNone/>
            </a:pPr>
            <a:r>
              <a:rPr lang="en-US" sz="1100" dirty="0">
                <a:solidFill>
                  <a:schemeClr val="bg1"/>
                </a:solidFill>
              </a:rPr>
              <a:t>JMeter sends traffic from the separate Mac</a:t>
            </a:r>
            <a:endParaRPr lang="en-US" sz="1100" dirty="0"/>
          </a:p>
        </p:txBody>
      </p:sp>
      <p:sp>
        <p:nvSpPr>
          <p:cNvPr id="27" name="Shape 24"/>
          <p:cNvSpPr/>
          <p:nvPr/>
        </p:nvSpPr>
        <p:spPr>
          <a:xfrm>
            <a:off x="7893101" y="2075688"/>
            <a:ext cx="164592" cy="0"/>
          </a:xfrm>
          <a:prstGeom prst="line">
            <a:avLst/>
          </a:prstGeom>
          <a:noFill/>
          <a:ln w="22225">
            <a:solidFill>
              <a:schemeClr val="accent6"/>
            </a:solidFill>
            <a:prstDash val="solid"/>
            <a:tailEnd type="triangle"/>
          </a:ln>
        </p:spPr>
      </p:sp>
      <p:sp>
        <p:nvSpPr>
          <p:cNvPr id="28" name="Shape 25"/>
          <p:cNvSpPr/>
          <p:nvPr/>
        </p:nvSpPr>
        <p:spPr>
          <a:xfrm>
            <a:off x="8066837" y="1280160"/>
            <a:ext cx="1696669" cy="1600200"/>
          </a:xfrm>
          <a:prstGeom prst="roundRect">
            <a:avLst>
              <a:gd name="adj" fmla="val 4571"/>
            </a:avLst>
          </a:prstGeom>
          <a:solidFill>
            <a:schemeClr val="bg2"/>
          </a:solidFill>
          <a:ln/>
        </p:spPr>
      </p:sp>
      <p:sp>
        <p:nvSpPr>
          <p:cNvPr id="29" name="Shape 26"/>
          <p:cNvSpPr/>
          <p:nvPr/>
        </p:nvSpPr>
        <p:spPr>
          <a:xfrm>
            <a:off x="8203997" y="1389888"/>
            <a:ext cx="365760" cy="365760"/>
          </a:xfrm>
          <a:prstGeom prst="ellipse">
            <a:avLst/>
          </a:prstGeom>
          <a:solidFill>
            <a:schemeClr val="accent1"/>
          </a:solidFill>
          <a:ln/>
        </p:spPr>
      </p:sp>
      <p:sp>
        <p:nvSpPr>
          <p:cNvPr id="30" name="Text 27"/>
          <p:cNvSpPr txBox="1"/>
          <p:nvPr/>
        </p:nvSpPr>
        <p:spPr>
          <a:xfrm>
            <a:off x="8203997"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8"/>
          <p:cNvSpPr txBox="1"/>
          <p:nvPr/>
        </p:nvSpPr>
        <p:spPr>
          <a:xfrm>
            <a:off x="8661197" y="1417320"/>
            <a:ext cx="1010869" cy="320040"/>
          </a:xfrm>
          <a:prstGeom prst="rect">
            <a:avLst/>
          </a:prstGeom>
          <a:noFill/>
          <a:ln/>
        </p:spPr>
        <p:txBody>
          <a:bodyPr wrap="square" lIns="0" tIns="0" rIns="0" bIns="0" rtlCol="0" anchor="ctr"/>
          <a:lstStyle/>
          <a:p>
            <a:pPr indent="0" marL="0">
              <a:buNone/>
            </a:pPr>
            <a:r>
              <a:rPr lang="en-US" sz="1400" b="1" dirty="0">
                <a:solidFill>
                  <a:schemeClr val="tx2"/>
                </a:solidFill>
              </a:rPr>
              <a:t>Collect</a:t>
            </a:r>
            <a:endParaRPr lang="en-US" sz="1400" dirty="0"/>
          </a:p>
        </p:txBody>
      </p:sp>
      <p:sp>
        <p:nvSpPr>
          <p:cNvPr id="32" name="Text 29"/>
          <p:cNvSpPr txBox="1"/>
          <p:nvPr/>
        </p:nvSpPr>
        <p:spPr>
          <a:xfrm>
            <a:off x="8203997" y="1874520"/>
            <a:ext cx="1422349" cy="960120"/>
          </a:xfrm>
          <a:prstGeom prst="rect">
            <a:avLst/>
          </a:prstGeom>
          <a:noFill/>
          <a:ln/>
        </p:spPr>
        <p:txBody>
          <a:bodyPr wrap="square" lIns="0" tIns="0" rIns="0" bIns="0" rtlCol="0" anchor="t"/>
          <a:lstStyle/>
          <a:p>
            <a:pPr indent="0" marL="0">
              <a:buNone/>
            </a:pPr>
            <a:r>
              <a:rPr lang="en-US" sz="1100" dirty="0">
                <a:solidFill>
                  <a:schemeClr val="tx1"/>
                </a:solidFill>
              </a:rPr>
              <a:t>Save JMeter results, service log and resource log</a:t>
            </a:r>
            <a:endParaRPr lang="en-US" sz="1100" dirty="0"/>
          </a:p>
        </p:txBody>
      </p:sp>
      <p:sp>
        <p:nvSpPr>
          <p:cNvPr id="33" name="Shape 30"/>
          <p:cNvSpPr/>
          <p:nvPr/>
        </p:nvSpPr>
        <p:spPr>
          <a:xfrm>
            <a:off x="9772650" y="2075688"/>
            <a:ext cx="164592" cy="0"/>
          </a:xfrm>
          <a:prstGeom prst="line">
            <a:avLst/>
          </a:prstGeom>
          <a:noFill/>
          <a:ln w="22225">
            <a:solidFill>
              <a:schemeClr val="accent6"/>
            </a:solidFill>
            <a:prstDash val="solid"/>
            <a:tailEnd type="triangle"/>
          </a:ln>
        </p:spPr>
      </p:sp>
      <p:sp>
        <p:nvSpPr>
          <p:cNvPr id="34" name="Shape 31"/>
          <p:cNvSpPr/>
          <p:nvPr/>
        </p:nvSpPr>
        <p:spPr>
          <a:xfrm>
            <a:off x="9946386" y="1280160"/>
            <a:ext cx="1696669" cy="1600200"/>
          </a:xfrm>
          <a:prstGeom prst="roundRect">
            <a:avLst>
              <a:gd name="adj" fmla="val 4571"/>
            </a:avLst>
          </a:prstGeom>
          <a:solidFill>
            <a:schemeClr val="bg2"/>
          </a:solidFill>
          <a:ln/>
        </p:spPr>
      </p:sp>
      <p:sp>
        <p:nvSpPr>
          <p:cNvPr id="35" name="Shape 32"/>
          <p:cNvSpPr/>
          <p:nvPr/>
        </p:nvSpPr>
        <p:spPr>
          <a:xfrm>
            <a:off x="10083546" y="1389888"/>
            <a:ext cx="365760" cy="365760"/>
          </a:xfrm>
          <a:prstGeom prst="ellipse">
            <a:avLst/>
          </a:prstGeom>
          <a:solidFill>
            <a:schemeClr val="accent1"/>
          </a:solidFill>
          <a:ln/>
        </p:spPr>
      </p:sp>
      <p:sp>
        <p:nvSpPr>
          <p:cNvPr id="36" name="Text 33"/>
          <p:cNvSpPr txBox="1"/>
          <p:nvPr/>
        </p:nvSpPr>
        <p:spPr>
          <a:xfrm>
            <a:off x="10083546"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7" name="Text 34"/>
          <p:cNvSpPr txBox="1"/>
          <p:nvPr/>
        </p:nvSpPr>
        <p:spPr>
          <a:xfrm>
            <a:off x="10540746" y="1417320"/>
            <a:ext cx="1010869" cy="320040"/>
          </a:xfrm>
          <a:prstGeom prst="rect">
            <a:avLst/>
          </a:prstGeom>
          <a:noFill/>
          <a:ln/>
        </p:spPr>
        <p:txBody>
          <a:bodyPr wrap="square" lIns="0" tIns="0" rIns="0" bIns="0" rtlCol="0" anchor="ctr"/>
          <a:lstStyle/>
          <a:p>
            <a:pPr indent="0" marL="0">
              <a:buNone/>
            </a:pPr>
            <a:r>
              <a:rPr lang="en-US" sz="1400" b="1" dirty="0">
                <a:solidFill>
                  <a:schemeClr val="tx2"/>
                </a:solidFill>
              </a:rPr>
              <a:t>Reconcile</a:t>
            </a:r>
            <a:endParaRPr lang="en-US" sz="1400" dirty="0"/>
          </a:p>
        </p:txBody>
      </p:sp>
      <p:sp>
        <p:nvSpPr>
          <p:cNvPr id="38" name="Text 35"/>
          <p:cNvSpPr txBox="1"/>
          <p:nvPr/>
        </p:nvSpPr>
        <p:spPr>
          <a:xfrm>
            <a:off x="10083546" y="1874520"/>
            <a:ext cx="1422349" cy="960120"/>
          </a:xfrm>
          <a:prstGeom prst="rect">
            <a:avLst/>
          </a:prstGeom>
          <a:noFill/>
          <a:ln/>
        </p:spPr>
        <p:txBody>
          <a:bodyPr wrap="square" lIns="0" tIns="0" rIns="0" bIns="0" rtlCol="0" anchor="t"/>
          <a:lstStyle/>
          <a:p>
            <a:pPr indent="0" marL="0">
              <a:buNone/>
            </a:pPr>
            <a:r>
              <a:rPr lang="en-US" sz="1100" dirty="0">
                <a:solidFill>
                  <a:schemeClr val="tx1"/>
                </a:solidFill>
              </a:rPr>
              <a:t>Check every request appears in both logs, and nothing else does</a:t>
            </a:r>
            <a:endParaRPr lang="en-US" sz="1100" dirty="0"/>
          </a:p>
        </p:txBody>
      </p:sp>
      <p:sp>
        <p:nvSpPr>
          <p:cNvPr id="39" name="Shape 36"/>
          <p:cNvSpPr/>
          <p:nvPr/>
        </p:nvSpPr>
        <p:spPr>
          <a:xfrm>
            <a:off x="548640" y="3108960"/>
            <a:ext cx="3515258" cy="3154680"/>
          </a:xfrm>
          <a:prstGeom prst="roundRect">
            <a:avLst>
              <a:gd name="adj" fmla="val 2319"/>
            </a:avLst>
          </a:prstGeom>
          <a:solidFill>
            <a:schemeClr val="bg1"/>
          </a:solidFill>
          <a:ln w="12700">
            <a:solidFill>
              <a:srgbClr val="D5DFDD"/>
            </a:solidFill>
            <a:prstDash val="solid"/>
          </a:ln>
        </p:spPr>
      </p:sp>
      <p:sp>
        <p:nvSpPr>
          <p:cNvPr id="40" name="Text 37"/>
          <p:cNvSpPr txBox="1"/>
          <p:nvPr/>
        </p:nvSpPr>
        <p:spPr>
          <a:xfrm>
            <a:off x="777240" y="3246120"/>
            <a:ext cx="3058058"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Load tests: 27 runs</a:t>
            </a:r>
            <a:endParaRPr lang="en-US" sz="1500" dirty="0"/>
          </a:p>
        </p:txBody>
      </p:sp>
      <p:sp>
        <p:nvSpPr>
          <p:cNvPr id="41" name="Text 38"/>
          <p:cNvSpPr txBox="1"/>
          <p:nvPr/>
        </p:nvSpPr>
        <p:spPr>
          <a:xfrm>
            <a:off x="777240" y="3657600"/>
            <a:ext cx="3058058" cy="2468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Tickets arrive at random moments at a set average rate, even if the system falls behind, so any backlog shows</a:t>
            </a:r>
            <a:endParaRPr lang="en-US" sz="1200" dirty="0"/>
          </a:p>
          <a:p>
            <a:pPr marL="342900" indent="-342900">
              <a:spcAft>
                <a:spcPts val="400"/>
              </a:spcAft>
              <a:buSzPct val="100000"/>
              <a:buChar char="•"/>
            </a:pPr>
            <a:r>
              <a:rPr lang="en-US" sz="1200" dirty="0">
                <a:solidFill>
                  <a:schemeClr val="tx1"/>
                </a:solidFill>
              </a:rPr>
              <a:t>3 models × 3 traffic levels (normal, busiest, double) × 3 runs each</a:t>
            </a:r>
            <a:endParaRPr lang="en-US" sz="1200" dirty="0"/>
          </a:p>
          <a:p>
            <a:pPr marL="342900" indent="-342900">
              <a:spcAft>
                <a:spcPts val="400"/>
              </a:spcAft>
              <a:buSzPct val="100000"/>
              <a:buChar char="•"/>
            </a:pPr>
            <a:r>
              <a:rPr lang="en-US" sz="1200" dirty="0">
                <a:solidFill>
                  <a:schemeClr val="tx1"/>
                </a:solidFill>
              </a:rPr>
              <a:t>10 min of traffic, then 5 min for the last tickets to finish; over 10 min counts as failed</a:t>
            </a:r>
            <a:endParaRPr lang="en-US" sz="1200" dirty="0"/>
          </a:p>
          <a:p>
            <a:pPr marL="342900" indent="-342900">
              <a:spcAft>
                <a:spcPts val="400"/>
              </a:spcAft>
              <a:buSzPct val="100000"/>
              <a:buChar char="•"/>
            </a:pPr>
            <a:r>
              <a:rPr lang="en-US" sz="1200" dirty="0">
                <a:solidFill>
                  <a:schemeClr val="tx1"/>
                </a:solidFill>
              </a:rPr>
              <a:t>Tickets from rows 3200–3999, never the hand-checked ones; each request tagged with an ID</a:t>
            </a:r>
            <a:endParaRPr lang="en-US" sz="1200" dirty="0"/>
          </a:p>
        </p:txBody>
      </p:sp>
      <p:sp>
        <p:nvSpPr>
          <p:cNvPr id="42" name="Shape 39"/>
          <p:cNvSpPr/>
          <p:nvPr/>
        </p:nvSpPr>
        <p:spPr>
          <a:xfrm>
            <a:off x="4338218" y="3108960"/>
            <a:ext cx="3515258" cy="3154680"/>
          </a:xfrm>
          <a:prstGeom prst="roundRect">
            <a:avLst>
              <a:gd name="adj" fmla="val 2319"/>
            </a:avLst>
          </a:prstGeom>
          <a:solidFill>
            <a:schemeClr val="bg1"/>
          </a:solidFill>
          <a:ln w="12700">
            <a:solidFill>
              <a:srgbClr val="D5DFDD"/>
            </a:solidFill>
            <a:prstDash val="solid"/>
          </a:ln>
        </p:spPr>
      </p:sp>
      <p:sp>
        <p:nvSpPr>
          <p:cNvPr id="43" name="Text 40"/>
          <p:cNvSpPr txBox="1"/>
          <p:nvPr/>
        </p:nvSpPr>
        <p:spPr>
          <a:xfrm>
            <a:off x="4566818" y="3246120"/>
            <a:ext cx="3058058"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Accuracy test: 3 passes</a:t>
            </a:r>
            <a:endParaRPr lang="en-US" sz="1500" dirty="0"/>
          </a:p>
        </p:txBody>
      </p:sp>
      <p:sp>
        <p:nvSpPr>
          <p:cNvPr id="44" name="Text 41"/>
          <p:cNvSpPr txBox="1"/>
          <p:nvPr/>
        </p:nvSpPr>
        <p:spPr>
          <a:xfrm>
            <a:off x="4566818" y="3657600"/>
            <a:ext cx="3058058" cy="2468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Each of the 195 hand-checked tickets sent once, one at a time, to each model</a:t>
            </a:r>
            <a:endParaRPr lang="en-US" sz="1200" dirty="0"/>
          </a:p>
          <a:p>
            <a:pPr marL="342900" indent="-342900">
              <a:spcAft>
                <a:spcPts val="400"/>
              </a:spcAft>
              <a:buSzPct val="100000"/>
              <a:buChar char="•"/>
            </a:pPr>
            <a:r>
              <a:rPr lang="en-US" sz="1200" dirty="0">
                <a:solidFill>
                  <a:schemeClr val="tx1"/>
                </a:solidFill>
              </a:rPr>
              <a:t>Compared with our labels: overall, per category, and which categories get mixed up</a:t>
            </a:r>
            <a:endParaRPr lang="en-US" sz="1200" dirty="0"/>
          </a:p>
          <a:p>
            <a:pPr marL="342900" indent="-342900">
              <a:spcAft>
                <a:spcPts val="400"/>
              </a:spcAft>
              <a:buSzPct val="100000"/>
              <a:buChar char="•"/>
            </a:pPr>
            <a:r>
              <a:rPr lang="en-US" sz="1200" dirty="0">
                <a:solidFill>
                  <a:schemeClr val="tx1"/>
                </a:solidFill>
              </a:rPr>
              <a:t>Run on 8 Oct, after the labels were locked; no other test running</a:t>
            </a:r>
            <a:endParaRPr lang="en-US" sz="1200" dirty="0"/>
          </a:p>
        </p:txBody>
      </p:sp>
      <p:sp>
        <p:nvSpPr>
          <p:cNvPr id="45" name="Shape 42"/>
          <p:cNvSpPr/>
          <p:nvPr/>
        </p:nvSpPr>
        <p:spPr>
          <a:xfrm>
            <a:off x="8127797" y="3108960"/>
            <a:ext cx="3515258" cy="3154680"/>
          </a:xfrm>
          <a:prstGeom prst="roundRect">
            <a:avLst>
              <a:gd name="adj" fmla="val 2319"/>
            </a:avLst>
          </a:prstGeom>
          <a:solidFill>
            <a:schemeClr val="bg1"/>
          </a:solidFill>
          <a:ln w="12700">
            <a:solidFill>
              <a:srgbClr val="D5DFDD"/>
            </a:solidFill>
            <a:prstDash val="solid"/>
          </a:ln>
        </p:spPr>
      </p:sp>
      <p:sp>
        <p:nvSpPr>
          <p:cNvPr id="46" name="Text 43"/>
          <p:cNvSpPr txBox="1"/>
          <p:nvPr/>
        </p:nvSpPr>
        <p:spPr>
          <a:xfrm>
            <a:off x="8356397" y="3246120"/>
            <a:ext cx="3058058"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Stress test: large model</a:t>
            </a:r>
            <a:endParaRPr lang="en-US" sz="1500" dirty="0"/>
          </a:p>
        </p:txBody>
      </p:sp>
      <p:sp>
        <p:nvSpPr>
          <p:cNvPr id="47" name="Text 44"/>
          <p:cNvSpPr txBox="1"/>
          <p:nvPr/>
        </p:nvSpPr>
        <p:spPr>
          <a:xfrm>
            <a:off x="8356397" y="3657600"/>
            <a:ext cx="3058058" cy="24688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Traffic rises steadily from 3.5 to 12 tickets/min over 30 min, plus 7 searches/min</a:t>
            </a:r>
            <a:endParaRPr lang="en-US" sz="1200" dirty="0"/>
          </a:p>
          <a:p>
            <a:pPr marL="342900" indent="-342900">
              <a:spcAft>
                <a:spcPts val="400"/>
              </a:spcAft>
              <a:buSzPct val="100000"/>
              <a:buChar char="•"/>
            </a:pPr>
            <a:r>
              <a:rPr lang="en-US" sz="1200" dirty="0">
                <a:solidFill>
                  <a:schemeClr val="tx1"/>
                </a:solidFill>
              </a:rPr>
              <a:t>Then 15 min at a steady 7.2 and 9.6 tickets/min to confirm</a:t>
            </a:r>
            <a:endParaRPr lang="en-US" sz="1200" dirty="0"/>
          </a:p>
          <a:p>
            <a:pPr marL="342900" indent="-342900">
              <a:spcAft>
                <a:spcPts val="400"/>
              </a:spcAft>
              <a:buSzPct val="100000"/>
              <a:buChar char="•"/>
            </a:pPr>
            <a:r>
              <a:rPr lang="en-US" sz="1200" dirty="0">
                <a:solidFill>
                  <a:schemeClr val="tx1"/>
                </a:solidFill>
              </a:rPr>
              <a:t>The limit is where tickets arrive faster than they are sorted and delays keep growing</a:t>
            </a:r>
            <a:endParaRPr lang="en-US" sz="1200" dirty="0"/>
          </a:p>
          <a:p>
            <a:pPr marL="342900" indent="-342900">
              <a:spcAft>
                <a:spcPts val="400"/>
              </a:spcAft>
              <a:buSzPct val="100000"/>
              <a:buChar char="•"/>
            </a:pPr>
            <a:r>
              <a:rPr lang="en-US" sz="1200" dirty="0">
                <a:solidFill>
                  <a:schemeClr val="tx1"/>
                </a:solidFill>
              </a:rPr>
              <a:t>Each ticket's time is split into waiting in line vs being processed</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All three models keep up easily; the AI model is the slow part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955280" cy="914400"/>
        </p:xfrm>
        <a:graphic>
          <a:graphicData uri="http://schemas.openxmlformats.org/drawingml/2006/table">
            <a:tbl>
              <a:tblPr/>
              <a:tblGrid>
                <a:gridCol w="1188720"/>
                <a:gridCol w="960120"/>
                <a:gridCol w="1371600"/>
                <a:gridCol w="1371600"/>
                <a:gridCol w="640080"/>
                <a:gridCol w="777240"/>
                <a:gridCol w="548640"/>
                <a:gridCol w="1097280"/>
              </a:tblGrid>
              <a:tr h="566928">
                <a:tc>
                  <a:txBody>
                    <a:bodyPr/>
                    <a:lstStyle/>
                    <a:p>
                      <a:pPr algn="l" indent="0" marL="0">
                        <a:buNone/>
                      </a:pPr>
                      <a:r>
                        <a:rPr lang="en-US" sz="1100" b="1" dirty="0">
                          <a:solidFill>
                            <a:schemeClr val="bg1"/>
                          </a:solidFill>
                        </a:rPr>
                        <a:t>Model</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Tickets + searches /min</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Typical (p50) s</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95% within (p95) s</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99% (p99) s</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Done /min</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Failed</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algn="l" indent="0" marL="0">
                        <a:buNone/>
                      </a:pPr>
                      <a:r>
                        <a:rPr lang="en-US" sz="1100" b="1" dirty="0">
                          <a:solidFill>
                            <a:schemeClr val="bg1"/>
                          </a:solidFill>
                        </a:rPr>
                        <a:t>Search 95% within s</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r>
              <a:tr h="310896">
                <a:tc rowSpan="3">
                  <a:txBody>
                    <a:bodyPr/>
                    <a:lstStyle/>
                    <a:p>
                      <a:pPr algn="l" indent="0" marL="0">
                        <a:buNone/>
                      </a:pPr>
                      <a:r>
                        <a:rPr lang="en-US" sz="1100" b="1" dirty="0">
                          <a:solidFill>
                            <a:schemeClr val="tx2"/>
                          </a:solidFill>
                        </a:rPr>
                        <a:t>qwen2.5:0.5b</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1.45 + 2.9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0.77 (0.65–0.84)</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1.95 (1.19–3.33)</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1.95</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1.62</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0.36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10896">
                <a:tc vMerge="1">
                  <a:tcPr/>
                </a:tc>
                <a:tc>
                  <a:txBody>
                    <a:bodyPr/>
                    <a:lstStyle/>
                    <a:p>
                      <a:pPr algn="l" indent="0" marL="0">
                        <a:buNone/>
                      </a:pPr>
                      <a:r>
                        <a:rPr lang="en-US" sz="1100" b="1" dirty="0">
                          <a:solidFill>
                            <a:schemeClr val="tx1"/>
                          </a:solidFill>
                        </a:rPr>
                        <a:t>1.73 + 3.5</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0.67 (0.63–0.69)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1.02 (1.00–1.04)</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1.02</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2.02</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0.33</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r>
              <a:tr h="310896">
                <a:tc vMerge="1">
                  <a:tcPr/>
                </a:tc>
                <a:tc>
                  <a:txBody>
                    <a:bodyPr/>
                    <a:lstStyle/>
                    <a:p>
                      <a:pPr algn="l" indent="0" marL="0">
                        <a:buNone/>
                      </a:pPr>
                      <a:r>
                        <a:rPr lang="en-US" sz="1100" dirty="0">
                          <a:solidFill>
                            <a:schemeClr val="tx1"/>
                          </a:solidFill>
                        </a:rPr>
                        <a:t>3.5 + 7</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0.68 (0.60–0.81)</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1.27 (1.16–1.40)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1.65</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3.69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0.49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10896">
                <a:tc rowSpan="3">
                  <a:txBody>
                    <a:bodyPr/>
                    <a:lstStyle/>
                    <a:p>
                      <a:pPr algn="l" indent="0" marL="0">
                        <a:buNone/>
                      </a:pPr>
                      <a:r>
                        <a:rPr lang="en-US" sz="1100" b="1" dirty="0">
                          <a:solidFill>
                            <a:schemeClr val="tx2"/>
                          </a:solidFill>
                        </a:rPr>
                        <a:t>llama3.2:1b</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1.45 + 2.9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0.76 (0.66–0.93)</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1.46 (1.19–1.70)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1.46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1.63</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0.56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10896">
                <a:tc vMerge="1">
                  <a:tcPr/>
                </a:tc>
                <a:tc>
                  <a:txBody>
                    <a:bodyPr/>
                    <a:lstStyle/>
                    <a:p>
                      <a:pPr algn="l" indent="0" marL="0">
                        <a:buNone/>
                      </a:pPr>
                      <a:r>
                        <a:rPr lang="en-US" sz="1100" b="1" dirty="0">
                          <a:solidFill>
                            <a:schemeClr val="tx1"/>
                          </a:solidFill>
                        </a:rPr>
                        <a:t>1.73 + 3.5</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0.72 (0.63–0.79)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1.74 (1.07–2.88)</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1.74</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1.82</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0.33</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r>
              <a:tr h="310896">
                <a:tc vMerge="1">
                  <a:tcPr/>
                </a:tc>
                <a:tc>
                  <a:txBody>
                    <a:bodyPr/>
                    <a:lstStyle/>
                    <a:p>
                      <a:pPr algn="l" indent="0" marL="0">
                        <a:buNone/>
                      </a:pPr>
                      <a:r>
                        <a:rPr lang="en-US" sz="1100" dirty="0">
                          <a:solidFill>
                            <a:schemeClr val="tx1"/>
                          </a:solidFill>
                        </a:rPr>
                        <a:t>3.5 + 7</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0.86 (0.79–0.97)</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1.41 (1.08–1.69)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1.69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3.71</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0.56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10896">
                <a:tc rowSpan="3">
                  <a:txBody>
                    <a:bodyPr/>
                    <a:lstStyle/>
                    <a:p>
                      <a:pPr algn="l" indent="0" marL="0">
                        <a:buNone/>
                      </a:pPr>
                      <a:r>
                        <a:rPr lang="en-US" sz="1100" b="1" dirty="0">
                          <a:solidFill>
                            <a:schemeClr val="tx2"/>
                          </a:solidFill>
                        </a:rPr>
                        <a:t>qwen2.5:7b</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1.45 + 2.9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3.38 (3.07–3.91)</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6.60 (5.55–8.37)</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6.60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1.62</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0.22</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10896">
                <a:tc vMerge="1">
                  <a:tcPr/>
                </a:tc>
                <a:tc>
                  <a:txBody>
                    <a:bodyPr/>
                    <a:lstStyle/>
                    <a:p>
                      <a:pPr algn="l" indent="0" marL="0">
                        <a:buNone/>
                      </a:pPr>
                      <a:r>
                        <a:rPr lang="en-US" sz="1100" b="1" dirty="0">
                          <a:solidFill>
                            <a:schemeClr val="tx1"/>
                          </a:solidFill>
                        </a:rPr>
                        <a:t>1.73 + 3.5</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3.74 (3.69–3.78)</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6.06 (5.55–6.71)</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6.06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1.90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c>
                  <a:txBody>
                    <a:bodyPr/>
                    <a:lstStyle/>
                    <a:p>
                      <a:pPr algn="l" indent="0" marL="0">
                        <a:buNone/>
                      </a:pPr>
                      <a:r>
                        <a:rPr lang="en-US" sz="1100" b="1" dirty="0">
                          <a:solidFill>
                            <a:schemeClr val="tx1"/>
                          </a:solidFill>
                        </a:rPr>
                        <a:t>0.46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3EEEC"/>
                    </a:solidFill>
                  </a:tcPr>
                </a:tc>
              </a:tr>
              <a:tr h="310896">
                <a:tc vMerge="1">
                  <a:tcPr/>
                </a:tc>
                <a:tc>
                  <a:txBody>
                    <a:bodyPr/>
                    <a:lstStyle/>
                    <a:p>
                      <a:pPr algn="l" indent="0" marL="0">
                        <a:buNone/>
                      </a:pPr>
                      <a:r>
                        <a:rPr lang="en-US" sz="1100" dirty="0">
                          <a:solidFill>
                            <a:schemeClr val="tx1"/>
                          </a:solidFill>
                        </a:rPr>
                        <a:t>3.5 + 7</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3.54 (3.16–3.99)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6.71 (6.09–7.13)</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8.51</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3.64</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algn="l" indent="0" marL="0">
                        <a:buNone/>
                      </a:pPr>
                      <a:r>
                        <a:rPr lang="en-US" sz="1100" dirty="0">
                          <a:solidFill>
                            <a:schemeClr val="tx1"/>
                          </a:solidFill>
                        </a:rPr>
                        <a:t>0.35</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5" name="Text 1"/>
          <p:cNvSpPr txBox="1"/>
          <p:nvPr/>
        </p:nvSpPr>
        <p:spPr>
          <a:xfrm>
            <a:off x="548640" y="4709160"/>
            <a:ext cx="7955280" cy="274320"/>
          </a:xfrm>
          <a:prstGeom prst="rect">
            <a:avLst/>
          </a:prstGeom>
          <a:noFill/>
          <a:ln/>
        </p:spPr>
        <p:txBody>
          <a:bodyPr wrap="square" lIns="0" tIns="0" rIns="0" bIns="0" rtlCol="0" anchor="t"/>
          <a:lstStyle/>
          <a:p>
            <a:pPr indent="0" marL="0">
              <a:buNone/>
            </a:pPr>
            <a:r>
              <a:rPr lang="en-US" sz="1000" i="1" dirty="0">
                <a:solidFill>
                  <a:schemeClr val="accent5"/>
                </a:solidFill>
              </a:rPr>
              <a:t>Seconds to sort a ticket: average of 3 runs (lowest–highest). Shaded = busiest hour, where targets R1–R3 apply.</a:t>
            </a:r>
            <a:endParaRPr lang="en-US" sz="1000" dirty="0"/>
          </a:p>
        </p:txBody>
      </p:sp>
      <p:sp>
        <p:nvSpPr>
          <p:cNvPr id="6" name="Shape 2"/>
          <p:cNvSpPr/>
          <p:nvPr/>
        </p:nvSpPr>
        <p:spPr>
          <a:xfrm>
            <a:off x="548640" y="5120640"/>
            <a:ext cx="2560320" cy="1143000"/>
          </a:xfrm>
          <a:prstGeom prst="roundRect">
            <a:avLst>
              <a:gd name="adj" fmla="val 6400"/>
            </a:avLst>
          </a:prstGeom>
          <a:solidFill>
            <a:schemeClr val="bg2"/>
          </a:solidFill>
          <a:ln/>
        </p:spPr>
      </p:sp>
      <p:sp>
        <p:nvSpPr>
          <p:cNvPr id="7" name="Shape 3"/>
          <p:cNvSpPr/>
          <p:nvPr/>
        </p:nvSpPr>
        <p:spPr>
          <a:xfrm>
            <a:off x="731520" y="5257800"/>
            <a:ext cx="960120" cy="274320"/>
          </a:xfrm>
          <a:prstGeom prst="roundRect">
            <a:avLst>
              <a:gd name="adj" fmla="val 50000"/>
            </a:avLst>
          </a:prstGeom>
          <a:solidFill>
            <a:schemeClr val="accent3"/>
          </a:solidFill>
          <a:ln/>
        </p:spPr>
      </p:sp>
      <p:sp>
        <p:nvSpPr>
          <p:cNvPr id="8" name="Text 4"/>
          <p:cNvSpPr txBox="1"/>
          <p:nvPr/>
        </p:nvSpPr>
        <p:spPr>
          <a:xfrm>
            <a:off x="731520" y="5257800"/>
            <a:ext cx="960120" cy="274320"/>
          </a:xfrm>
          <a:prstGeom prst="rect">
            <a:avLst/>
          </a:prstGeom>
          <a:noFill/>
          <a:ln/>
        </p:spPr>
        <p:txBody>
          <a:bodyPr wrap="square" lIns="0" tIns="0" rIns="0" bIns="0" rtlCol="0" anchor="ctr"/>
          <a:lstStyle/>
          <a:p>
            <a:pPr algn="ctr" indent="0" marL="0">
              <a:buNone/>
            </a:pPr>
            <a:r>
              <a:rPr lang="en-US" sz="1100" b="1" dirty="0">
                <a:solidFill>
                  <a:schemeClr val="bg1"/>
                </a:solidFill>
              </a:rPr>
              <a:t>R1 PASS</a:t>
            </a:r>
            <a:endParaRPr lang="en-US" sz="1100" dirty="0"/>
          </a:p>
        </p:txBody>
      </p:sp>
      <p:sp>
        <p:nvSpPr>
          <p:cNvPr id="9" name="Text 5"/>
          <p:cNvSpPr txBox="1"/>
          <p:nvPr/>
        </p:nvSpPr>
        <p:spPr>
          <a:xfrm>
            <a:off x="1783080" y="5257800"/>
            <a:ext cx="1188720" cy="274320"/>
          </a:xfrm>
          <a:prstGeom prst="rect">
            <a:avLst/>
          </a:prstGeom>
          <a:noFill/>
          <a:ln/>
        </p:spPr>
        <p:txBody>
          <a:bodyPr wrap="square" lIns="0" tIns="0" rIns="0" bIns="0" rtlCol="0" anchor="ctr"/>
          <a:lstStyle/>
          <a:p>
            <a:pPr indent="0" marL="0">
              <a:buNone/>
            </a:pPr>
            <a:r>
              <a:rPr lang="en-US" sz="1100" b="1" dirty="0">
                <a:solidFill>
                  <a:schemeClr val="accent3"/>
                </a:solidFill>
              </a:rPr>
              <a:t>All 3 models</a:t>
            </a:r>
            <a:endParaRPr lang="en-US" sz="1100" dirty="0"/>
          </a:p>
        </p:txBody>
      </p:sp>
      <p:sp>
        <p:nvSpPr>
          <p:cNvPr id="10" name="Text 6"/>
          <p:cNvSpPr txBox="1"/>
          <p:nvPr/>
        </p:nvSpPr>
        <p:spPr>
          <a:xfrm>
            <a:off x="731520" y="5623560"/>
            <a:ext cx="2240280" cy="594360"/>
          </a:xfrm>
          <a:prstGeom prst="rect">
            <a:avLst/>
          </a:prstGeom>
          <a:noFill/>
          <a:ln/>
        </p:spPr>
        <p:txBody>
          <a:bodyPr wrap="square" lIns="0" tIns="0" rIns="0" bIns="0" rtlCol="0" anchor="t"/>
          <a:lstStyle/>
          <a:p>
            <a:pPr indent="0" marL="0">
              <a:buNone/>
            </a:pPr>
            <a:r>
              <a:rPr lang="en-US" sz="1100" dirty="0">
                <a:solidFill>
                  <a:schemeClr val="tx1"/>
                </a:solidFill>
              </a:rPr>
              <a:t>95% of tickets sorted within 6.1 s at worst (target 30 s)</a:t>
            </a:r>
            <a:endParaRPr lang="en-US" sz="1100" dirty="0"/>
          </a:p>
        </p:txBody>
      </p:sp>
      <p:sp>
        <p:nvSpPr>
          <p:cNvPr id="11" name="Shape 7"/>
          <p:cNvSpPr/>
          <p:nvPr/>
        </p:nvSpPr>
        <p:spPr>
          <a:xfrm>
            <a:off x="3246120" y="5120640"/>
            <a:ext cx="2560320" cy="1143000"/>
          </a:xfrm>
          <a:prstGeom prst="roundRect">
            <a:avLst>
              <a:gd name="adj" fmla="val 6400"/>
            </a:avLst>
          </a:prstGeom>
          <a:solidFill>
            <a:schemeClr val="bg2"/>
          </a:solidFill>
          <a:ln/>
        </p:spPr>
      </p:sp>
      <p:sp>
        <p:nvSpPr>
          <p:cNvPr id="12" name="Shape 8"/>
          <p:cNvSpPr/>
          <p:nvPr/>
        </p:nvSpPr>
        <p:spPr>
          <a:xfrm>
            <a:off x="3429000" y="5257800"/>
            <a:ext cx="960120" cy="274320"/>
          </a:xfrm>
          <a:prstGeom prst="roundRect">
            <a:avLst>
              <a:gd name="adj" fmla="val 50000"/>
            </a:avLst>
          </a:prstGeom>
          <a:solidFill>
            <a:schemeClr val="accent3"/>
          </a:solidFill>
          <a:ln/>
        </p:spPr>
      </p:sp>
      <p:sp>
        <p:nvSpPr>
          <p:cNvPr id="13" name="Text 9"/>
          <p:cNvSpPr txBox="1"/>
          <p:nvPr/>
        </p:nvSpPr>
        <p:spPr>
          <a:xfrm>
            <a:off x="3429000" y="5257800"/>
            <a:ext cx="960120" cy="274320"/>
          </a:xfrm>
          <a:prstGeom prst="rect">
            <a:avLst/>
          </a:prstGeom>
          <a:noFill/>
          <a:ln/>
        </p:spPr>
        <p:txBody>
          <a:bodyPr wrap="square" lIns="0" tIns="0" rIns="0" bIns="0" rtlCol="0" anchor="ctr"/>
          <a:lstStyle/>
          <a:p>
            <a:pPr algn="ctr" indent="0" marL="0">
              <a:buNone/>
            </a:pPr>
            <a:r>
              <a:rPr lang="en-US" sz="1100" b="1" dirty="0">
                <a:solidFill>
                  <a:schemeClr val="bg1"/>
                </a:solidFill>
              </a:rPr>
              <a:t>R2 PASS</a:t>
            </a:r>
            <a:endParaRPr lang="en-US" sz="1100" dirty="0"/>
          </a:p>
        </p:txBody>
      </p:sp>
      <p:sp>
        <p:nvSpPr>
          <p:cNvPr id="14" name="Text 10"/>
          <p:cNvSpPr txBox="1"/>
          <p:nvPr/>
        </p:nvSpPr>
        <p:spPr>
          <a:xfrm>
            <a:off x="4480560" y="5257800"/>
            <a:ext cx="1188720" cy="274320"/>
          </a:xfrm>
          <a:prstGeom prst="rect">
            <a:avLst/>
          </a:prstGeom>
          <a:noFill/>
          <a:ln/>
        </p:spPr>
        <p:txBody>
          <a:bodyPr wrap="square" lIns="0" tIns="0" rIns="0" bIns="0" rtlCol="0" anchor="ctr"/>
          <a:lstStyle/>
          <a:p>
            <a:pPr indent="0" marL="0">
              <a:buNone/>
            </a:pPr>
            <a:r>
              <a:rPr lang="en-US" sz="1100" b="1" dirty="0">
                <a:solidFill>
                  <a:schemeClr val="accent3"/>
                </a:solidFill>
              </a:rPr>
              <a:t>All 3 models</a:t>
            </a:r>
            <a:endParaRPr lang="en-US" sz="1100" dirty="0"/>
          </a:p>
        </p:txBody>
      </p:sp>
      <p:sp>
        <p:nvSpPr>
          <p:cNvPr id="15" name="Text 11"/>
          <p:cNvSpPr txBox="1"/>
          <p:nvPr/>
        </p:nvSpPr>
        <p:spPr>
          <a:xfrm>
            <a:off x="3429000" y="5623560"/>
            <a:ext cx="2240280" cy="594360"/>
          </a:xfrm>
          <a:prstGeom prst="rect">
            <a:avLst/>
          </a:prstGeom>
          <a:noFill/>
          <a:ln/>
        </p:spPr>
        <p:txBody>
          <a:bodyPr wrap="square" lIns="0" tIns="0" rIns="0" bIns="0" rtlCol="0" anchor="t"/>
          <a:lstStyle/>
          <a:p>
            <a:pPr indent="0" marL="0">
              <a:buNone/>
            </a:pPr>
            <a:r>
              <a:rPr lang="en-US" sz="1100" dirty="0">
                <a:solidFill>
                  <a:schemeClr val="tx1"/>
                </a:solidFill>
              </a:rPr>
              <a:t>95% of searches within 0.46 s at worst (target 1 s)</a:t>
            </a:r>
            <a:endParaRPr lang="en-US" sz="1100" dirty="0"/>
          </a:p>
        </p:txBody>
      </p:sp>
      <p:sp>
        <p:nvSpPr>
          <p:cNvPr id="16" name="Shape 12"/>
          <p:cNvSpPr/>
          <p:nvPr/>
        </p:nvSpPr>
        <p:spPr>
          <a:xfrm>
            <a:off x="5943600" y="5120640"/>
            <a:ext cx="2560320" cy="1143000"/>
          </a:xfrm>
          <a:prstGeom prst="roundRect">
            <a:avLst>
              <a:gd name="adj" fmla="val 6400"/>
            </a:avLst>
          </a:prstGeom>
          <a:solidFill>
            <a:schemeClr val="bg2"/>
          </a:solidFill>
          <a:ln/>
        </p:spPr>
      </p:sp>
      <p:sp>
        <p:nvSpPr>
          <p:cNvPr id="17" name="Shape 13"/>
          <p:cNvSpPr/>
          <p:nvPr/>
        </p:nvSpPr>
        <p:spPr>
          <a:xfrm>
            <a:off x="6126480" y="5257800"/>
            <a:ext cx="960120" cy="274320"/>
          </a:xfrm>
          <a:prstGeom prst="roundRect">
            <a:avLst>
              <a:gd name="adj" fmla="val 50000"/>
            </a:avLst>
          </a:prstGeom>
          <a:solidFill>
            <a:schemeClr val="accent3"/>
          </a:solidFill>
          <a:ln/>
        </p:spPr>
      </p:sp>
      <p:sp>
        <p:nvSpPr>
          <p:cNvPr id="18" name="Text 14"/>
          <p:cNvSpPr txBox="1"/>
          <p:nvPr/>
        </p:nvSpPr>
        <p:spPr>
          <a:xfrm>
            <a:off x="6126480" y="5257800"/>
            <a:ext cx="960120" cy="274320"/>
          </a:xfrm>
          <a:prstGeom prst="rect">
            <a:avLst/>
          </a:prstGeom>
          <a:noFill/>
          <a:ln/>
        </p:spPr>
        <p:txBody>
          <a:bodyPr wrap="square" lIns="0" tIns="0" rIns="0" bIns="0" rtlCol="0" anchor="ctr"/>
          <a:lstStyle/>
          <a:p>
            <a:pPr algn="ctr" indent="0" marL="0">
              <a:buNone/>
            </a:pPr>
            <a:r>
              <a:rPr lang="en-US" sz="1100" b="1" dirty="0">
                <a:solidFill>
                  <a:schemeClr val="bg1"/>
                </a:solidFill>
              </a:rPr>
              <a:t>R3 PASS</a:t>
            </a:r>
            <a:endParaRPr lang="en-US" sz="1100" dirty="0"/>
          </a:p>
        </p:txBody>
      </p:sp>
      <p:sp>
        <p:nvSpPr>
          <p:cNvPr id="19" name="Text 15"/>
          <p:cNvSpPr txBox="1"/>
          <p:nvPr/>
        </p:nvSpPr>
        <p:spPr>
          <a:xfrm>
            <a:off x="7178040" y="5257800"/>
            <a:ext cx="1188720" cy="274320"/>
          </a:xfrm>
          <a:prstGeom prst="rect">
            <a:avLst/>
          </a:prstGeom>
          <a:noFill/>
          <a:ln/>
        </p:spPr>
        <p:txBody>
          <a:bodyPr wrap="square" lIns="0" tIns="0" rIns="0" bIns="0" rtlCol="0" anchor="ctr"/>
          <a:lstStyle/>
          <a:p>
            <a:pPr indent="0" marL="0">
              <a:buNone/>
            </a:pPr>
            <a:r>
              <a:rPr lang="en-US" sz="1100" b="1" dirty="0">
                <a:solidFill>
                  <a:schemeClr val="accent3"/>
                </a:solidFill>
              </a:rPr>
              <a:t>All 3 models</a:t>
            </a:r>
            <a:endParaRPr lang="en-US" sz="1100" dirty="0"/>
          </a:p>
        </p:txBody>
      </p:sp>
      <p:sp>
        <p:nvSpPr>
          <p:cNvPr id="20" name="Text 16"/>
          <p:cNvSpPr txBox="1"/>
          <p:nvPr/>
        </p:nvSpPr>
        <p:spPr>
          <a:xfrm>
            <a:off x="6126480" y="5623560"/>
            <a:ext cx="2240280" cy="594360"/>
          </a:xfrm>
          <a:prstGeom prst="rect">
            <a:avLst/>
          </a:prstGeom>
          <a:noFill/>
          <a:ln/>
        </p:spPr>
        <p:txBody>
          <a:bodyPr wrap="square" lIns="0" tIns="0" rIns="0" bIns="0" rtlCol="0" anchor="t"/>
          <a:lstStyle/>
          <a:p>
            <a:pPr indent="0" marL="0">
              <a:buNone/>
            </a:pPr>
            <a:r>
              <a:rPr lang="en-US" sz="1100" dirty="0">
                <a:solidFill>
                  <a:schemeClr val="tx1"/>
                </a:solidFill>
              </a:rPr>
              <a:t>No failures in 27 runs; tickets sorted as fast as they arrived</a:t>
            </a:r>
            <a:endParaRPr lang="en-US" sz="1100" dirty="0"/>
          </a:p>
        </p:txBody>
      </p:sp>
      <p:sp>
        <p:nvSpPr>
          <p:cNvPr id="21" name="Shape 17"/>
          <p:cNvSpPr/>
          <p:nvPr/>
        </p:nvSpPr>
        <p:spPr>
          <a:xfrm>
            <a:off x="8778240" y="1280160"/>
            <a:ext cx="2864815" cy="4983480"/>
          </a:xfrm>
          <a:prstGeom prst="roundRect">
            <a:avLst>
              <a:gd name="adj" fmla="val 2553"/>
            </a:avLst>
          </a:prstGeom>
          <a:solidFill>
            <a:schemeClr val="tx2"/>
          </a:solidFill>
          <a:ln/>
        </p:spPr>
      </p:sp>
      <p:sp>
        <p:nvSpPr>
          <p:cNvPr id="22" name="Text 18"/>
          <p:cNvSpPr txBox="1"/>
          <p:nvPr/>
        </p:nvSpPr>
        <p:spPr>
          <a:xfrm>
            <a:off x="8961120" y="1389888"/>
            <a:ext cx="2499055" cy="274320"/>
          </a:xfrm>
          <a:prstGeom prst="rect">
            <a:avLst/>
          </a:prstGeom>
          <a:noFill/>
          <a:ln/>
        </p:spPr>
        <p:txBody>
          <a:bodyPr wrap="square" lIns="0" tIns="0" rIns="0" bIns="0" rtlCol="0" anchor="t"/>
          <a:lstStyle/>
          <a:p>
            <a:pPr indent="0" marL="0">
              <a:buNone/>
            </a:pPr>
            <a:r>
              <a:rPr lang="en-US" sz="1100" b="1" spc="100" kern="0" dirty="0">
                <a:solidFill>
                  <a:srgbClr val="9BC1BC"/>
                </a:solidFill>
              </a:rPr>
              <a:t>STRESS TEST · large model</a:t>
            </a:r>
            <a:endParaRPr lang="en-US" sz="1100" dirty="0"/>
          </a:p>
        </p:txBody>
      </p:sp>
      <p:sp>
        <p:nvSpPr>
          <p:cNvPr id="23" name="Text 19"/>
          <p:cNvSpPr txBox="1"/>
          <p:nvPr/>
        </p:nvSpPr>
        <p:spPr>
          <a:xfrm>
            <a:off x="8961120" y="1755648"/>
            <a:ext cx="2499055" cy="246888"/>
          </a:xfrm>
          <a:prstGeom prst="rect">
            <a:avLst/>
          </a:prstGeom>
          <a:noFill/>
          <a:ln/>
        </p:spPr>
        <p:txBody>
          <a:bodyPr wrap="square" lIns="0" tIns="0" rIns="0" bIns="0" rtlCol="0" anchor="t"/>
          <a:lstStyle/>
          <a:p>
            <a:pPr indent="0" marL="0">
              <a:buNone/>
            </a:pPr>
            <a:r>
              <a:rPr lang="en-US" sz="1200" b="1" dirty="0">
                <a:solidFill>
                  <a:schemeClr val="bg1"/>
                </a:solidFill>
              </a:rPr>
              <a:t>Rising 3.5 → 12 /min</a:t>
            </a:r>
            <a:endParaRPr lang="en-US" sz="1200" dirty="0"/>
          </a:p>
        </p:txBody>
      </p:sp>
      <p:sp>
        <p:nvSpPr>
          <p:cNvPr id="24" name="Text 20"/>
          <p:cNvSpPr txBox="1"/>
          <p:nvPr/>
        </p:nvSpPr>
        <p:spPr>
          <a:xfrm>
            <a:off x="8961120" y="2002536"/>
            <a:ext cx="2499055" cy="246888"/>
          </a:xfrm>
          <a:prstGeom prst="rect">
            <a:avLst/>
          </a:prstGeom>
          <a:noFill/>
          <a:ln/>
        </p:spPr>
        <p:txBody>
          <a:bodyPr wrap="square" lIns="0" tIns="0" rIns="0" bIns="0" rtlCol="0" anchor="t"/>
          <a:lstStyle/>
          <a:p>
            <a:pPr indent="0" marL="0">
              <a:buNone/>
            </a:pPr>
            <a:r>
              <a:rPr lang="en-US" sz="1100" dirty="0">
                <a:solidFill>
                  <a:srgbClr val="CADDDA"/>
                </a:solidFill>
              </a:rPr>
              <a:t>232 tickets · 95% within 10.2 s · 0 failed</a:t>
            </a:r>
            <a:endParaRPr lang="en-US" sz="1100" dirty="0"/>
          </a:p>
        </p:txBody>
      </p:sp>
      <p:sp>
        <p:nvSpPr>
          <p:cNvPr id="25" name="Text 21"/>
          <p:cNvSpPr txBox="1"/>
          <p:nvPr/>
        </p:nvSpPr>
        <p:spPr>
          <a:xfrm>
            <a:off x="8961120" y="2304288"/>
            <a:ext cx="2499055" cy="246888"/>
          </a:xfrm>
          <a:prstGeom prst="rect">
            <a:avLst/>
          </a:prstGeom>
          <a:noFill/>
          <a:ln/>
        </p:spPr>
        <p:txBody>
          <a:bodyPr wrap="square" lIns="0" tIns="0" rIns="0" bIns="0" rtlCol="0" anchor="t"/>
          <a:lstStyle/>
          <a:p>
            <a:pPr indent="0" marL="0">
              <a:buNone/>
            </a:pPr>
            <a:r>
              <a:rPr lang="en-US" sz="1200" b="1" dirty="0">
                <a:solidFill>
                  <a:schemeClr val="bg1"/>
                </a:solidFill>
              </a:rPr>
              <a:t>Steady 7.2 /min</a:t>
            </a:r>
            <a:endParaRPr lang="en-US" sz="1200" dirty="0"/>
          </a:p>
        </p:txBody>
      </p:sp>
      <p:sp>
        <p:nvSpPr>
          <p:cNvPr id="26" name="Text 22"/>
          <p:cNvSpPr txBox="1"/>
          <p:nvPr/>
        </p:nvSpPr>
        <p:spPr>
          <a:xfrm>
            <a:off x="8961120" y="2551176"/>
            <a:ext cx="2499055" cy="246888"/>
          </a:xfrm>
          <a:prstGeom prst="rect">
            <a:avLst/>
          </a:prstGeom>
          <a:noFill/>
          <a:ln/>
        </p:spPr>
        <p:txBody>
          <a:bodyPr wrap="square" lIns="0" tIns="0" rIns="0" bIns="0" rtlCol="0" anchor="t"/>
          <a:lstStyle/>
          <a:p>
            <a:pPr indent="0" marL="0">
              <a:buNone/>
            </a:pPr>
            <a:r>
              <a:rPr lang="en-US" sz="1100" dirty="0">
                <a:solidFill>
                  <a:srgbClr val="CADDDA"/>
                </a:solidFill>
              </a:rPr>
              <a:t>108 tickets · 95% within 8.7 s · 0 failed</a:t>
            </a:r>
            <a:endParaRPr lang="en-US" sz="1100" dirty="0"/>
          </a:p>
        </p:txBody>
      </p:sp>
      <p:sp>
        <p:nvSpPr>
          <p:cNvPr id="27" name="Text 23"/>
          <p:cNvSpPr txBox="1"/>
          <p:nvPr/>
        </p:nvSpPr>
        <p:spPr>
          <a:xfrm>
            <a:off x="8961120" y="2852928"/>
            <a:ext cx="2499055" cy="246888"/>
          </a:xfrm>
          <a:prstGeom prst="rect">
            <a:avLst/>
          </a:prstGeom>
          <a:noFill/>
          <a:ln/>
        </p:spPr>
        <p:txBody>
          <a:bodyPr wrap="square" lIns="0" tIns="0" rIns="0" bIns="0" rtlCol="0" anchor="t"/>
          <a:lstStyle/>
          <a:p>
            <a:pPr indent="0" marL="0">
              <a:buNone/>
            </a:pPr>
            <a:r>
              <a:rPr lang="en-US" sz="1200" b="1" dirty="0">
                <a:solidFill>
                  <a:schemeClr val="bg1"/>
                </a:solidFill>
              </a:rPr>
              <a:t>Steady 9.6 /min</a:t>
            </a:r>
            <a:endParaRPr lang="en-US" sz="1200" dirty="0"/>
          </a:p>
        </p:txBody>
      </p:sp>
      <p:sp>
        <p:nvSpPr>
          <p:cNvPr id="28" name="Text 24"/>
          <p:cNvSpPr txBox="1"/>
          <p:nvPr/>
        </p:nvSpPr>
        <p:spPr>
          <a:xfrm>
            <a:off x="8961120" y="3099816"/>
            <a:ext cx="2499055" cy="246888"/>
          </a:xfrm>
          <a:prstGeom prst="rect">
            <a:avLst/>
          </a:prstGeom>
          <a:noFill/>
          <a:ln/>
        </p:spPr>
        <p:txBody>
          <a:bodyPr wrap="square" lIns="0" tIns="0" rIns="0" bIns="0" rtlCol="0" anchor="t"/>
          <a:lstStyle/>
          <a:p>
            <a:pPr indent="0" marL="0">
              <a:buNone/>
            </a:pPr>
            <a:r>
              <a:rPr lang="en-US" sz="1100" dirty="0">
                <a:solidFill>
                  <a:srgbClr val="CADDDA"/>
                </a:solidFill>
              </a:rPr>
              <a:t>144 tickets · 95% within 17.3 s · 0 failed</a:t>
            </a:r>
            <a:endParaRPr lang="en-US" sz="1100" dirty="0"/>
          </a:p>
        </p:txBody>
      </p:sp>
      <p:sp>
        <p:nvSpPr>
          <p:cNvPr id="29" name="Text 25"/>
          <p:cNvSpPr txBox="1"/>
          <p:nvPr/>
        </p:nvSpPr>
        <p:spPr>
          <a:xfrm>
            <a:off x="8961120" y="3520440"/>
            <a:ext cx="2499055" cy="320040"/>
          </a:xfrm>
          <a:prstGeom prst="rect">
            <a:avLst/>
          </a:prstGeom>
          <a:noFill/>
          <a:ln/>
        </p:spPr>
        <p:txBody>
          <a:bodyPr wrap="square" lIns="0" tIns="0" rIns="0" bIns="0" rtlCol="0" anchor="t"/>
          <a:lstStyle/>
          <a:p>
            <a:pPr indent="0" marL="0">
              <a:buNone/>
            </a:pPr>
            <a:r>
              <a:rPr lang="en-US" sz="1400" b="1" dirty="0">
                <a:solidFill>
                  <a:schemeClr val="accent2"/>
                </a:solidFill>
                <a:latin typeface="Cambria" pitchFamily="34" charset="0"/>
                <a:ea typeface="Cambria" pitchFamily="34" charset="-122"/>
                <a:cs typeface="Cambria" pitchFamily="34" charset="-120"/>
              </a:rPr>
              <a:t>No limit found up to 12 /min</a:t>
            </a:r>
            <a:endParaRPr lang="en-US" sz="1400" dirty="0"/>
          </a:p>
        </p:txBody>
      </p:sp>
      <p:sp>
        <p:nvSpPr>
          <p:cNvPr id="30" name="Text 26"/>
          <p:cNvSpPr txBox="1"/>
          <p:nvPr/>
        </p:nvSpPr>
        <p:spPr>
          <a:xfrm>
            <a:off x="8961120" y="3858768"/>
            <a:ext cx="2499055" cy="868680"/>
          </a:xfrm>
          <a:prstGeom prst="rect">
            <a:avLst/>
          </a:prstGeom>
          <a:noFill/>
          <a:ln/>
        </p:spPr>
        <p:txBody>
          <a:bodyPr wrap="square" lIns="0" tIns="0" rIns="0" bIns="0" rtlCol="0" anchor="t"/>
          <a:lstStyle/>
          <a:p>
            <a:pPr indent="0" marL="0">
              <a:buNone/>
            </a:pPr>
            <a:r>
              <a:rPr lang="en-US" sz="1100" dirty="0">
                <a:solidFill>
                  <a:schemeClr val="bg1"/>
                </a:solidFill>
              </a:rPr>
              <a:t>It kept up at 9.6 /min, 5.5× the busiest hour, without delays growing. We estimate it tops out near 19 /min (60 s ÷ 3.1 s per ticket); not yet confirmed.</a:t>
            </a:r>
            <a:endParaRPr lang="en-US" sz="1100" dirty="0"/>
          </a:p>
        </p:txBody>
      </p:sp>
      <p:sp>
        <p:nvSpPr>
          <p:cNvPr id="31" name="Text 27"/>
          <p:cNvSpPr txBox="1"/>
          <p:nvPr/>
        </p:nvSpPr>
        <p:spPr>
          <a:xfrm>
            <a:off x="8961120" y="4709160"/>
            <a:ext cx="2499055" cy="320040"/>
          </a:xfrm>
          <a:prstGeom prst="rect">
            <a:avLst/>
          </a:prstGeom>
          <a:noFill/>
          <a:ln/>
        </p:spPr>
        <p:txBody>
          <a:bodyPr wrap="square" lIns="0" tIns="0" rIns="0" bIns="0" rtlCol="0" anchor="t"/>
          <a:lstStyle/>
          <a:p>
            <a:pPr indent="0" marL="0">
              <a:buNone/>
            </a:pPr>
            <a:r>
              <a:rPr lang="en-US" sz="1400" b="1" dirty="0">
                <a:solidFill>
                  <a:schemeClr val="accent2"/>
                </a:solidFill>
                <a:latin typeface="Cambria" pitchFamily="34" charset="0"/>
                <a:ea typeface="Cambria" pitchFamily="34" charset="-122"/>
                <a:cs typeface="Cambria" pitchFamily="34" charset="-120"/>
              </a:rPr>
              <a:t>Slow part: the AI model</a:t>
            </a:r>
            <a:endParaRPr lang="en-US" sz="1400" dirty="0"/>
          </a:p>
        </p:txBody>
      </p:sp>
      <p:sp>
        <p:nvSpPr>
          <p:cNvPr id="32" name="Text 28"/>
          <p:cNvSpPr txBox="1"/>
          <p:nvPr/>
        </p:nvSpPr>
        <p:spPr>
          <a:xfrm>
            <a:off x="8961120" y="5047488"/>
            <a:ext cx="2499055" cy="1143000"/>
          </a:xfrm>
          <a:prstGeom prst="rect">
            <a:avLst/>
          </a:prstGeom>
          <a:noFill/>
          <a:ln/>
        </p:spPr>
        <p:txBody>
          <a:bodyPr wrap="square" lIns="0" tIns="0" rIns="0" bIns="0" rtlCol="0" anchor="t"/>
          <a:lstStyle/>
          <a:p>
            <a:pPr indent="0" marL="0">
              <a:buNone/>
            </a:pPr>
            <a:r>
              <a:rPr lang="en-US" sz="1100" dirty="0">
                <a:solidFill>
                  <a:schemeClr val="bg1"/>
                </a:solidFill>
              </a:rPr>
              <a:t>Tickets wait under 0.1 s in our service, but up to 14.6 s (95%) in the model's own queue at 9.6 /min. The model keeps ~10 cores busy; our service under 7% of one.</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Only the large model sorts well, and it misses one category</a:t>
            </a:r>
            <a:endParaRPr lang="en-US" sz="3000" dirty="0"/>
          </a:p>
        </p:txBody>
      </p:sp>
      <p:graphicFrame>
        <p:nvGraphicFramePr>
          <p:cNvPr id="4" name="Chart 0" descr=""/>
          <p:cNvGraphicFramePr/>
          <p:nvPr/>
        </p:nvGraphicFramePr>
        <p:xfrm>
          <a:off x="548640" y="1234440"/>
          <a:ext cx="7223760" cy="50292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092440" y="1280160"/>
            <a:ext cx="3550615" cy="640080"/>
          </a:xfrm>
          <a:prstGeom prst="roundRect">
            <a:avLst>
              <a:gd name="adj" fmla="val 11429"/>
            </a:avLst>
          </a:prstGeom>
          <a:solidFill>
            <a:schemeClr val="bg2"/>
          </a:solidFill>
          <a:ln/>
        </p:spPr>
      </p:sp>
      <p:sp>
        <p:nvSpPr>
          <p:cNvPr id="6" name="Text 2"/>
          <p:cNvSpPr txBox="1"/>
          <p:nvPr/>
        </p:nvSpPr>
        <p:spPr>
          <a:xfrm>
            <a:off x="8229600" y="1280160"/>
            <a:ext cx="1188720" cy="640080"/>
          </a:xfrm>
          <a:prstGeom prst="rect">
            <a:avLst/>
          </a:prstGeom>
          <a:noFill/>
          <a:ln/>
        </p:spPr>
        <p:txBody>
          <a:bodyPr wrap="square" lIns="0" tIns="0" rIns="0" bIns="0" rtlCol="0" anchor="ctr"/>
          <a:lstStyle/>
          <a:p>
            <a:pPr indent="0" marL="0">
              <a:buNone/>
            </a:pPr>
            <a:r>
              <a:rPr lang="en-US" sz="1100" b="1" dirty="0">
                <a:solidFill>
                  <a:schemeClr val="tx2"/>
                </a:solidFill>
              </a:rPr>
              <a:t>qwen2.5:0.5b</a:t>
            </a:r>
            <a:endParaRPr lang="en-US" sz="1100" dirty="0"/>
          </a:p>
        </p:txBody>
      </p:sp>
      <p:sp>
        <p:nvSpPr>
          <p:cNvPr id="7" name="Text 3"/>
          <p:cNvSpPr txBox="1"/>
          <p:nvPr/>
        </p:nvSpPr>
        <p:spPr>
          <a:xfrm>
            <a:off x="9326880" y="1280160"/>
            <a:ext cx="1005840" cy="6400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17.9%</a:t>
            </a:r>
            <a:endParaRPr lang="en-US" sz="2000" dirty="0"/>
          </a:p>
        </p:txBody>
      </p:sp>
      <p:sp>
        <p:nvSpPr>
          <p:cNvPr id="8" name="Shape 4"/>
          <p:cNvSpPr/>
          <p:nvPr/>
        </p:nvSpPr>
        <p:spPr>
          <a:xfrm>
            <a:off x="10360152" y="1463040"/>
            <a:ext cx="566928" cy="274320"/>
          </a:xfrm>
          <a:prstGeom prst="roundRect">
            <a:avLst>
              <a:gd name="adj" fmla="val 50000"/>
            </a:avLst>
          </a:prstGeom>
          <a:solidFill>
            <a:schemeClr val="accent4"/>
          </a:solidFill>
          <a:ln/>
        </p:spPr>
      </p:sp>
      <p:sp>
        <p:nvSpPr>
          <p:cNvPr id="9" name="Text 5"/>
          <p:cNvSpPr txBox="1"/>
          <p:nvPr/>
        </p:nvSpPr>
        <p:spPr>
          <a:xfrm>
            <a:off x="10360152" y="1463040"/>
            <a:ext cx="566928" cy="274320"/>
          </a:xfrm>
          <a:prstGeom prst="rect">
            <a:avLst/>
          </a:prstGeom>
          <a:noFill/>
          <a:ln/>
        </p:spPr>
        <p:txBody>
          <a:bodyPr wrap="square" lIns="0" tIns="0" rIns="0" bIns="0" rtlCol="0" anchor="ctr"/>
          <a:lstStyle/>
          <a:p>
            <a:pPr algn="ctr" indent="0" marL="0">
              <a:buNone/>
            </a:pPr>
            <a:r>
              <a:rPr lang="en-US" sz="1100" b="1" dirty="0">
                <a:solidFill>
                  <a:schemeClr val="bg1"/>
                </a:solidFill>
              </a:rPr>
              <a:t>R4 ✗</a:t>
            </a:r>
            <a:endParaRPr lang="en-US" sz="1100" dirty="0"/>
          </a:p>
        </p:txBody>
      </p:sp>
      <p:sp>
        <p:nvSpPr>
          <p:cNvPr id="10" name="Shape 6"/>
          <p:cNvSpPr/>
          <p:nvPr/>
        </p:nvSpPr>
        <p:spPr>
          <a:xfrm>
            <a:off x="10972800" y="1463040"/>
            <a:ext cx="566928" cy="274320"/>
          </a:xfrm>
          <a:prstGeom prst="roundRect">
            <a:avLst>
              <a:gd name="adj" fmla="val 50000"/>
            </a:avLst>
          </a:prstGeom>
          <a:solidFill>
            <a:schemeClr val="accent4"/>
          </a:solidFill>
          <a:ln/>
        </p:spPr>
      </p:sp>
      <p:sp>
        <p:nvSpPr>
          <p:cNvPr id="11" name="Text 7"/>
          <p:cNvSpPr txBox="1"/>
          <p:nvPr/>
        </p:nvSpPr>
        <p:spPr>
          <a:xfrm>
            <a:off x="10972800" y="1463040"/>
            <a:ext cx="566928" cy="274320"/>
          </a:xfrm>
          <a:prstGeom prst="rect">
            <a:avLst/>
          </a:prstGeom>
          <a:noFill/>
          <a:ln/>
        </p:spPr>
        <p:txBody>
          <a:bodyPr wrap="square" lIns="0" tIns="0" rIns="0" bIns="0" rtlCol="0" anchor="ctr"/>
          <a:lstStyle/>
          <a:p>
            <a:pPr algn="ctr" indent="0" marL="0">
              <a:buNone/>
            </a:pPr>
            <a:r>
              <a:rPr lang="en-US" sz="1100" b="1" dirty="0">
                <a:solidFill>
                  <a:schemeClr val="bg1"/>
                </a:solidFill>
              </a:rPr>
              <a:t>R5 ✗</a:t>
            </a:r>
            <a:endParaRPr lang="en-US" sz="1100" dirty="0"/>
          </a:p>
        </p:txBody>
      </p:sp>
      <p:sp>
        <p:nvSpPr>
          <p:cNvPr id="12" name="Shape 8"/>
          <p:cNvSpPr/>
          <p:nvPr/>
        </p:nvSpPr>
        <p:spPr>
          <a:xfrm>
            <a:off x="8092440" y="2029968"/>
            <a:ext cx="3550615" cy="640080"/>
          </a:xfrm>
          <a:prstGeom prst="roundRect">
            <a:avLst>
              <a:gd name="adj" fmla="val 11429"/>
            </a:avLst>
          </a:prstGeom>
          <a:solidFill>
            <a:schemeClr val="bg2"/>
          </a:solidFill>
          <a:ln/>
        </p:spPr>
      </p:sp>
      <p:sp>
        <p:nvSpPr>
          <p:cNvPr id="13" name="Text 9"/>
          <p:cNvSpPr txBox="1"/>
          <p:nvPr/>
        </p:nvSpPr>
        <p:spPr>
          <a:xfrm>
            <a:off x="8229600" y="2029968"/>
            <a:ext cx="1188720" cy="640080"/>
          </a:xfrm>
          <a:prstGeom prst="rect">
            <a:avLst/>
          </a:prstGeom>
          <a:noFill/>
          <a:ln/>
        </p:spPr>
        <p:txBody>
          <a:bodyPr wrap="square" lIns="0" tIns="0" rIns="0" bIns="0" rtlCol="0" anchor="ctr"/>
          <a:lstStyle/>
          <a:p>
            <a:pPr indent="0" marL="0">
              <a:buNone/>
            </a:pPr>
            <a:r>
              <a:rPr lang="en-US" sz="1100" b="1" dirty="0">
                <a:solidFill>
                  <a:schemeClr val="tx2"/>
                </a:solidFill>
              </a:rPr>
              <a:t>llama3.2:1b</a:t>
            </a:r>
            <a:endParaRPr lang="en-US" sz="1100" dirty="0"/>
          </a:p>
        </p:txBody>
      </p:sp>
      <p:sp>
        <p:nvSpPr>
          <p:cNvPr id="14" name="Text 10"/>
          <p:cNvSpPr txBox="1"/>
          <p:nvPr/>
        </p:nvSpPr>
        <p:spPr>
          <a:xfrm>
            <a:off x="9326880" y="2029968"/>
            <a:ext cx="1005840" cy="6400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32.8%</a:t>
            </a:r>
            <a:endParaRPr lang="en-US" sz="2000" dirty="0"/>
          </a:p>
        </p:txBody>
      </p:sp>
      <p:sp>
        <p:nvSpPr>
          <p:cNvPr id="15" name="Shape 11"/>
          <p:cNvSpPr/>
          <p:nvPr/>
        </p:nvSpPr>
        <p:spPr>
          <a:xfrm>
            <a:off x="10360152" y="2212848"/>
            <a:ext cx="566928" cy="274320"/>
          </a:xfrm>
          <a:prstGeom prst="roundRect">
            <a:avLst>
              <a:gd name="adj" fmla="val 50000"/>
            </a:avLst>
          </a:prstGeom>
          <a:solidFill>
            <a:schemeClr val="accent4"/>
          </a:solidFill>
          <a:ln/>
        </p:spPr>
      </p:sp>
      <p:sp>
        <p:nvSpPr>
          <p:cNvPr id="16" name="Text 12"/>
          <p:cNvSpPr txBox="1"/>
          <p:nvPr/>
        </p:nvSpPr>
        <p:spPr>
          <a:xfrm>
            <a:off x="10360152" y="2212848"/>
            <a:ext cx="566928" cy="274320"/>
          </a:xfrm>
          <a:prstGeom prst="rect">
            <a:avLst/>
          </a:prstGeom>
          <a:noFill/>
          <a:ln/>
        </p:spPr>
        <p:txBody>
          <a:bodyPr wrap="square" lIns="0" tIns="0" rIns="0" bIns="0" rtlCol="0" anchor="ctr"/>
          <a:lstStyle/>
          <a:p>
            <a:pPr algn="ctr" indent="0" marL="0">
              <a:buNone/>
            </a:pPr>
            <a:r>
              <a:rPr lang="en-US" sz="1100" b="1" dirty="0">
                <a:solidFill>
                  <a:schemeClr val="bg1"/>
                </a:solidFill>
              </a:rPr>
              <a:t>R4 ✗</a:t>
            </a:r>
            <a:endParaRPr lang="en-US" sz="1100" dirty="0"/>
          </a:p>
        </p:txBody>
      </p:sp>
      <p:sp>
        <p:nvSpPr>
          <p:cNvPr id="17" name="Shape 13"/>
          <p:cNvSpPr/>
          <p:nvPr/>
        </p:nvSpPr>
        <p:spPr>
          <a:xfrm>
            <a:off x="10972800" y="2212848"/>
            <a:ext cx="566928" cy="274320"/>
          </a:xfrm>
          <a:prstGeom prst="roundRect">
            <a:avLst>
              <a:gd name="adj" fmla="val 50000"/>
            </a:avLst>
          </a:prstGeom>
          <a:solidFill>
            <a:schemeClr val="accent4"/>
          </a:solidFill>
          <a:ln/>
        </p:spPr>
      </p:sp>
      <p:sp>
        <p:nvSpPr>
          <p:cNvPr id="18" name="Text 14"/>
          <p:cNvSpPr txBox="1"/>
          <p:nvPr/>
        </p:nvSpPr>
        <p:spPr>
          <a:xfrm>
            <a:off x="10972800" y="2212848"/>
            <a:ext cx="566928" cy="274320"/>
          </a:xfrm>
          <a:prstGeom prst="rect">
            <a:avLst/>
          </a:prstGeom>
          <a:noFill/>
          <a:ln/>
        </p:spPr>
        <p:txBody>
          <a:bodyPr wrap="square" lIns="0" tIns="0" rIns="0" bIns="0" rtlCol="0" anchor="ctr"/>
          <a:lstStyle/>
          <a:p>
            <a:pPr algn="ctr" indent="0" marL="0">
              <a:buNone/>
            </a:pPr>
            <a:r>
              <a:rPr lang="en-US" sz="1100" b="1" dirty="0">
                <a:solidFill>
                  <a:schemeClr val="bg1"/>
                </a:solidFill>
              </a:rPr>
              <a:t>R5 ✗</a:t>
            </a:r>
            <a:endParaRPr lang="en-US" sz="1100" dirty="0"/>
          </a:p>
        </p:txBody>
      </p:sp>
      <p:sp>
        <p:nvSpPr>
          <p:cNvPr id="19" name="Shape 15"/>
          <p:cNvSpPr/>
          <p:nvPr/>
        </p:nvSpPr>
        <p:spPr>
          <a:xfrm>
            <a:off x="8092440" y="2779776"/>
            <a:ext cx="3550615" cy="640080"/>
          </a:xfrm>
          <a:prstGeom prst="roundRect">
            <a:avLst>
              <a:gd name="adj" fmla="val 11429"/>
            </a:avLst>
          </a:prstGeom>
          <a:solidFill>
            <a:schemeClr val="tx2"/>
          </a:solidFill>
          <a:ln/>
        </p:spPr>
      </p:sp>
      <p:sp>
        <p:nvSpPr>
          <p:cNvPr id="20" name="Text 16"/>
          <p:cNvSpPr txBox="1"/>
          <p:nvPr/>
        </p:nvSpPr>
        <p:spPr>
          <a:xfrm>
            <a:off x="8229600" y="2779776"/>
            <a:ext cx="1188720" cy="640080"/>
          </a:xfrm>
          <a:prstGeom prst="rect">
            <a:avLst/>
          </a:prstGeom>
          <a:noFill/>
          <a:ln/>
        </p:spPr>
        <p:txBody>
          <a:bodyPr wrap="square" lIns="0" tIns="0" rIns="0" bIns="0" rtlCol="0" anchor="ctr"/>
          <a:lstStyle/>
          <a:p>
            <a:pPr indent="0" marL="0">
              <a:buNone/>
            </a:pPr>
            <a:r>
              <a:rPr lang="en-US" sz="1100" b="1" dirty="0">
                <a:solidFill>
                  <a:schemeClr val="bg1"/>
                </a:solidFill>
              </a:rPr>
              <a:t>qwen2.5:7b</a:t>
            </a:r>
            <a:endParaRPr lang="en-US" sz="1100" dirty="0"/>
          </a:p>
        </p:txBody>
      </p:sp>
      <p:sp>
        <p:nvSpPr>
          <p:cNvPr id="21" name="Text 17"/>
          <p:cNvSpPr txBox="1"/>
          <p:nvPr/>
        </p:nvSpPr>
        <p:spPr>
          <a:xfrm>
            <a:off x="9326880" y="2779776"/>
            <a:ext cx="1005840" cy="64008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82.6%</a:t>
            </a:r>
            <a:endParaRPr lang="en-US" sz="2000" dirty="0"/>
          </a:p>
        </p:txBody>
      </p:sp>
      <p:sp>
        <p:nvSpPr>
          <p:cNvPr id="22" name="Shape 18"/>
          <p:cNvSpPr/>
          <p:nvPr/>
        </p:nvSpPr>
        <p:spPr>
          <a:xfrm>
            <a:off x="10360152" y="2962656"/>
            <a:ext cx="566928" cy="274320"/>
          </a:xfrm>
          <a:prstGeom prst="roundRect">
            <a:avLst>
              <a:gd name="adj" fmla="val 50000"/>
            </a:avLst>
          </a:prstGeom>
          <a:solidFill>
            <a:schemeClr val="accent3"/>
          </a:solidFill>
          <a:ln/>
        </p:spPr>
      </p:sp>
      <p:sp>
        <p:nvSpPr>
          <p:cNvPr id="23" name="Text 19"/>
          <p:cNvSpPr txBox="1"/>
          <p:nvPr/>
        </p:nvSpPr>
        <p:spPr>
          <a:xfrm>
            <a:off x="10360152" y="2962656"/>
            <a:ext cx="566928" cy="274320"/>
          </a:xfrm>
          <a:prstGeom prst="rect">
            <a:avLst/>
          </a:prstGeom>
          <a:noFill/>
          <a:ln/>
        </p:spPr>
        <p:txBody>
          <a:bodyPr wrap="square" lIns="0" tIns="0" rIns="0" bIns="0" rtlCol="0" anchor="ctr"/>
          <a:lstStyle/>
          <a:p>
            <a:pPr algn="ctr" indent="0" marL="0">
              <a:buNone/>
            </a:pPr>
            <a:r>
              <a:rPr lang="en-US" sz="1100" b="1" dirty="0">
                <a:solidFill>
                  <a:schemeClr val="bg1"/>
                </a:solidFill>
              </a:rPr>
              <a:t>R4 ✓</a:t>
            </a:r>
            <a:endParaRPr lang="en-US" sz="1100" dirty="0"/>
          </a:p>
        </p:txBody>
      </p:sp>
      <p:sp>
        <p:nvSpPr>
          <p:cNvPr id="24" name="Shape 20"/>
          <p:cNvSpPr/>
          <p:nvPr/>
        </p:nvSpPr>
        <p:spPr>
          <a:xfrm>
            <a:off x="10972800" y="2962656"/>
            <a:ext cx="566928" cy="274320"/>
          </a:xfrm>
          <a:prstGeom prst="roundRect">
            <a:avLst>
              <a:gd name="adj" fmla="val 50000"/>
            </a:avLst>
          </a:prstGeom>
          <a:solidFill>
            <a:schemeClr val="accent4"/>
          </a:solidFill>
          <a:ln/>
        </p:spPr>
      </p:sp>
      <p:sp>
        <p:nvSpPr>
          <p:cNvPr id="25" name="Text 21"/>
          <p:cNvSpPr txBox="1"/>
          <p:nvPr/>
        </p:nvSpPr>
        <p:spPr>
          <a:xfrm>
            <a:off x="10972800" y="2962656"/>
            <a:ext cx="566928" cy="274320"/>
          </a:xfrm>
          <a:prstGeom prst="rect">
            <a:avLst/>
          </a:prstGeom>
          <a:noFill/>
          <a:ln/>
        </p:spPr>
        <p:txBody>
          <a:bodyPr wrap="square" lIns="0" tIns="0" rIns="0" bIns="0" rtlCol="0" anchor="ctr"/>
          <a:lstStyle/>
          <a:p>
            <a:pPr algn="ctr" indent="0" marL="0">
              <a:buNone/>
            </a:pPr>
            <a:r>
              <a:rPr lang="en-US" sz="1100" b="1" dirty="0">
                <a:solidFill>
                  <a:schemeClr val="bg1"/>
                </a:solidFill>
              </a:rPr>
              <a:t>R5 ✗</a:t>
            </a:r>
            <a:endParaRPr lang="en-US" sz="1100" dirty="0"/>
          </a:p>
        </p:txBody>
      </p:sp>
      <p:sp>
        <p:nvSpPr>
          <p:cNvPr id="26" name="Text 22"/>
          <p:cNvSpPr txBox="1"/>
          <p:nvPr/>
        </p:nvSpPr>
        <p:spPr>
          <a:xfrm>
            <a:off x="8092440" y="3611880"/>
            <a:ext cx="3550615" cy="32004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Where each model goes wrong</a:t>
            </a:r>
            <a:endParaRPr lang="en-US" sz="1500" dirty="0"/>
          </a:p>
        </p:txBody>
      </p:sp>
      <p:sp>
        <p:nvSpPr>
          <p:cNvPr id="27" name="Text 23"/>
          <p:cNvSpPr txBox="1"/>
          <p:nvPr/>
        </p:nvSpPr>
        <p:spPr>
          <a:xfrm>
            <a:off x="8092440" y="3977640"/>
            <a:ext cx="3550615" cy="22860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Small Qwen puts 155 of 195 tickets (79%) in Credit card, whatever they say</a:t>
            </a:r>
            <a:endParaRPr lang="en-US" sz="1200" dirty="0"/>
          </a:p>
          <a:p>
            <a:pPr marL="342900" indent="-342900">
              <a:spcAft>
                <a:spcPts val="400"/>
              </a:spcAft>
              <a:buSzPct val="100000"/>
              <a:buChar char="•"/>
            </a:pPr>
            <a:r>
              <a:rPr lang="en-US" sz="1200" dirty="0">
                <a:solidFill>
                  <a:schemeClr val="tx1"/>
                </a:solidFill>
              </a:rPr>
              <a:t>Llama puts 121 (62%) in Credit reporting and gets none of the 24 consumer loans right</a:t>
            </a:r>
            <a:endParaRPr lang="en-US" sz="1200" dirty="0"/>
          </a:p>
          <a:p>
            <a:pPr marL="342900" indent="-342900">
              <a:spcAft>
                <a:spcPts val="400"/>
              </a:spcAft>
              <a:buSzPct val="100000"/>
              <a:buChar char="•"/>
            </a:pPr>
            <a:r>
              <a:rPr lang="en-US" sz="1200" dirty="0">
                <a:solidFill>
                  <a:schemeClr val="tx1"/>
                </a:solidFill>
              </a:rPr>
              <a:t>Large Qwen puts 9 of 30 money transfers in Bank account, the pair our own team argued over most. It needed 21 of 30 for R5 and got 20</a:t>
            </a:r>
            <a:endParaRPr lang="en-US" sz="1200" dirty="0"/>
          </a:p>
          <a:p>
            <a:pPr marL="342900" indent="-342900">
              <a:spcAft>
                <a:spcPts val="400"/>
              </a:spcAft>
              <a:buSzPct val="100000"/>
              <a:buChar char="•"/>
            </a:pPr>
            <a:r>
              <a:rPr lang="en-US" sz="1200" dirty="0">
                <a:solidFill>
                  <a:schemeClr val="tx1"/>
                </a:solidFill>
              </a:rPr>
              <a:t>Its other slips: 4 credit-report tickets put in Debt collection; 3 consumer loans in Credit reporting</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Right about the slow part, wrong about how slow</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269480" cy="914400"/>
        </p:xfrm>
        <a:graphic>
          <a:graphicData uri="http://schemas.openxmlformats.org/drawingml/2006/table">
            <a:tbl>
              <a:tblPr/>
              <a:tblGrid>
                <a:gridCol w="3063240"/>
                <a:gridCol w="3063240"/>
                <a:gridCol w="1143000"/>
              </a:tblGrid>
              <a:tr h="292608">
                <a:tc>
                  <a:txBody>
                    <a:bodyPr/>
                    <a:lstStyle/>
                    <a:p>
                      <a:pPr indent="0" marL="0">
                        <a:buNone/>
                      </a:pPr>
                      <a:r>
                        <a:rPr lang="en-US" sz="1100" b="1" dirty="0">
                          <a:solidFill>
                            <a:schemeClr val="bg1"/>
                          </a:solidFill>
                        </a:rPr>
                        <a:t>We predicted (before testing)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We measured</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c>
                  <a:txBody>
                    <a:bodyPr/>
                    <a:lstStyle/>
                    <a:p>
                      <a:pPr indent="0" marL="0">
                        <a:buNone/>
                      </a:pP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chemeClr val="tx2"/>
                    </a:solidFill>
                  </a:tcPr>
                </a:tc>
              </a:tr>
              <a:tr h="548640">
                <a:tc>
                  <a:txBody>
                    <a:bodyPr/>
                    <a:lstStyle/>
                    <a:p>
                      <a:pPr indent="0" marL="0">
                        <a:buNone/>
                      </a:pPr>
                      <a:r>
                        <a:rPr lang="en-US" sz="1100" dirty="0">
                          <a:solidFill>
                            <a:schemeClr val="tx1"/>
                          </a:solidFill>
                        </a:rPr>
                        <a:t>Slow part: the model reading each ticket; it keeps ≥ 9 cores busy, our service &lt; 10% of one</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Reading = 82% of the large model's time; ~10.4 cores busy; our service ≤ 6.8%</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3"/>
                          </a:solidFill>
                        </a:rPr>
                        <a:t>Right</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411480">
                <a:tc>
                  <a:txBody>
                    <a:bodyPr/>
                    <a:lstStyle/>
                    <a:p>
                      <a:pPr indent="0" marL="0">
                        <a:buNone/>
                      </a:pPr>
                      <a:r>
                        <a:rPr lang="en-US" sz="1100" dirty="0">
                          <a:solidFill>
                            <a:schemeClr val="tx1"/>
                          </a:solidFill>
                        </a:rPr>
                        <a:t>Typical time per ticket: 0.8 / 0.9 / 6.1 s (small Qwen / Llama / large Qwen)</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0.40 / 0.46 / 2.84 s: about half</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4"/>
                          </a:solidFill>
                        </a:rPr>
                        <a:t>Wrong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02920">
                <a:tc>
                  <a:txBody>
                    <a:bodyPr/>
                    <a:lstStyle/>
                    <a:p>
                      <a:pPr indent="0" marL="0">
                        <a:buNone/>
                      </a:pPr>
                      <a:r>
                        <a:rPr lang="en-US" sz="1100" dirty="0">
                          <a:solidFill>
                            <a:schemeClr val="tx1"/>
                          </a:solidFill>
                        </a:rPr>
                        <a:t>Large model overwhelmed near 9.4 /min; delays grow without end at 9.6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Kept up at 9.6 /min: 95% within 17.3 s, none failed</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4"/>
                          </a:solidFill>
                        </a:rPr>
                        <a:t>Wrong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329184">
                <a:tc>
                  <a:txBody>
                    <a:bodyPr/>
                    <a:lstStyle/>
                    <a:p>
                      <a:pPr indent="0" marL="0">
                        <a:buNone/>
                      </a:pPr>
                      <a:r>
                        <a:rPr lang="en-US" sz="1100" dirty="0">
                          <a:solidFill>
                            <a:schemeClr val="tx1"/>
                          </a:solidFill>
                        </a:rPr>
                        <a:t>Accuracy 45% / 55% / 78%</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17.9% / 32.8% / 82.6%</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4"/>
                          </a:solidFill>
                        </a:rPr>
                        <a:t>2 of 3 wrong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411480">
                <a:tc>
                  <a:txBody>
                    <a:bodyPr/>
                    <a:lstStyle/>
                    <a:p>
                      <a:pPr indent="0" marL="0">
                        <a:buNone/>
                      </a:pPr>
                      <a:r>
                        <a:rPr lang="en-US" sz="1100" dirty="0">
                          <a:solidFill>
                            <a:schemeClr val="tx1"/>
                          </a:solidFill>
                        </a:rPr>
                        <a:t>Small Qwen over-uses Credit reporting (&gt; 35% of answers)</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It over-uses Credit card instead (79%)</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4"/>
                          </a:solidFill>
                        </a:rPr>
                        <a:t>Wrong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566928">
                <a:tc>
                  <a:txBody>
                    <a:bodyPr/>
                    <a:lstStyle/>
                    <a:p>
                      <a:pPr indent="0" marL="0">
                        <a:buNone/>
                      </a:pPr>
                      <a:r>
                        <a:rPr lang="en-US" sz="1100" dirty="0">
                          <a:solidFill>
                            <a:schemeClr val="tx1"/>
                          </a:solidFill>
                        </a:rPr>
                        <a:t>Hardest: Debt collection, Consumer loan; ≥ 25% of money transfers put in Bank account</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Money transfer 66.7% (30% put in Bank account), Consumer loan 70.8%; but Debt collection 82.4%</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3"/>
                          </a:solidFill>
                        </a:rPr>
                        <a:t>Mostly right</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r h="411480">
                <a:tc>
                  <a:txBody>
                    <a:bodyPr/>
                    <a:lstStyle/>
                    <a:p>
                      <a:pPr indent="0" marL="0">
                        <a:buNone/>
                      </a:pPr>
                      <a:r>
                        <a:rPr lang="en-US" sz="1100" dirty="0">
                          <a:solidFill>
                            <a:schemeClr val="tx1"/>
                          </a:solidFill>
                        </a:rPr>
                        <a:t>95% of searches answered in under 0.1 s</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dirty="0">
                          <a:solidFill>
                            <a:schemeClr val="tx1"/>
                          </a:solidFill>
                        </a:rPr>
                        <a:t>0.22–0.46 s as JMeter sees it (under 7 ms inside the system)</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c>
                  <a:txBody>
                    <a:bodyPr/>
                    <a:lstStyle/>
                    <a:p>
                      <a:pPr indent="0" marL="0">
                        <a:buNone/>
                      </a:pPr>
                      <a:r>
                        <a:rPr lang="en-US" sz="1100" b="1" dirty="0">
                          <a:solidFill>
                            <a:schemeClr val="accent4"/>
                          </a:solidFill>
                        </a:rPr>
                        <a:t>Wrong</a:t>
                      </a:r>
                      <a:endParaRPr lang="en-US" sz="11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tcPr>
                </a:tc>
              </a:tr>
            </a:tbl>
          </a:graphicData>
        </a:graphic>
      </p:graphicFrame>
      <p:sp>
        <p:nvSpPr>
          <p:cNvPr id="5" name="Text 1"/>
          <p:cNvSpPr txBox="1"/>
          <p:nvPr/>
        </p:nvSpPr>
        <p:spPr>
          <a:xfrm>
            <a:off x="548640" y="5029200"/>
            <a:ext cx="7269480" cy="1234440"/>
          </a:xfrm>
          <a:prstGeom prst="rect">
            <a:avLst/>
          </a:prstGeom>
          <a:noFill/>
          <a:ln/>
        </p:spPr>
        <p:txBody>
          <a:bodyPr wrap="square" lIns="0" tIns="0" rIns="0" bIns="0" rtlCol="0" anchor="t"/>
          <a:lstStyle/>
          <a:p>
            <a:pPr indent="0" marL="0">
              <a:buNone/>
            </a:pPr>
            <a:r>
              <a:rPr lang="en-US" sz="1200" b="1" dirty="0">
                <a:solidFill>
                  <a:schemeClr val="tx2"/>
                </a:solidFill>
              </a:rPr>
              <a:t>Why we were wrong: </a:t>
            </a:r>
            <a:pPr indent="0" marL="0">
              <a:buNone/>
            </a:pPr>
            <a:r>
              <a:rPr lang="en-US" sz="1200" dirty="0">
                <a:solidFill>
                  <a:schemeClr val="tx1"/>
                </a:solidFill>
              </a:rPr>
              <a:t>we estimated speed from an early trial whose instructions to the model were longer (about 170 extra word-pieces), so every time came out about twice too slow. We did not expect the small models, given only category names, to put nearly everything in one category. Search time is mostly Wi-Fi, not the database.</a:t>
            </a:r>
            <a:endParaRPr lang="en-US" sz="1200" dirty="0"/>
          </a:p>
        </p:txBody>
      </p:sp>
      <p:sp>
        <p:nvSpPr>
          <p:cNvPr id="6" name="Shape 2"/>
          <p:cNvSpPr/>
          <p:nvPr/>
        </p:nvSpPr>
        <p:spPr>
          <a:xfrm>
            <a:off x="8092440" y="1280160"/>
            <a:ext cx="3550615" cy="4983480"/>
          </a:xfrm>
          <a:prstGeom prst="roundRect">
            <a:avLst>
              <a:gd name="adj" fmla="val 2060"/>
            </a:avLst>
          </a:prstGeom>
          <a:solidFill>
            <a:schemeClr val="tx2"/>
          </a:solidFill>
          <a:ln/>
        </p:spPr>
      </p:sp>
      <p:sp>
        <p:nvSpPr>
          <p:cNvPr id="7" name="Text 3"/>
          <p:cNvSpPr txBox="1"/>
          <p:nvPr/>
        </p:nvSpPr>
        <p:spPr>
          <a:xfrm>
            <a:off x="8321040" y="1417320"/>
            <a:ext cx="3093415" cy="274320"/>
          </a:xfrm>
          <a:prstGeom prst="rect">
            <a:avLst/>
          </a:prstGeom>
          <a:noFill/>
          <a:ln/>
        </p:spPr>
        <p:txBody>
          <a:bodyPr wrap="square" lIns="0" tIns="0" rIns="0" bIns="0" rtlCol="0" anchor="t"/>
          <a:lstStyle/>
          <a:p>
            <a:pPr indent="0" marL="0">
              <a:buNone/>
            </a:pPr>
            <a:r>
              <a:rPr lang="en-US" sz="1100" b="1" spc="100" kern="0" dirty="0">
                <a:solidFill>
                  <a:srgbClr val="9BC1BC"/>
                </a:solidFill>
              </a:rPr>
              <a:t>WE RECOMMEND</a:t>
            </a:r>
            <a:endParaRPr lang="en-US" sz="1100" dirty="0"/>
          </a:p>
        </p:txBody>
      </p:sp>
      <p:sp>
        <p:nvSpPr>
          <p:cNvPr id="8" name="Text 4"/>
          <p:cNvSpPr txBox="1"/>
          <p:nvPr/>
        </p:nvSpPr>
        <p:spPr>
          <a:xfrm>
            <a:off x="8321040" y="1691640"/>
            <a:ext cx="3093415" cy="45720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qwen2.5:7b</a:t>
            </a:r>
            <a:endParaRPr lang="en-US" sz="2600" dirty="0"/>
          </a:p>
        </p:txBody>
      </p:sp>
      <p:sp>
        <p:nvSpPr>
          <p:cNvPr id="9" name="Text 5"/>
          <p:cNvSpPr txBox="1"/>
          <p:nvPr/>
        </p:nvSpPr>
        <p:spPr>
          <a:xfrm>
            <a:off x="8321040" y="2240280"/>
            <a:ext cx="3093415" cy="2011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rPr>
              <a:t>Meets R1–R4: 95% of tickets in 6.1 s (target 30), searches in 0.46 s (target 1), no failures, 82.6% correct (target 80)</a:t>
            </a:r>
            <a:endParaRPr lang="en-US" sz="1200" dirty="0"/>
          </a:p>
          <a:p>
            <a:pPr marL="342900" indent="-342900">
              <a:spcAft>
                <a:spcPts val="500"/>
              </a:spcAft>
              <a:buSzPct val="100000"/>
              <a:buChar char="•"/>
            </a:pPr>
            <a:r>
              <a:rPr lang="en-US" sz="1200" dirty="0">
                <a:solidFill>
                  <a:schemeClr val="bg1"/>
                </a:solidFill>
              </a:rPr>
              <a:t>Its licence (Apache 2.0 [11]) allows commercial use; runs on one standard server</a:t>
            </a:r>
            <a:endParaRPr lang="en-US" sz="1200" dirty="0"/>
          </a:p>
          <a:p>
            <a:pPr marL="342900" indent="-342900">
              <a:spcAft>
                <a:spcPts val="500"/>
              </a:spcAft>
              <a:buSzPct val="100000"/>
              <a:buChar char="•"/>
            </a:pPr>
            <a:r>
              <a:rPr lang="en-US" sz="1200" dirty="0">
                <a:solidFill>
                  <a:schemeClr val="bg1"/>
                </a:solidFill>
              </a:rPr>
              <a:t>The small models are 47–62 points short on accuracy. We value correct routing over speed, so being faster does not save them</a:t>
            </a:r>
            <a:endParaRPr lang="en-US" sz="1200" dirty="0"/>
          </a:p>
        </p:txBody>
      </p:sp>
      <p:sp>
        <p:nvSpPr>
          <p:cNvPr id="10" name="Shape 6"/>
          <p:cNvSpPr/>
          <p:nvPr/>
        </p:nvSpPr>
        <p:spPr>
          <a:xfrm>
            <a:off x="8275320" y="4343400"/>
            <a:ext cx="3184855" cy="1783080"/>
          </a:xfrm>
          <a:prstGeom prst="roundRect">
            <a:avLst>
              <a:gd name="adj" fmla="val 4103"/>
            </a:avLst>
          </a:prstGeom>
          <a:solidFill>
            <a:srgbClr val="1B4A50"/>
          </a:solidFill>
          <a:ln/>
        </p:spPr>
      </p:sp>
      <p:sp>
        <p:nvSpPr>
          <p:cNvPr id="11" name="Text 7"/>
          <p:cNvSpPr txBox="1"/>
          <p:nvPr/>
        </p:nvSpPr>
        <p:spPr>
          <a:xfrm>
            <a:off x="8458200" y="4434840"/>
            <a:ext cx="2819095" cy="274320"/>
          </a:xfrm>
          <a:prstGeom prst="rect">
            <a:avLst/>
          </a:prstGeom>
          <a:noFill/>
          <a:ln/>
        </p:spPr>
        <p:txBody>
          <a:bodyPr wrap="square" lIns="0" tIns="0" rIns="0" bIns="0" rtlCol="0" anchor="t"/>
          <a:lstStyle/>
          <a:p>
            <a:pPr indent="0" marL="0">
              <a:buNone/>
            </a:pPr>
            <a:r>
              <a:rPr lang="en-US" sz="1300" b="1" dirty="0">
                <a:solidFill>
                  <a:schemeClr val="accent2"/>
                </a:solidFill>
              </a:rPr>
              <a:t>Stated plainly</a:t>
            </a:r>
            <a:endParaRPr lang="en-US" sz="1300" dirty="0"/>
          </a:p>
        </p:txBody>
      </p:sp>
      <p:sp>
        <p:nvSpPr>
          <p:cNvPr id="12" name="Text 8"/>
          <p:cNvSpPr txBox="1"/>
          <p:nvPr/>
        </p:nvSpPr>
        <p:spPr>
          <a:xfrm>
            <a:off x="8458200" y="4727448"/>
            <a:ext cx="2819095" cy="1371600"/>
          </a:xfrm>
          <a:prstGeom prst="rect">
            <a:avLst/>
          </a:prstGeom>
          <a:noFill/>
          <a:ln/>
        </p:spPr>
        <p:txBody>
          <a:bodyPr wrap="square" lIns="0" tIns="0" rIns="0" bIns="0" rtlCol="0" anchor="t"/>
          <a:lstStyle/>
          <a:p>
            <a:pPr indent="0" marL="0">
              <a:buNone/>
            </a:pPr>
            <a:r>
              <a:rPr lang="en-US" sz="1100" dirty="0">
                <a:solidFill>
                  <a:schemeClr val="bg1"/>
                </a:solidFill>
              </a:rPr>
              <a:t>No model meets every target. All three miss R5: the large model gets 66.7% of money transfers right, one ticket short of 70%. Until better instructions are tried in Assignment 2, staff should double-check tickets sorted into Money transfer or Bank account.</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References and acknowledgements</a:t>
            </a:r>
            <a:endParaRPr lang="en-US" sz="3000" dirty="0"/>
          </a:p>
        </p:txBody>
      </p:sp>
      <p:sp>
        <p:nvSpPr>
          <p:cNvPr id="4" name="Text 1"/>
          <p:cNvSpPr txBox="1"/>
          <p:nvPr/>
        </p:nvSpPr>
        <p:spPr>
          <a:xfrm>
            <a:off x="548640" y="1280160"/>
            <a:ext cx="5364328" cy="416052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[1] Ollama, "Ollama," ver. 0.35.1, MIT License. [Online]. Available: https://github.com/ollama/ollama. Accessed: Oct. 9, 2026.</a:t>
            </a:r>
            <a:endParaRPr lang="en-US" sz="1100" dirty="0"/>
          </a:p>
          <a:p>
            <a:pPr indent="0" marL="0">
              <a:spcAft>
                <a:spcPts val="600"/>
              </a:spcAft>
              <a:buNone/>
            </a:pPr>
            <a:r>
              <a:rPr lang="en-US" sz="1100" dirty="0">
                <a:solidFill>
                  <a:schemeClr val="tx1"/>
                </a:solidFill>
              </a:rPr>
              <a:t>[2] The Apache Software Foundation, "Apache JMeter," ver. 5.6.3. [Online]. Available: https://jmeter.apache.org/. Accessed: Oct. 9, 2026.</a:t>
            </a:r>
            <a:endParaRPr lang="en-US" sz="1100" dirty="0"/>
          </a:p>
          <a:p>
            <a:pPr indent="0" marL="0">
              <a:spcAft>
                <a:spcPts val="600"/>
              </a:spcAft>
              <a:buNone/>
            </a:pPr>
            <a:r>
              <a:rPr lang="en-US" sz="1100" dirty="0">
                <a:solidFill>
                  <a:schemeClr val="tx1"/>
                </a:solidFill>
              </a:rPr>
              <a:t>[3] Lloyds Banking Group, "Complaints publication report: Bank of Scotland plc, 1 July to 31 December 2025," 2026. [Online]. Available: https://www.lloydsbankinggroup.com/assets/pdfs/who-we-are/customer-complaints/2025/h2-2025/bank-of-scotland-plc.pdf. Accessed: Oct. 9, 2026.</a:t>
            </a:r>
            <a:endParaRPr lang="en-US" sz="1100" dirty="0"/>
          </a:p>
          <a:p>
            <a:pPr indent="0" marL="0">
              <a:spcAft>
                <a:spcPts val="600"/>
              </a:spcAft>
              <a:buNone/>
            </a:pPr>
            <a:r>
              <a:rPr lang="en-US" sz="1100" dirty="0">
                <a:solidFill>
                  <a:schemeClr val="tx1"/>
                </a:solidFill>
              </a:rPr>
              <a:t>[4] Financial Conduct Authority, "Aggregate complaints data: 2025 H2," 2026. [Online]. Available: https://www.fca.org.uk/data/complaints-data/aggregate-complaints-data-2025-h2. Accessed: Oct. 9, 2026.</a:t>
            </a:r>
            <a:endParaRPr lang="en-US" sz="1100" dirty="0"/>
          </a:p>
          <a:p>
            <a:pPr indent="0" marL="0">
              <a:spcAft>
                <a:spcPts val="600"/>
              </a:spcAft>
              <a:buNone/>
            </a:pPr>
            <a:r>
              <a:rPr lang="en-US" sz="1100" dirty="0">
                <a:solidFill>
                  <a:schemeClr val="tx1"/>
                </a:solidFill>
              </a:rPr>
              <a:t>[5] L. Brown, N. Gans, A. Mandelbaum, A. Sakov, H. Shen, S. Zeltyn, and L. Zhao, "Statistical analysis of a telephone call center: A queueing-science perspective," J. Amer. Statist. Assoc., vol. 100, no. 469, pp. 36–50, 2005, doi: 10.2307/27590517.</a:t>
            </a:r>
            <a:endParaRPr lang="en-US" sz="1100" dirty="0"/>
          </a:p>
          <a:p>
            <a:pPr indent="0" marL="0">
              <a:spcAft>
                <a:spcPts val="600"/>
              </a:spcAft>
              <a:buNone/>
            </a:pPr>
            <a:r>
              <a:rPr lang="en-US" sz="1100" dirty="0">
                <a:solidFill>
                  <a:schemeClr val="tx1"/>
                </a:solidFill>
              </a:rPr>
              <a:t>[6] Soon, "How many agents do you need for 500 calls a day?" [Online]. Available: https://soon.works/staffing/call-center/500-calls-per-day. Accessed: Oct. 9, 2026.</a:t>
            </a:r>
            <a:endParaRPr lang="en-US" sz="1100" dirty="0"/>
          </a:p>
        </p:txBody>
      </p:sp>
      <p:sp>
        <p:nvSpPr>
          <p:cNvPr id="5" name="Text 2"/>
          <p:cNvSpPr txBox="1"/>
          <p:nvPr/>
        </p:nvSpPr>
        <p:spPr>
          <a:xfrm>
            <a:off x="6278728" y="1280160"/>
            <a:ext cx="5364328" cy="4160520"/>
          </a:xfrm>
          <a:prstGeom prst="rect">
            <a:avLst/>
          </a:prstGeom>
          <a:noFill/>
          <a:ln/>
        </p:spPr>
        <p:txBody>
          <a:bodyPr wrap="square" lIns="0" tIns="0" rIns="0" bIns="0" rtlCol="0" anchor="t"/>
          <a:lstStyle/>
          <a:p>
            <a:pPr indent="0" marL="0">
              <a:spcAft>
                <a:spcPts val="600"/>
              </a:spcAft>
              <a:buNone/>
            </a:pPr>
            <a:r>
              <a:rPr lang="en-US" sz="1100" dirty="0">
                <a:solidFill>
                  <a:schemeClr val="tx1"/>
                </a:solidFill>
              </a:rPr>
              <a:t>[7] Financial Conduct Authority, "Complaint," FCA Handbook Glossary. [Online]. Available: https://www.handbook.fca.org.uk/handbook/glossary/G197.html. Accessed: Oct. 9, 2026.</a:t>
            </a:r>
            <a:endParaRPr lang="en-US" sz="1100" dirty="0"/>
          </a:p>
          <a:p>
            <a:pPr indent="0" marL="0">
              <a:spcAft>
                <a:spcPts val="600"/>
              </a:spcAft>
              <a:buNone/>
            </a:pPr>
            <a:r>
              <a:rPr lang="en-US" sz="1100" dirty="0">
                <a:solidFill>
                  <a:schemeClr val="tx1"/>
                </a:solidFill>
              </a:rPr>
              <a:t>[8] Consumer Financial Protection Bureau, "Consumer Complaint Database." [Online]. Available: https://www.consumerfinance.gov/data-research/consumer-complaints/. Course extract (rows 3000–3999) provided by Singapore Institute of Technology for ICT3113 via xSiTe.</a:t>
            </a:r>
            <a:endParaRPr lang="en-US" sz="1100" dirty="0"/>
          </a:p>
          <a:p>
            <a:pPr indent="0" marL="0">
              <a:spcAft>
                <a:spcPts val="600"/>
              </a:spcAft>
              <a:buNone/>
            </a:pPr>
            <a:r>
              <a:rPr lang="en-US" sz="1100" dirty="0">
                <a:solidFill>
                  <a:schemeClr val="tx1"/>
                </a:solidFill>
              </a:rPr>
              <a:t>[9] J. Nielsen, "Response times: The 3 important limits," Nielsen Norman Group, Jan. 1, 1993. [Online]. Available: https://www.nngroup.com/articles/response-times-3-important-limits/. Accessed: Oct. 9, 2026.</a:t>
            </a:r>
            <a:endParaRPr lang="en-US" sz="1100" dirty="0"/>
          </a:p>
          <a:p>
            <a:pPr indent="0" marL="0">
              <a:spcAft>
                <a:spcPts val="600"/>
              </a:spcAft>
              <a:buNone/>
            </a:pPr>
            <a:r>
              <a:rPr lang="en-US" sz="1100" dirty="0">
                <a:solidFill>
                  <a:schemeClr val="tx1"/>
                </a:solidFill>
              </a:rPr>
              <a:t>[10] A. Yang et al., "Qwen2.5 technical report," 2024, arXiv:2412.15115.</a:t>
            </a:r>
            <a:endParaRPr lang="en-US" sz="1100" dirty="0"/>
          </a:p>
          <a:p>
            <a:pPr indent="0" marL="0">
              <a:spcAft>
                <a:spcPts val="600"/>
              </a:spcAft>
              <a:buNone/>
            </a:pPr>
            <a:r>
              <a:rPr lang="en-US" sz="1100" dirty="0">
                <a:solidFill>
                  <a:schemeClr val="tx1"/>
                </a:solidFill>
              </a:rPr>
              <a:t>[11] The Apache Software Foundation, "Apache License, Version 2.0," Jan. 2004. [Online]. Available: https://www.apache.org/licenses/LICENSE-2.0. Accessed: Oct. 9, 2026.</a:t>
            </a:r>
            <a:endParaRPr lang="en-US" sz="1100" dirty="0"/>
          </a:p>
          <a:p>
            <a:pPr indent="0" marL="0">
              <a:spcAft>
                <a:spcPts val="600"/>
              </a:spcAft>
              <a:buNone/>
            </a:pPr>
            <a:r>
              <a:rPr lang="en-US" sz="1100" dirty="0">
                <a:solidFill>
                  <a:schemeClr val="tx1"/>
                </a:solidFill>
              </a:rPr>
              <a:t>[12] Meta Platforms, "Llama 3.2 Community License Agreement," Sep. 25, 2024. [Online]. Available: https://www.llama.com/llama3_2/license/. Accessed: Oct. 9, 2026.</a:t>
            </a:r>
            <a:endParaRPr lang="en-US" sz="1100" dirty="0"/>
          </a:p>
        </p:txBody>
      </p:sp>
      <p:sp>
        <p:nvSpPr>
          <p:cNvPr id="6" name="Shape 3"/>
          <p:cNvSpPr/>
          <p:nvPr/>
        </p:nvSpPr>
        <p:spPr>
          <a:xfrm>
            <a:off x="548640" y="5532120"/>
            <a:ext cx="11094415" cy="731520"/>
          </a:xfrm>
          <a:prstGeom prst="roundRect">
            <a:avLst>
              <a:gd name="adj" fmla="val 10000"/>
            </a:avLst>
          </a:prstGeom>
          <a:solidFill>
            <a:schemeClr val="bg2"/>
          </a:solidFill>
          <a:ln/>
        </p:spPr>
      </p:sp>
      <p:sp>
        <p:nvSpPr>
          <p:cNvPr id="7" name="Text 4"/>
          <p:cNvSpPr txBox="1"/>
          <p:nvPr/>
        </p:nvSpPr>
        <p:spPr>
          <a:xfrm>
            <a:off x="777240" y="5532120"/>
            <a:ext cx="10637215" cy="731520"/>
          </a:xfrm>
          <a:prstGeom prst="rect">
            <a:avLst/>
          </a:prstGeom>
          <a:noFill/>
          <a:ln/>
        </p:spPr>
        <p:txBody>
          <a:bodyPr wrap="square" lIns="0" tIns="0" rIns="0" bIns="0" rtlCol="0" anchor="ctr"/>
          <a:lstStyle/>
          <a:p>
            <a:pPr indent="0" marL="0">
              <a:buNone/>
            </a:pPr>
            <a:r>
              <a:rPr lang="en-US" sz="1100" b="1" dirty="0">
                <a:solidFill>
                  <a:schemeClr val="tx2"/>
                </a:solidFill>
              </a:rPr>
              <a:t>Acknowledgements.  </a:t>
            </a:r>
            <a:pPr indent="0" marL="0">
              <a:buNone/>
            </a:pPr>
            <a:r>
              <a:rPr lang="en-US" sz="1100" dirty="0">
                <a:solidFill>
                  <a:schemeClr val="tx1"/>
                </a:solidFill>
              </a:rPr>
              <a:t>Complaint narratives published by the CFPB with consumer consent, personal data removed at source. Built with Llama. AI coding tools (Claude Code) helped build the service and test scripts and draft documents; all labels, test runs and the recommendation are the team's own.</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riage Ledger">
  <a:themeElements>
    <a:clrScheme name="Triage Ledger">
      <a:dk1>
        <a:srgbClr val="1B2A30"/>
      </a:dk1>
      <a:lt1>
        <a:srgbClr val="FFFFFF"/>
      </a:lt1>
      <a:dk2>
        <a:srgbClr val="12343B"/>
      </a:dk2>
      <a:lt2>
        <a:srgbClr val="EEF3F2"/>
      </a:lt2>
      <a:accent1>
        <a:srgbClr val="0F6E6E"/>
      </a:accent1>
      <a:accent2>
        <a:srgbClr val="D9962B"/>
      </a:accent2>
      <a:accent3>
        <a:srgbClr val="2E7D4F"/>
      </a:accent3>
      <a:accent4>
        <a:srgbClr val="B83A2E"/>
      </a:accent4>
      <a:accent5>
        <a:srgbClr val="5F747B"/>
      </a:accent5>
      <a:accent6>
        <a:srgbClr val="9BC1BC"/>
      </a:accent6>
      <a:hlink>
        <a:srgbClr val="0F6E6E"/>
      </a:hlink>
      <a:folHlink>
        <a:srgbClr val="5F747B"/>
      </a:folHlink>
    </a:clrScheme>
    <a:fontScheme name="Triage Led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 Triage on CPU-only Hardware</dc:title>
  <dc:subject>PptxGenJS Presentation</dc:subject>
  <dc:creator>Group P1-3</dc:creator>
  <cp:lastModifiedBy>Group P1-3</cp:lastModifiedBy>
  <cp:revision>1</cp:revision>
  <dcterms:created xsi:type="dcterms:W3CDTF">2026-10-09T06:25:34Z</dcterms:created>
  <dcterms:modified xsi:type="dcterms:W3CDTF">2026-10-09T06:25:34Z</dcterms:modified>
</cp:coreProperties>
</file>