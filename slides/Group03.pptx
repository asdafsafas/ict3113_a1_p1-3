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0be89e4-fb38-bdb4-915a-131348b6baa1}">
          <p14:sldIdLst>
            <p14:sldId id="256"/>
          </p14:sldIdLst>
        </p14:section>
        <p14:section name="System and workload" id="{63c07d94-5f8d-2bdf-bdcd-ceb515c73309}">
          <p14:sldIdLst>
            <p14:sldId id="257"/>
            <p14:sldId id="258"/>
          </p14:sldIdLst>
        </p14:section>
        <p14:section name="Requirements and candidates" id="{0027618d-8779-e849-4297-c0dbdb973ad6}">
          <p14:sldIdLst>
            <p14:sldId id="259"/>
            <p14:sldId id="260"/>
          </p14:sldIdLst>
        </p14:section>
        <p14:section name="Golden set and testing" id="{85547ecd-d3a9-7cdf-d0a4-14bf98472614}">
          <p14:sldIdLst>
            <p14:sldId id="261"/>
            <p14:sldId id="262"/>
            <p14:sldId id="263"/>
          </p14:sldIdLst>
        </p14:section>
        <p14:section name="Results and recommendation" id="{6a2fac3c-fa64-f15c-eef4-946fe0026c08}">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Ticket length in characters (our 1,000)</a:t>
            </a:r>
          </a:p>
        </c:rich>
      </c:tx>
      <c:layout/>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cat>
            <c:multiLvlStrRef>
              <c:f>Sheet1!$A$2:$A$8</c:f>
              <c:multiLvlStrCache>
                <c:ptCount val="7"/>
                <c:lvl>
                  <c:pt idx="0">
                    <c:v>5%</c:v>
                  </c:pt>
                  <c:pt idx="1">
                    <c:v>25%</c:v>
                  </c:pt>
                  <c:pt idx="2">
                    <c:v>50%</c:v>
                  </c:pt>
                  <c:pt idx="3">
                    <c:v>75%</c:v>
                  </c:pt>
                  <c:pt idx="4">
                    <c:v>95%</c:v>
                  </c:pt>
                  <c:pt idx="5">
                    <c:v>99%</c:v>
                  </c:pt>
                  <c:pt idx="6">
                    <c:v>Longest</c:v>
                  </c:pt>
                </c:lvl>
              </c:multiLvlStrCache>
            </c:multiLvlStrRef>
          </c:cat>
          <c:val>
            <c:numRef>
              <c:f>Sheet1!$B$2:$B$8</c:f>
              <c:numCache>
                <c:formatCode>General</c:formatCode>
                <c:ptCount val="7"/>
                <c:pt idx="0">
                  <c:v>263</c:v>
                </c:pt>
                <c:pt idx="1">
                  <c:v>512</c:v>
                </c:pt>
                <c:pt idx="2">
                  <c:v>797</c:v>
                </c:pt>
                <c:pt idx="3">
                  <c:v>1214</c:v>
                </c:pt>
                <c:pt idx="4">
                  <c:v>1780</c:v>
                </c:pt>
                <c:pt idx="5">
                  <c:v>1938</c:v>
                </c:pt>
                <c:pt idx="6">
                  <c:v>2000</c:v>
                </c:pt>
              </c:numCache>
            </c:numRef>
          </c:val>
        </c:ser>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layout/>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Sheet1!$B$2:$B$8</c:f>
              <c:numCache>
                <c:formatCode>General</c:formatCode>
                <c:ptCount val="7"/>
                <c:pt idx="0">
                  <c:v>40.5</c:v>
                </c:pt>
                <c:pt idx="1">
                  <c:v>0</c:v>
                </c:pt>
                <c:pt idx="2">
                  <c:v>0</c:v>
                </c:pt>
                <c:pt idx="3">
                  <c:v>94.4</c:v>
                </c:pt>
                <c:pt idx="4">
                  <c:v>2.7</c:v>
                </c:pt>
                <c:pt idx="5">
                  <c:v>0</c:v>
                </c:pt>
                <c:pt idx="6">
                  <c:v>0</c:v>
                </c:pt>
              </c:numCache>
            </c:numRef>
          </c:val>
        </c:ser>
        <c:ser>
          <c:idx val="1"/>
          <c:order val="1"/>
          <c:tx>
            <c:strRef>
              <c:f>Sheet1!$C$1</c:f>
              <c:strCache>
                <c:ptCount val="1"/>
                <c:pt idx="0">
                  <c:v>llama3.2:1b</c:v>
                </c:pt>
              </c:strCache>
            </c:strRef>
          </c:tx>
          <c:spPr>
            <a:solidFill>
              <a:srgbClr val="5F74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Sheet1!$C$2:$C$8</c:f>
              <c:numCache>
                <c:formatCode>General</c:formatCode>
                <c:ptCount val="7"/>
                <c:pt idx="0">
                  <c:v>85.7</c:v>
                </c:pt>
                <c:pt idx="1">
                  <c:v>58.8</c:v>
                </c:pt>
                <c:pt idx="2">
                  <c:v>29.6</c:v>
                </c:pt>
                <c:pt idx="3">
                  <c:v>16.7</c:v>
                </c:pt>
                <c:pt idx="4">
                  <c:v>16.2</c:v>
                </c:pt>
                <c:pt idx="5">
                  <c:v>0</c:v>
                </c:pt>
                <c:pt idx="6">
                  <c:v>3.3</c:v>
                </c:pt>
              </c:numCache>
            </c:numRef>
          </c:val>
        </c:ser>
        <c:ser>
          <c:idx val="2"/>
          <c:order val="2"/>
          <c:tx>
            <c:strRef>
              <c:f>Sheet1!$D$1</c:f>
              <c:strCache>
                <c:ptCount val="1"/>
                <c:pt idx="0">
                  <c:v>qwen2.5:7b</c:v>
                </c:pt>
              </c:strCache>
            </c:strRef>
          </c:tx>
          <c:spPr>
            <a:solidFill>
              <a:srgbClr val="0F6E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Sheet1!$D$2:$D$8</c:f>
              <c:numCache>
                <c:formatCode>General</c:formatCode>
                <c:ptCount val="7"/>
                <c:pt idx="0">
                  <c:v>81</c:v>
                </c:pt>
                <c:pt idx="1">
                  <c:v>82.4</c:v>
                </c:pt>
                <c:pt idx="2">
                  <c:v>92.6</c:v>
                </c:pt>
                <c:pt idx="3">
                  <c:v>88.9</c:v>
                </c:pt>
                <c:pt idx="4">
                  <c:v>94.6</c:v>
                </c:pt>
                <c:pt idx="5">
                  <c:v>70.8</c:v>
                </c:pt>
                <c:pt idx="6">
                  <c:v>66.7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R5 target (70%)</c:v>
                </c:pt>
              </c:strCache>
            </c:strRef>
          </c:tx>
          <c:spPr>
            <a:solidFill>
              <a:srgbClr val="B83A2E"/>
            </a:solidFill>
            <a:ln w="19050" cap="flat">
              <a:solidFill>
                <a:srgbClr val="B83A2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2E"/>
              </a:solidFill>
              <a:ln w="9525" cap="flat">
                <a:solidFill>
                  <a:srgbClr val="B83A2E"/>
                </a:solidFill>
                <a:prstDash val="solid"/>
                <a:round/>
              </a:ln>
              <a:effectLst/>
            </c:spPr>
          </c:marker>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Sheet1!$E$2:$E$8</c:f>
              <c:numCache>
                <c:formatCode>General</c:formatCode>
                <c:ptCount val="7"/>
                <c:pt idx="0">
                  <c:v>70</c:v>
                </c:pt>
                <c:pt idx="1">
                  <c:v>70</c:v>
                </c:pt>
                <c:pt idx="2">
                  <c:v>70</c:v>
                </c:pt>
                <c:pt idx="3">
                  <c:v>70</c:v>
                </c:pt>
                <c:pt idx="4">
                  <c:v>70</c:v>
                </c:pt>
                <c:pt idx="5">
                  <c:v>70</c:v>
                </c:pt>
                <c:pt idx="6">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 qwen2.5:3b was in the four-model lock at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Licences: Qwen2.5 0.5B and 7B are Apache 2.0; Llama 3.2 Community License requires 'Built with Llama' attribution and a copy of the licence on redistribution; Ollama is MIT; Apache JMeter is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rtlCol="0"/>
          <a:lstStyle>
            <a:lvl1pPr algn="l" indent="0" marL="0">
              <a:buNone/>
              <a:defRPr lang="en-US" sz="1800" dirty="0">
                <a:solidFill>
                  <a:srgbClr val="CADDD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dafsafas/ICT3113_A1_P1-3"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lIns="0" tIns="0" rIns="0" bIns="0" rtlCol="0" anchor="b"/>
          <a:lstStyle/>
          <a:p>
            <a:pPr algn="l" indent="0" marL="0">
              <a:buNone/>
            </a:pPr>
            <a:r>
              <a:rPr lang="en-US" sz="4000" b="1" dirty="0">
                <a:solidFill>
                  <a:schemeClr val="bg1"/>
                </a:solidFill>
              </a:rPr>
              <a:t>Ticket Triage on CPU-only Hardware: What to Deploy, and What We Can Promise</a:t>
            </a: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lIns="0" tIns="0" rIns="0" bIns="0" rtlCol="0" anchor="t"/>
          <a:lstStyle/>
          <a:p>
            <a:pPr algn="l" indent="0" marL="0">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indent="0" marL="0">
              <a:buNone/>
            </a:pPr>
            <a:r>
              <a:rPr lang="en-US" sz="1200" b="1" spc="100" kern="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Chia ShuXian Natalie</a:t>
            </a:r>
            <a:pPr indent="0" marL="0">
              <a:buNone/>
            </a:pP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Chng Zong Han</a:t>
            </a:r>
            <a:pPr indent="0" marL="0">
              <a:buNone/>
            </a:pP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indent="0" marL="0">
              <a:buNone/>
            </a:pPr>
            <a:r>
              <a:rPr lang="en-US" sz="1400" b="1" dirty="0">
                <a:solidFill>
                  <a:schemeClr val="bg1"/>
                </a:solidFill>
              </a:rPr>
              <a:t>Kannan S/O Rajamohan</a:t>
            </a:r>
            <a:pPr indent="0" marL="0">
              <a:buNone/>
            </a:pP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Muhammad Ridwan Putra Jasni</a:t>
            </a:r>
            <a:pPr indent="0" marL="0">
              <a:buNone/>
            </a:pP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Tan Tze Han</a:t>
            </a:r>
            <a:pPr indent="0" marL="0">
              <a:buNone/>
            </a:pP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indent="0" marL="0">
              <a:buNone/>
            </a:pPr>
            <a:r>
              <a:rPr lang="en-US" sz="1300" dirty="0">
                <a:solidFill>
                  <a:srgbClr val="CADDDA"/>
                </a:solidFill>
              </a:rPr>
              <a:t>Repository (rebuild with docker compose up -d --build):  </a:t>
            </a:r>
            <a:pPr indent="0" marL="0">
              <a:buNone/>
            </a:pPr>
            <a:r>
              <a:rPr lang="en-US" sz="13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sp>
      <p:sp>
        <p:nvSpPr>
          <p:cNvPr id="12" name="Text 10"/>
          <p:cNvSpPr txBox="1"/>
          <p:nvPr/>
        </p:nvSpPr>
        <p:spPr>
          <a:xfrm>
            <a:off x="8321040" y="1371600"/>
            <a:ext cx="3017520" cy="274320"/>
          </a:xfrm>
          <a:prstGeom prst="rect">
            <a:avLst/>
          </a:prstGeom>
          <a:noFill/>
          <a:ln/>
        </p:spPr>
        <p:txBody>
          <a:bodyPr wrap="square" lIns="0" tIns="0" rIns="0" bIns="0" rtlCol="0" anchor="t"/>
          <a:lstStyle/>
          <a:p>
            <a:pPr indent="0" marL="0">
              <a:buNone/>
            </a:pPr>
            <a:r>
              <a:rPr lang="en-US" sz="1200" b="1" spc="100" kern="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indent="0" marL="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indent="0" marL="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sp>
      <p:sp>
        <p:nvSpPr>
          <p:cNvPr id="5" name="Text 2"/>
          <p:cNvSpPr txBox="1"/>
          <p:nvPr/>
        </p:nvSpPr>
        <p:spPr>
          <a:xfrm>
            <a:off x="731520" y="1737360"/>
            <a:ext cx="19202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indent="0" marL="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indent="0" marL="0">
              <a:buNone/>
            </a:pPr>
            <a:r>
              <a:rPr lang="en-US" sz="1200" dirty="0">
                <a:solidFill>
                  <a:schemeClr val="tx1"/>
                </a:solidFill>
              </a:rPr>
              <a:t>Apache JMeter 5.6.3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sp>
      <p:sp>
        <p:nvSpPr>
          <p:cNvPr id="9" name="Text 6"/>
          <p:cNvSpPr txBox="1"/>
          <p:nvPr/>
        </p:nvSpPr>
        <p:spPr>
          <a:xfrm>
            <a:off x="2788920" y="2331720"/>
            <a:ext cx="822960" cy="274320"/>
          </a:xfrm>
          <a:prstGeom prst="rect">
            <a:avLst/>
          </a:prstGeom>
          <a:noFill/>
          <a:ln/>
        </p:spPr>
        <p:txBody>
          <a:bodyPr wrap="square" lIns="0" tIns="0" rIns="0" bIns="0" rtlCol="0" anchor="t"/>
          <a:lstStyle/>
          <a:p>
            <a:pPr algn="ctr" indent="0" marL="0">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sp>
      <p:sp>
        <p:nvSpPr>
          <p:cNvPr id="11" name="Text 8"/>
          <p:cNvSpPr txBox="1"/>
          <p:nvPr/>
        </p:nvSpPr>
        <p:spPr>
          <a:xfrm>
            <a:off x="3749040" y="1435608"/>
            <a:ext cx="35204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sp>
      <p:sp>
        <p:nvSpPr>
          <p:cNvPr id="13" name="Text 10"/>
          <p:cNvSpPr txBox="1"/>
          <p:nvPr/>
        </p:nvSpPr>
        <p:spPr>
          <a:xfrm>
            <a:off x="3977640" y="1920240"/>
            <a:ext cx="3063240" cy="320040"/>
          </a:xfrm>
          <a:prstGeom prst="rect">
            <a:avLst/>
          </a:prstGeom>
          <a:noFill/>
          <a:ln/>
        </p:spPr>
        <p:txBody>
          <a:bodyPr wrap="square" lIns="0" tIns="0" rIns="0" bIns="0" rtlCol="0" anchor="t"/>
          <a:lstStyle/>
          <a:p>
            <a:pPr indent="0" marL="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indent="0" marL="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sp>
      <p:sp>
        <p:nvSpPr>
          <p:cNvPr id="16" name="Shape 13"/>
          <p:cNvSpPr/>
          <p:nvPr/>
        </p:nvSpPr>
        <p:spPr>
          <a:xfrm>
            <a:off x="3794760" y="3429000"/>
            <a:ext cx="2697480" cy="1051560"/>
          </a:xfrm>
          <a:prstGeom prst="roundRect">
            <a:avLst>
              <a:gd name="adj" fmla="val 6957"/>
            </a:avLst>
          </a:prstGeom>
          <a:solidFill>
            <a:schemeClr val="accent1"/>
          </a:solidFill>
          <a:ln/>
        </p:spPr>
      </p:sp>
      <p:sp>
        <p:nvSpPr>
          <p:cNvPr id="17" name="Text 14"/>
          <p:cNvSpPr txBox="1"/>
          <p:nvPr/>
        </p:nvSpPr>
        <p:spPr>
          <a:xfrm>
            <a:off x="3977640" y="3520440"/>
            <a:ext cx="2377440" cy="320040"/>
          </a:xfrm>
          <a:prstGeom prst="rect">
            <a:avLst/>
          </a:prstGeom>
          <a:noFill/>
          <a:ln/>
        </p:spPr>
        <p:txBody>
          <a:bodyPr wrap="square" lIns="0" tIns="0" rIns="0" bIns="0" rtlCol="0" anchor="t"/>
          <a:lstStyle/>
          <a:p>
            <a:pPr indent="0" marL="0">
              <a:buNone/>
            </a:pPr>
            <a:r>
              <a:rPr lang="en-US" sz="1400" b="1" dirty="0">
                <a:solidFill>
                  <a:schemeClr val="bg1"/>
                </a:solidFill>
              </a:rPr>
              <a:t>AI model server (Ollama)</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indent="0" marL="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sp>
      <p:sp>
        <p:nvSpPr>
          <p:cNvPr id="20" name="Shape 17"/>
          <p:cNvSpPr/>
          <p:nvPr/>
        </p:nvSpPr>
        <p:spPr>
          <a:xfrm>
            <a:off x="5623560" y="4800600"/>
            <a:ext cx="1600200" cy="1143000"/>
          </a:xfrm>
          <a:prstGeom prst="roundRect">
            <a:avLst>
              <a:gd name="adj" fmla="val 6400"/>
            </a:avLst>
          </a:prstGeom>
          <a:solidFill>
            <a:schemeClr val="bg2"/>
          </a:solidFill>
          <a:ln/>
        </p:spPr>
      </p:sp>
      <p:sp>
        <p:nvSpPr>
          <p:cNvPr id="21" name="Text 18"/>
          <p:cNvSpPr txBox="1"/>
          <p:nvPr/>
        </p:nvSpPr>
        <p:spPr>
          <a:xfrm>
            <a:off x="57607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sp>
      <p:sp>
        <p:nvSpPr>
          <p:cNvPr id="24" name="Text 21"/>
          <p:cNvSpPr txBox="1"/>
          <p:nvPr/>
        </p:nvSpPr>
        <p:spPr>
          <a:xfrm>
            <a:off x="39319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sp>
      <p:sp>
        <p:nvSpPr>
          <p:cNvPr id="28" name="Text 25"/>
          <p:cNvSpPr txBox="1"/>
          <p:nvPr/>
        </p:nvSpPr>
        <p:spPr>
          <a:xfrm>
            <a:off x="7955280" y="185623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indent="0" marL="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sp>
      <p:sp>
        <p:nvSpPr>
          <p:cNvPr id="31" name="Text 28"/>
          <p:cNvSpPr txBox="1"/>
          <p:nvPr/>
        </p:nvSpPr>
        <p:spPr>
          <a:xfrm>
            <a:off x="7955280" y="272491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indent="0" marL="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sp>
      <p:sp>
        <p:nvSpPr>
          <p:cNvPr id="34" name="Text 31"/>
          <p:cNvSpPr txBox="1"/>
          <p:nvPr/>
        </p:nvSpPr>
        <p:spPr>
          <a:xfrm>
            <a:off x="7955280" y="359359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indent="0" marL="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sp>
      <p:sp>
        <p:nvSpPr>
          <p:cNvPr id="5" name="Text 2"/>
          <p:cNvSpPr txBox="1"/>
          <p:nvPr/>
        </p:nvSpPr>
        <p:spPr>
          <a:xfrm>
            <a:off x="685800"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SOURCED [1]</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sp>
      <p:sp>
        <p:nvSpPr>
          <p:cNvPr id="9" name="Text 6"/>
          <p:cNvSpPr txBox="1"/>
          <p:nvPr/>
        </p:nvSpPr>
        <p:spPr>
          <a:xfrm>
            <a:off x="2395728"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sp>
      <p:sp>
        <p:nvSpPr>
          <p:cNvPr id="13" name="Text 10"/>
          <p:cNvSpPr txBox="1"/>
          <p:nvPr/>
        </p:nvSpPr>
        <p:spPr>
          <a:xfrm>
            <a:off x="4105656"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sp>
      <p:sp>
        <p:nvSpPr>
          <p:cNvPr id="17" name="Text 14"/>
          <p:cNvSpPr txBox="1"/>
          <p:nvPr/>
        </p:nvSpPr>
        <p:spPr>
          <a:xfrm>
            <a:off x="5815584" y="1444752"/>
            <a:ext cx="132588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indent="0" marL="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indent="0" marL="0">
              <a:buNone/>
            </a:pPr>
            <a:r>
              <a:rPr lang="en-US" sz="1000" b="1" dirty="0">
                <a:solidFill>
                  <a:srgbClr val="9BC1BC"/>
                </a:solidFill>
              </a:rPr>
              <a:t>EST. FROM [3][4]</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914400"/>
        </p:xfrm>
        <a:graphic>
          <a:graphicData uri="http://schemas.openxmlformats.org/drawingml/2006/table">
            <a:tbl>
              <a:tblPr/>
              <a:tblGrid>
                <a:gridCol w="1325880"/>
                <a:gridCol w="1234440"/>
                <a:gridCol w="1325880"/>
                <a:gridCol w="2834640"/>
              </a:tblGrid>
              <a:tr h="329184">
                <a:tc>
                  <a:txBody>
                    <a:bodyPr/>
                    <a:lstStyle/>
                    <a:p>
                      <a:pPr indent="0" marL="0">
                        <a:buNone/>
                      </a:pPr>
                      <a:r>
                        <a:rPr lang="en-US" sz="1200" b="1" dirty="0">
                          <a:solidFill>
                            <a:schemeClr val="bg1"/>
                          </a:solidFill>
                        </a:rPr>
                        <a:t>Level</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Tickets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Searches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Average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1.45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2.9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 normal hour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b="1" dirty="0">
                          <a:solidFill>
                            <a:schemeClr val="tx1"/>
                          </a:solidFill>
                        </a:rPr>
                        <a:t>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1.73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Busiest hour: targets must be met here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dirty="0">
                          <a:solidFill>
                            <a:schemeClr val="tx1"/>
                          </a:solidFill>
                        </a:rPr>
                        <a:t>Beyond 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Double the peak: room for busy seasons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a:t>
            </a:r>
            <a:endParaRPr lang="en-US" sz="1200" dirty="0"/>
          </a:p>
        </p:txBody>
      </p:sp>
      <p:graphicFrame>
        <p:nvGraphicFramePr>
          <p:cNvPr id="23" name="Chart 0" descr=""/>
          <p:cNvGraphicFramePr/>
          <p:nvPr/>
        </p:nvGraphicFramePr>
        <p:xfrm>
          <a:off x="7589520" y="1280160"/>
          <a:ext cx="4053535" cy="3429000"/>
        </p:xfrm>
        <a:graphic xmlns:a="http://schemas.openxmlformats.org/drawingml/2006/main">
          <a:graphicData uri="http://schemas.openxmlformats.org/drawingml/2006/chart">
            <c:chart xmlns:c="http://schemas.openxmlformats.org/drawingml/2006/chart" r:id="rId1"/>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sp>
      <p:sp>
        <p:nvSpPr>
          <p:cNvPr id="5" name="Text 2"/>
          <p:cNvSpPr txBox="1"/>
          <p:nvPr/>
        </p:nvSpPr>
        <p:spPr>
          <a:xfrm>
            <a:off x="777240" y="1325880"/>
            <a:ext cx="10637215" cy="731520"/>
          </a:xfrm>
          <a:prstGeom prst="rect">
            <a:avLst/>
          </a:prstGeom>
          <a:noFill/>
          <a:ln/>
        </p:spPr>
        <p:txBody>
          <a:bodyPr wrap="square" lIns="0" tIns="0" rIns="0" bIns="0" rtlCol="0" anchor="ctr"/>
          <a:lstStyle/>
          <a:p>
            <a:pPr indent="0" marL="0">
              <a:buNone/>
            </a:pPr>
            <a:r>
              <a:rPr lang="en-US" sz="1300" b="1" dirty="0">
                <a:solidFill>
                  <a:schemeClr val="accent2"/>
                </a:solidFill>
              </a:rPr>
              <a:t>Our position: </a:t>
            </a:r>
            <a:pPr indent="0" marL="0">
              <a:buNone/>
            </a:pP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4415" cy="914400"/>
        </p:xfrm>
        <a:graphic>
          <a:graphicData uri="http://schemas.openxmlformats.org/drawingml/2006/table">
            <a:tbl>
              <a:tblPr/>
              <a:tblGrid>
                <a:gridCol w="548640"/>
                <a:gridCol w="3246120"/>
                <a:gridCol w="2834640"/>
                <a:gridCol w="4462272"/>
              </a:tblGrid>
              <a:tr h="329184">
                <a:tc>
                  <a:txBody>
                    <a:bodyPr/>
                    <a:lstStyle/>
                    <a:p>
                      <a:pPr indent="0" marL="0">
                        <a:buNone/>
                      </a:pPr>
                      <a:r>
                        <a:rPr lang="en-US" sz="1200" b="1" dirty="0">
                          <a:solidFill>
                            <a:schemeClr val="bg1"/>
                          </a:solidFill>
                        </a:rPr>
                        <a:t>ID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Target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Tested under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this number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accent1"/>
                          </a:solidFill>
                        </a:rPr>
                        <a:t>R1</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tickets sorted within 30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1.73 tickets/min for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peak a ticket arrives about every 35 s. Sorting slower than that means tickets pile up</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R2</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searches answered within 1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plus 3.5 searches/min, 10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Staff wait at the screen; about 1 s keeps their train of thought [7]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Keeps up: ≥ 104 tickets sorted an hour, ≤ 1% failures, delays not growing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104 is the busiest hour's volume; sorting fewer means a growing backlog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R4</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80% of tickets sorted correctly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195 hand-checked tickets, once each</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own team agreed with each other on 78–85% of tickets: the model should do as well as one trained person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70% correct in every category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Each category of the 195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Small categories have only 17–18 tickets, so one wrong ticket costs ~6 points. A lower bar avoids failing a model over 1–2 tickets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sp>
      <p:sp>
        <p:nvSpPr>
          <p:cNvPr id="8" name="Text 4"/>
          <p:cNvSpPr txBox="1"/>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chemeClr val="tx2"/>
                </a:solidFill>
              </a:rPr>
              <a:t>Client rules.  C1: </a:t>
            </a:r>
            <a:pPr indent="0" marL="0">
              <a:buNone/>
            </a:pPr>
            <a:r>
              <a:rPr lang="en-US" sz="1200" dirty="0">
                <a:solidFill>
                  <a:schemeClr val="tx1"/>
                </a:solidFill>
              </a:rPr>
              <a:t>the model runs on the bank's own computers, without graphics cards; no outside AI service.   </a:t>
            </a:r>
            <a:pPr indent="0" marL="0">
              <a:buNone/>
            </a:pPr>
            <a:r>
              <a:rPr lang="en-US" sz="1200" b="1" dirty="0">
                <a:solidFill>
                  <a:schemeClr val="tx2"/>
                </a:solidFill>
              </a:rPr>
              <a:t>C2: </a:t>
            </a:r>
            <a:pPr indent="0" marL="0">
              <a:buNone/>
            </a:pP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sp>
      <p:sp>
        <p:nvSpPr>
          <p:cNvPr id="5" name="Shape 2"/>
          <p:cNvSpPr/>
          <p:nvPr/>
        </p:nvSpPr>
        <p:spPr>
          <a:xfrm>
            <a:off x="777240" y="1508760"/>
            <a:ext cx="292608" cy="292608"/>
          </a:xfrm>
          <a:prstGeom prst="ellipse">
            <a:avLst/>
          </a:prstGeom>
          <a:solidFill>
            <a:srgbClr val="9BC1BC"/>
          </a:solidFill>
          <a:ln/>
        </p:spPr>
      </p:sp>
      <p:sp>
        <p:nvSpPr>
          <p:cNvPr id="6" name="Text 3"/>
          <p:cNvSpPr txBox="1"/>
          <p:nvPr/>
        </p:nvSpPr>
        <p:spPr>
          <a:xfrm>
            <a:off x="1188720"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Fastest. Same maker as the large one,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sp>
      <p:sp>
        <p:nvSpPr>
          <p:cNvPr id="12" name="Shape 9"/>
          <p:cNvSpPr/>
          <p:nvPr/>
        </p:nvSpPr>
        <p:spPr>
          <a:xfrm>
            <a:off x="4566818" y="1508760"/>
            <a:ext cx="292608" cy="292608"/>
          </a:xfrm>
          <a:prstGeom prst="ellipse">
            <a:avLst/>
          </a:prstGeom>
          <a:solidFill>
            <a:srgbClr val="5F747B"/>
          </a:solidFill>
          <a:ln/>
        </p:spPr>
      </p:sp>
      <p:sp>
        <p:nvSpPr>
          <p:cNvPr id="13" name="Text 10"/>
          <p:cNvSpPr txBox="1"/>
          <p:nvPr/>
        </p:nvSpPr>
        <p:spPr>
          <a:xfrm>
            <a:off x="4978298"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Llama 3.2 Community</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sp>
      <p:sp>
        <p:nvSpPr>
          <p:cNvPr id="19" name="Shape 16"/>
          <p:cNvSpPr/>
          <p:nvPr/>
        </p:nvSpPr>
        <p:spPr>
          <a:xfrm>
            <a:off x="8356397" y="1508760"/>
            <a:ext cx="292608" cy="292608"/>
          </a:xfrm>
          <a:prstGeom prst="ellipse">
            <a:avLst/>
          </a:prstGeom>
          <a:solidFill>
            <a:srgbClr val="0F6E6E"/>
          </a:solidFill>
          <a:ln/>
        </p:spPr>
      </p:sp>
      <p:sp>
        <p:nvSpPr>
          <p:cNvPr id="20" name="Text 17"/>
          <p:cNvSpPr txBox="1"/>
          <p:nvPr/>
        </p:nvSpPr>
        <p:spPr>
          <a:xfrm>
            <a:off x="8767877"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3291840"/>
                <a:gridCol w="7799832"/>
              </a:tblGrid>
              <a:tr h="274320">
                <a:tc>
                  <a:txBody>
                    <a:bodyPr/>
                    <a:lstStyle/>
                    <a:p>
                      <a:pPr indent="0" marL="0">
                        <a:buNone/>
                      </a:pPr>
                      <a:r>
                        <a:rPr lang="en-US" sz="1100" b="1" dirty="0">
                          <a:solidFill>
                            <a:schemeClr val="bg1"/>
                          </a:solidFill>
                        </a:rPr>
                        <a:t>Tag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Digest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accent5"/>
                </a:solidFill>
              </a:rPr>
              <a:t>All three are compressed the same way (Q4_K_M), so size is the only difference. A fourth, qwen2.5:3b, was planned but not tested: its licence bans commercial use (fails C2).</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sp>
      <p:sp>
        <p:nvSpPr>
          <p:cNvPr id="5" name="Text 2"/>
          <p:cNvSpPr txBox="1"/>
          <p:nvPr/>
        </p:nvSpPr>
        <p:spPr>
          <a:xfrm>
            <a:off x="777240"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sp>
      <p:sp>
        <p:nvSpPr>
          <p:cNvPr id="9" name="Text 6"/>
          <p:cNvSpPr txBox="1"/>
          <p:nvPr/>
        </p:nvSpPr>
        <p:spPr>
          <a:xfrm>
            <a:off x="4566818"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sp>
      <p:sp>
        <p:nvSpPr>
          <p:cNvPr id="13" name="Text 10"/>
          <p:cNvSpPr txBox="1"/>
          <p:nvPr/>
        </p:nvSpPr>
        <p:spPr>
          <a:xfrm>
            <a:off x="8356397"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sp>
      <p:sp>
        <p:nvSpPr>
          <p:cNvPr id="18" name="Shape 15"/>
          <p:cNvSpPr/>
          <p:nvPr/>
        </p:nvSpPr>
        <p:spPr>
          <a:xfrm>
            <a:off x="548640" y="3200400"/>
            <a:ext cx="384048" cy="384048"/>
          </a:xfrm>
          <a:prstGeom prst="ellipse">
            <a:avLst/>
          </a:prstGeom>
          <a:solidFill>
            <a:schemeClr val="accent5"/>
          </a:solidFill>
          <a:ln/>
        </p:spPr>
      </p:sp>
      <p:sp>
        <p:nvSpPr>
          <p:cNvPr id="19" name="Text 16"/>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sp>
      <p:sp>
        <p:nvSpPr>
          <p:cNvPr id="22" name="Text 19"/>
          <p:cNvSpPr txBox="1"/>
          <p:nvPr/>
        </p:nvSpPr>
        <p:spPr>
          <a:xfrm>
            <a:off x="4338218"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sp>
      <p:sp>
        <p:nvSpPr>
          <p:cNvPr id="25" name="Text 22"/>
          <p:cNvSpPr txBox="1"/>
          <p:nvPr/>
        </p:nvSpPr>
        <p:spPr>
          <a:xfrm>
            <a:off x="8127797"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sp>
      <p:sp>
        <p:nvSpPr>
          <p:cNvPr id="28" name="Text 25"/>
          <p:cNvSpPr txBox="1"/>
          <p:nvPr/>
        </p:nvSpPr>
        <p:spPr>
          <a:xfrm>
            <a:off x="777240"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sp>
      <p:sp>
        <p:nvSpPr>
          <p:cNvPr id="31" name="Text 28"/>
          <p:cNvSpPr txBox="1"/>
          <p:nvPr/>
        </p:nvSpPr>
        <p:spPr>
          <a:xfrm>
            <a:off x="6461608"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sp>
      <p:sp>
        <p:nvSpPr>
          <p:cNvPr id="5" name="Text 2"/>
          <p:cNvSpPr txBox="1"/>
          <p:nvPr/>
        </p:nvSpPr>
        <p:spPr>
          <a:xfrm>
            <a:off x="777240" y="1389888"/>
            <a:ext cx="4632808" cy="274320"/>
          </a:xfrm>
          <a:prstGeom prst="rect">
            <a:avLst/>
          </a:prstGeom>
          <a:noFill/>
          <a:ln/>
        </p:spPr>
        <p:txBody>
          <a:bodyPr wrap="square" lIns="0" tIns="0" rIns="0" bIns="0" rtlCol="0" anchor="t"/>
          <a:lstStyle/>
          <a:p>
            <a:pPr indent="0" marL="0">
              <a:buNone/>
            </a:pPr>
            <a:r>
              <a:rPr lang="en-US" sz="1100" b="1" spc="100" kern="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sp>
      <p:sp>
        <p:nvSpPr>
          <p:cNvPr id="8" name="Text 5"/>
          <p:cNvSpPr txBox="1"/>
          <p:nvPr/>
        </p:nvSpPr>
        <p:spPr>
          <a:xfrm>
            <a:off x="5656936" y="2240280"/>
            <a:ext cx="877824" cy="274320"/>
          </a:xfrm>
          <a:prstGeom prst="rect">
            <a:avLst/>
          </a:prstGeom>
          <a:noFill/>
          <a:ln/>
        </p:spPr>
        <p:txBody>
          <a:bodyPr wrap="square" lIns="0" tIns="0" rIns="0" bIns="0" rtlCol="0" anchor="t"/>
          <a:lstStyle/>
          <a:p>
            <a:pPr algn="ctr" indent="0" marL="0">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sp>
      <p:sp>
        <p:nvSpPr>
          <p:cNvPr id="10" name="Text 7"/>
          <p:cNvSpPr txBox="1"/>
          <p:nvPr/>
        </p:nvSpPr>
        <p:spPr>
          <a:xfrm>
            <a:off x="6781648" y="1389888"/>
            <a:ext cx="46328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macOS 26.5</a:t>
            </a:r>
            <a:endParaRPr lang="en-US" sz="1300" dirty="0"/>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Capacity ≈ 60 s ÷ time per ticket: 3.1 s here, so about 19 tickets a minute for the large model</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Each 10-min run has only 14–35 tickets, so the slowest-1% figure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sp>
      <p:sp>
        <p:nvSpPr>
          <p:cNvPr id="5" name="Shape 2"/>
          <p:cNvSpPr/>
          <p:nvPr/>
        </p:nvSpPr>
        <p:spPr>
          <a:xfrm>
            <a:off x="685800" y="1389888"/>
            <a:ext cx="365760" cy="365760"/>
          </a:xfrm>
          <a:prstGeom prst="ellipse">
            <a:avLst/>
          </a:prstGeom>
          <a:solidFill>
            <a:schemeClr val="accent1"/>
          </a:solidFill>
          <a:ln/>
        </p:spPr>
      </p:sp>
      <p:sp>
        <p:nvSpPr>
          <p:cNvPr id="6" name="Text 3"/>
          <p:cNvSpPr txBox="1"/>
          <p:nvPr/>
        </p:nvSpPr>
        <p:spPr>
          <a:xfrm>
            <a:off x="68580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sp>
      <p:sp>
        <p:nvSpPr>
          <p:cNvPr id="10" name="Shape 7"/>
          <p:cNvSpPr/>
          <p:nvPr/>
        </p:nvSpPr>
        <p:spPr>
          <a:xfrm>
            <a:off x="2428189" y="1280160"/>
            <a:ext cx="1696669" cy="1600200"/>
          </a:xfrm>
          <a:prstGeom prst="roundRect">
            <a:avLst>
              <a:gd name="adj" fmla="val 4571"/>
            </a:avLst>
          </a:prstGeom>
          <a:solidFill>
            <a:schemeClr val="bg2"/>
          </a:solidFill>
          <a:ln/>
        </p:spPr>
      </p:sp>
      <p:sp>
        <p:nvSpPr>
          <p:cNvPr id="11" name="Shape 8"/>
          <p:cNvSpPr/>
          <p:nvPr/>
        </p:nvSpPr>
        <p:spPr>
          <a:xfrm>
            <a:off x="2565349" y="1389888"/>
            <a:ext cx="365760" cy="365760"/>
          </a:xfrm>
          <a:prstGeom prst="ellipse">
            <a:avLst/>
          </a:prstGeom>
          <a:solidFill>
            <a:schemeClr val="accent1"/>
          </a:solidFill>
          <a:ln/>
        </p:spPr>
      </p:sp>
      <p:sp>
        <p:nvSpPr>
          <p:cNvPr id="12" name="Text 9"/>
          <p:cNvSpPr txBox="1"/>
          <p:nvPr/>
        </p:nvSpPr>
        <p:spPr>
          <a:xfrm>
            <a:off x="2565349"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sp>
      <p:sp>
        <p:nvSpPr>
          <p:cNvPr id="16" name="Shape 13"/>
          <p:cNvSpPr/>
          <p:nvPr/>
        </p:nvSpPr>
        <p:spPr>
          <a:xfrm>
            <a:off x="4307738" y="1280160"/>
            <a:ext cx="1696669" cy="1600200"/>
          </a:xfrm>
          <a:prstGeom prst="roundRect">
            <a:avLst>
              <a:gd name="adj" fmla="val 4571"/>
            </a:avLst>
          </a:prstGeom>
          <a:solidFill>
            <a:schemeClr val="bg2"/>
          </a:solidFill>
          <a:ln/>
        </p:spPr>
      </p:sp>
      <p:sp>
        <p:nvSpPr>
          <p:cNvPr id="17" name="Shape 14"/>
          <p:cNvSpPr/>
          <p:nvPr/>
        </p:nvSpPr>
        <p:spPr>
          <a:xfrm>
            <a:off x="4444898" y="1389888"/>
            <a:ext cx="365760" cy="365760"/>
          </a:xfrm>
          <a:prstGeom prst="ellipse">
            <a:avLst/>
          </a:prstGeom>
          <a:solidFill>
            <a:schemeClr val="accent1"/>
          </a:solidFill>
          <a:ln/>
        </p:spPr>
      </p:sp>
      <p:sp>
        <p:nvSpPr>
          <p:cNvPr id="18" name="Text 15"/>
          <p:cNvSpPr txBox="1"/>
          <p:nvPr/>
        </p:nvSpPr>
        <p:spPr>
          <a:xfrm>
            <a:off x="444489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sp>
      <p:sp>
        <p:nvSpPr>
          <p:cNvPr id="22" name="Shape 19"/>
          <p:cNvSpPr/>
          <p:nvPr/>
        </p:nvSpPr>
        <p:spPr>
          <a:xfrm>
            <a:off x="6187288" y="1280160"/>
            <a:ext cx="1696669" cy="1600200"/>
          </a:xfrm>
          <a:prstGeom prst="roundRect">
            <a:avLst>
              <a:gd name="adj" fmla="val 4571"/>
            </a:avLst>
          </a:prstGeom>
          <a:solidFill>
            <a:schemeClr val="tx2"/>
          </a:solidFill>
          <a:ln/>
        </p:spPr>
      </p:sp>
      <p:sp>
        <p:nvSpPr>
          <p:cNvPr id="23" name="Shape 20"/>
          <p:cNvSpPr/>
          <p:nvPr/>
        </p:nvSpPr>
        <p:spPr>
          <a:xfrm>
            <a:off x="6324448" y="1389888"/>
            <a:ext cx="365760" cy="365760"/>
          </a:xfrm>
          <a:prstGeom prst="ellipse">
            <a:avLst/>
          </a:prstGeom>
          <a:solidFill>
            <a:schemeClr val="accent2"/>
          </a:solidFill>
          <a:ln/>
        </p:spPr>
      </p:sp>
      <p:sp>
        <p:nvSpPr>
          <p:cNvPr id="24" name="Text 21"/>
          <p:cNvSpPr txBox="1"/>
          <p:nvPr/>
        </p:nvSpPr>
        <p:spPr>
          <a:xfrm>
            <a:off x="632444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indent="0" marL="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indent="0" marL="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sp>
      <p:sp>
        <p:nvSpPr>
          <p:cNvPr id="28" name="Shape 25"/>
          <p:cNvSpPr/>
          <p:nvPr/>
        </p:nvSpPr>
        <p:spPr>
          <a:xfrm>
            <a:off x="8066837" y="1280160"/>
            <a:ext cx="1696669" cy="1600200"/>
          </a:xfrm>
          <a:prstGeom prst="roundRect">
            <a:avLst>
              <a:gd name="adj" fmla="val 4571"/>
            </a:avLst>
          </a:prstGeom>
          <a:solidFill>
            <a:schemeClr val="bg2"/>
          </a:solidFill>
          <a:ln/>
        </p:spPr>
      </p:sp>
      <p:sp>
        <p:nvSpPr>
          <p:cNvPr id="29" name="Shape 26"/>
          <p:cNvSpPr/>
          <p:nvPr/>
        </p:nvSpPr>
        <p:spPr>
          <a:xfrm>
            <a:off x="8203997" y="1389888"/>
            <a:ext cx="365760" cy="365760"/>
          </a:xfrm>
          <a:prstGeom prst="ellipse">
            <a:avLst/>
          </a:prstGeom>
          <a:solidFill>
            <a:schemeClr val="accent1"/>
          </a:solidFill>
          <a:ln/>
        </p:spPr>
      </p:sp>
      <p:sp>
        <p:nvSpPr>
          <p:cNvPr id="30" name="Text 27"/>
          <p:cNvSpPr txBox="1"/>
          <p:nvPr/>
        </p:nvSpPr>
        <p:spPr>
          <a:xfrm>
            <a:off x="8203997"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sp>
      <p:sp>
        <p:nvSpPr>
          <p:cNvPr id="34" name="Shape 31"/>
          <p:cNvSpPr/>
          <p:nvPr/>
        </p:nvSpPr>
        <p:spPr>
          <a:xfrm>
            <a:off x="9946386" y="1280160"/>
            <a:ext cx="1696669" cy="1600200"/>
          </a:xfrm>
          <a:prstGeom prst="roundRect">
            <a:avLst>
              <a:gd name="adj" fmla="val 4571"/>
            </a:avLst>
          </a:prstGeom>
          <a:solidFill>
            <a:schemeClr val="bg2"/>
          </a:solidFill>
          <a:ln/>
        </p:spPr>
      </p:sp>
      <p:sp>
        <p:nvSpPr>
          <p:cNvPr id="35" name="Shape 32"/>
          <p:cNvSpPr/>
          <p:nvPr/>
        </p:nvSpPr>
        <p:spPr>
          <a:xfrm>
            <a:off x="10083546" y="1389888"/>
            <a:ext cx="365760" cy="365760"/>
          </a:xfrm>
          <a:prstGeom prst="ellipse">
            <a:avLst/>
          </a:prstGeom>
          <a:solidFill>
            <a:schemeClr val="accent1"/>
          </a:solidFill>
          <a:ln/>
        </p:spPr>
      </p:sp>
      <p:sp>
        <p:nvSpPr>
          <p:cNvPr id="36" name="Text 33"/>
          <p:cNvSpPr txBox="1"/>
          <p:nvPr/>
        </p:nvSpPr>
        <p:spPr>
          <a:xfrm>
            <a:off x="10083546"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sp>
      <p:sp>
        <p:nvSpPr>
          <p:cNvPr id="40" name="Text 37"/>
          <p:cNvSpPr txBox="1"/>
          <p:nvPr/>
        </p:nvSpPr>
        <p:spPr>
          <a:xfrm>
            <a:off x="777240"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sp>
      <p:sp>
        <p:nvSpPr>
          <p:cNvPr id="43" name="Text 40"/>
          <p:cNvSpPr txBox="1"/>
          <p:nvPr/>
        </p:nvSpPr>
        <p:spPr>
          <a:xfrm>
            <a:off x="4566818"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sp>
      <p:sp>
        <p:nvSpPr>
          <p:cNvPr id="46" name="Text 43"/>
          <p:cNvSpPr txBox="1"/>
          <p:nvPr/>
        </p:nvSpPr>
        <p:spPr>
          <a:xfrm>
            <a:off x="8356397"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Traffic rises steadily from 3.5 to 12 tickets/min over 30 min, plus 7 searches/min</a:t>
            </a:r>
            <a:endParaRPr lang="en-US" sz="1200" dirty="0"/>
          </a:p>
          <a:p>
            <a:pPr marL="342900" indent="-342900">
              <a:spcAft>
                <a:spcPts val="400"/>
              </a:spcAft>
              <a:buSzPct val="100000"/>
              <a:buChar char="•"/>
            </a:pPr>
            <a:r>
              <a:rPr lang="en-US" sz="1200" dirty="0">
                <a:solidFill>
                  <a:schemeClr val="tx1"/>
                </a:solidFill>
              </a:rPr>
              <a:t>Then 15 min at a steady 7.2 and 9.6 tickets/min to confirm</a:t>
            </a:r>
            <a:endParaRPr lang="en-US" sz="1200" dirty="0"/>
          </a:p>
          <a:p>
            <a:pPr marL="342900" indent="-342900">
              <a:spcAft>
                <a:spcPts val="400"/>
              </a:spcAft>
              <a:buSzPct val="100000"/>
              <a:buChar char="•"/>
            </a:pPr>
            <a:r>
              <a:rPr lang="en-US" sz="1200" dirty="0">
                <a:solidFill>
                  <a:schemeClr val="tx1"/>
                </a:solidFill>
              </a:rPr>
              <a:t>The limit is where tickets arrive faster than they are sorted and delays keep growing</a:t>
            </a:r>
            <a:endParaRPr lang="en-US" sz="1200" dirty="0"/>
          </a:p>
          <a:p>
            <a:pPr marL="342900" indent="-342900">
              <a:spcAft>
                <a:spcPts val="400"/>
              </a:spcAft>
              <a:buSzPct val="100000"/>
              <a:buChar char="•"/>
            </a:pPr>
            <a:r>
              <a:rPr lang="en-US" sz="1200" dirty="0">
                <a:solidFill>
                  <a:schemeClr val="tx1"/>
                </a:solidFill>
              </a:rPr>
              <a:t>Each ticket's time is split into waiting in line vs being processed</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gridCol w="960120"/>
                <a:gridCol w="1371600"/>
                <a:gridCol w="1371600"/>
                <a:gridCol w="640080"/>
                <a:gridCol w="777240"/>
                <a:gridCol w="548640"/>
                <a:gridCol w="1097280"/>
              </a:tblGrid>
              <a:tr h="566928">
                <a:tc>
                  <a:txBody>
                    <a:bodyPr/>
                    <a:lstStyle/>
                    <a:p>
                      <a:pPr algn="l" indent="0" marL="0">
                        <a:buNone/>
                      </a:pPr>
                      <a:r>
                        <a:rPr lang="en-US" sz="1100" b="1" dirty="0">
                          <a:solidFill>
                            <a:schemeClr val="bg1"/>
                          </a:solidFill>
                        </a:rPr>
                        <a:t>Model</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Tickets + searches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Typical (p50)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95% within (p95)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99% (p99)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Done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Search 95% within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10896">
                <a:tc rowSpan="3">
                  <a:txBody>
                    <a:bodyPr/>
                    <a:lstStyle/>
                    <a:p>
                      <a:pPr algn="l" indent="0" marL="0">
                        <a:buNone/>
                      </a:pPr>
                      <a:r>
                        <a:rPr lang="en-US" sz="1100" b="1" dirty="0">
                          <a:solidFill>
                            <a:schemeClr val="tx2"/>
                          </a:solidFill>
                        </a:rPr>
                        <a:t>qwen2.5:0.5b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0.77 (0.65–0.84)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 (1.19–3.33)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0.67 (0.63–0.69)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 (1.00–1.04)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2.02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0.68 (0.60–0.81)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1.27 (1.16–1.40)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0.49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llama3.2:1b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0.76 (0.66–0.93)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 (1.19–1.70)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0.72 (0.63–0.79)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 (1.07–2.88)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1.82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0.86 (0.79–0.97)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1.41 (1.08–1.69)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qwen2.5:7b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3.38 (3.07–3.91)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 (5.55–8.37)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0.22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3.74 (3.69–3.78)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 (5.55–6.71)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1.90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3.54 (3.16–3.99)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6.71 (6.09–7.13)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8.51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indent="0" marL="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sp>
      <p:sp>
        <p:nvSpPr>
          <p:cNvPr id="7" name="Shape 3"/>
          <p:cNvSpPr/>
          <p:nvPr/>
        </p:nvSpPr>
        <p:spPr>
          <a:xfrm>
            <a:off x="731520" y="5257800"/>
            <a:ext cx="960120" cy="274320"/>
          </a:xfrm>
          <a:prstGeom prst="roundRect">
            <a:avLst>
              <a:gd name="adj" fmla="val 50000"/>
            </a:avLst>
          </a:prstGeom>
          <a:solidFill>
            <a:schemeClr val="accent3"/>
          </a:solidFill>
          <a:ln/>
        </p:spPr>
      </p:sp>
      <p:sp>
        <p:nvSpPr>
          <p:cNvPr id="8" name="Text 4"/>
          <p:cNvSpPr txBox="1"/>
          <p:nvPr/>
        </p:nvSpPr>
        <p:spPr>
          <a:xfrm>
            <a:off x="73152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0" name="Text 6"/>
          <p:cNvSpPr txBox="1"/>
          <p:nvPr/>
        </p:nvSpPr>
        <p:spPr>
          <a:xfrm>
            <a:off x="73152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sp>
      <p:sp>
        <p:nvSpPr>
          <p:cNvPr id="12" name="Shape 8"/>
          <p:cNvSpPr/>
          <p:nvPr/>
        </p:nvSpPr>
        <p:spPr>
          <a:xfrm>
            <a:off x="3429000" y="5257800"/>
            <a:ext cx="960120" cy="274320"/>
          </a:xfrm>
          <a:prstGeom prst="roundRect">
            <a:avLst>
              <a:gd name="adj" fmla="val 50000"/>
            </a:avLst>
          </a:prstGeom>
          <a:solidFill>
            <a:schemeClr val="accent3"/>
          </a:solidFill>
          <a:ln/>
        </p:spPr>
      </p:sp>
      <p:sp>
        <p:nvSpPr>
          <p:cNvPr id="13" name="Text 9"/>
          <p:cNvSpPr txBox="1"/>
          <p:nvPr/>
        </p:nvSpPr>
        <p:spPr>
          <a:xfrm>
            <a:off x="342900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sp>
      <p:sp>
        <p:nvSpPr>
          <p:cNvPr id="17" name="Shape 13"/>
          <p:cNvSpPr/>
          <p:nvPr/>
        </p:nvSpPr>
        <p:spPr>
          <a:xfrm>
            <a:off x="6126480" y="5257800"/>
            <a:ext cx="960120" cy="274320"/>
          </a:xfrm>
          <a:prstGeom prst="roundRect">
            <a:avLst>
              <a:gd name="adj" fmla="val 50000"/>
            </a:avLst>
          </a:prstGeom>
          <a:solidFill>
            <a:schemeClr val="accent3"/>
          </a:solidFill>
          <a:ln/>
        </p:spPr>
      </p:sp>
      <p:sp>
        <p:nvSpPr>
          <p:cNvPr id="18" name="Text 14"/>
          <p:cNvSpPr txBox="1"/>
          <p:nvPr/>
        </p:nvSpPr>
        <p:spPr>
          <a:xfrm>
            <a:off x="612648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sp>
      <p:sp>
        <p:nvSpPr>
          <p:cNvPr id="22" name="Text 18"/>
          <p:cNvSpPr txBox="1"/>
          <p:nvPr/>
        </p:nvSpPr>
        <p:spPr>
          <a:xfrm>
            <a:off x="8961120" y="1389888"/>
            <a:ext cx="2499055" cy="274320"/>
          </a:xfrm>
          <a:prstGeom prst="rect">
            <a:avLst/>
          </a:prstGeom>
          <a:noFill/>
          <a:ln/>
        </p:spPr>
        <p:txBody>
          <a:bodyPr wrap="square" lIns="0" tIns="0" rIns="0" bIns="0" rtlCol="0" anchor="t"/>
          <a:lstStyle/>
          <a:p>
            <a:pPr indent="0" marL="0">
              <a:buNone/>
            </a:pPr>
            <a:r>
              <a:rPr lang="en-US" sz="1100" b="1" spc="100" kern="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indent="0" marL="0">
              <a:buNone/>
            </a:pPr>
            <a:r>
              <a:rPr lang="en-US" sz="1200" b="1" dirty="0">
                <a:solidFill>
                  <a:schemeClr val="bg1"/>
                </a:solidFill>
              </a:rPr>
              <a:t>Rising 3.5 → 12 /min</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indent="0" marL="0">
              <a:buNone/>
            </a:pPr>
            <a:r>
              <a:rPr lang="en-US" sz="1100" dirty="0">
                <a:solidFill>
                  <a:srgbClr val="CADDDA"/>
                </a:solidFill>
              </a:rPr>
              <a:t>232 tickets · 95% within 10.2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indent="0" marL="0">
              <a:buNone/>
            </a:pPr>
            <a:r>
              <a:rPr lang="en-US" sz="1200" b="1" dirty="0">
                <a:solidFill>
                  <a:schemeClr val="bg1"/>
                </a:solidFill>
              </a:rPr>
              <a:t>Steady 7.2 /min</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indent="0" marL="0">
              <a:buNone/>
            </a:pPr>
            <a:r>
              <a:rPr lang="en-US" sz="1100" dirty="0">
                <a:solidFill>
                  <a:srgbClr val="CADDDA"/>
                </a:solidFill>
              </a:rPr>
              <a:t>108 tickets · 95% within 8.7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indent="0" marL="0">
              <a:buNone/>
            </a:pPr>
            <a:r>
              <a:rPr lang="en-US" sz="1200" b="1" dirty="0">
                <a:solidFill>
                  <a:schemeClr val="bg1"/>
                </a:solidFill>
              </a:rPr>
              <a:t>Steady 9.6 /min</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indent="0" marL="0">
              <a:buNone/>
            </a:pPr>
            <a:r>
              <a:rPr lang="en-US" sz="1100" dirty="0">
                <a:solidFill>
                  <a:srgbClr val="CADDDA"/>
                </a:solidFill>
              </a:rPr>
              <a:t>144 tickets · 95% within 17.3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No limit found up to 12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indent="0" marL="0">
              <a:buNone/>
            </a:pPr>
            <a:r>
              <a:rPr lang="en-US" sz="1100" dirty="0">
                <a:solidFill>
                  <a:schemeClr val="bg1"/>
                </a:solidFill>
              </a:rPr>
              <a:t>It kept up at 9.6 /min, 5.5× the busiest hour, without delays growing. We estimate it tops out near 19 /min (60 s ÷ 3.1 s per ticket); not yet confirmed.</a:t>
            </a:r>
            <a:endParaRPr lang="en-US" sz="1100" dirty="0"/>
          </a:p>
        </p:txBody>
      </p:sp>
      <p:sp>
        <p:nvSpPr>
          <p:cNvPr id="31" name="Text 27"/>
          <p:cNvSpPr txBox="1"/>
          <p:nvPr/>
        </p:nvSpPr>
        <p:spPr>
          <a:xfrm>
            <a:off x="8961120" y="470916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047488"/>
            <a:ext cx="2499055" cy="1143000"/>
          </a:xfrm>
          <a:prstGeom prst="rect">
            <a:avLst/>
          </a:prstGeom>
          <a:noFill/>
          <a:ln/>
        </p:spPr>
        <p:txBody>
          <a:bodyPr wrap="square" lIns="0" tIns="0" rIns="0" bIns="0" rtlCol="0" anchor="t"/>
          <a:lstStyle/>
          <a:p>
            <a:pPr indent="0" marL="0">
              <a:buNone/>
            </a:pPr>
            <a:r>
              <a:rPr lang="en-US" sz="1100" dirty="0">
                <a:solidFill>
                  <a:schemeClr val="bg1"/>
                </a:solidFill>
              </a:rPr>
              <a:t>Tickets wait under 0.1 s in our service, but up to 14.6 s (95%) in the model's own queue at 9.6 /min. The model keeps ~10 cores busy; our service under 7% of one.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Only the large model sorts well, and it misses one category</a:t>
            </a:r>
            <a:endParaRPr lang="en-US" sz="3000" dirty="0"/>
          </a:p>
        </p:txBody>
      </p:sp>
      <p:graphicFrame>
        <p:nvGraphicFramePr>
          <p:cNvPr id="4" name="Chart 0" descr=""/>
          <p:cNvGraphicFramePr/>
          <p:nvPr/>
        </p:nvGraphicFramePr>
        <p:xfrm>
          <a:off x="548640" y="1234440"/>
          <a:ext cx="7223760" cy="50292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sp>
      <p:sp>
        <p:nvSpPr>
          <p:cNvPr id="6" name="Text 2"/>
          <p:cNvSpPr txBox="1"/>
          <p:nvPr/>
        </p:nvSpPr>
        <p:spPr>
          <a:xfrm>
            <a:off x="8229600" y="1280160"/>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sp>
      <p:sp>
        <p:nvSpPr>
          <p:cNvPr id="9" name="Text 5"/>
          <p:cNvSpPr txBox="1"/>
          <p:nvPr/>
        </p:nvSpPr>
        <p:spPr>
          <a:xfrm>
            <a:off x="10360152"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sp>
      <p:sp>
        <p:nvSpPr>
          <p:cNvPr id="11" name="Text 7"/>
          <p:cNvSpPr txBox="1"/>
          <p:nvPr/>
        </p:nvSpPr>
        <p:spPr>
          <a:xfrm>
            <a:off x="10972800"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sp>
      <p:sp>
        <p:nvSpPr>
          <p:cNvPr id="13" name="Text 9"/>
          <p:cNvSpPr txBox="1"/>
          <p:nvPr/>
        </p:nvSpPr>
        <p:spPr>
          <a:xfrm>
            <a:off x="8229600" y="2029968"/>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sp>
      <p:sp>
        <p:nvSpPr>
          <p:cNvPr id="16" name="Text 12"/>
          <p:cNvSpPr txBox="1"/>
          <p:nvPr/>
        </p:nvSpPr>
        <p:spPr>
          <a:xfrm>
            <a:off x="10360152"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sp>
      <p:sp>
        <p:nvSpPr>
          <p:cNvPr id="18" name="Text 14"/>
          <p:cNvSpPr txBox="1"/>
          <p:nvPr/>
        </p:nvSpPr>
        <p:spPr>
          <a:xfrm>
            <a:off x="10972800"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sp>
      <p:sp>
        <p:nvSpPr>
          <p:cNvPr id="20" name="Text 16"/>
          <p:cNvSpPr txBox="1"/>
          <p:nvPr/>
        </p:nvSpPr>
        <p:spPr>
          <a:xfrm>
            <a:off x="8229600" y="2779776"/>
            <a:ext cx="1188720" cy="640080"/>
          </a:xfrm>
          <a:prstGeom prst="rect">
            <a:avLst/>
          </a:prstGeom>
          <a:noFill/>
          <a:ln/>
        </p:spPr>
        <p:txBody>
          <a:bodyPr wrap="square" lIns="0" tIns="0" rIns="0" bIns="0" rtlCol="0" anchor="ctr"/>
          <a:lstStyle/>
          <a:p>
            <a:pPr indent="0" marL="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sp>
      <p:sp>
        <p:nvSpPr>
          <p:cNvPr id="23" name="Text 19"/>
          <p:cNvSpPr txBox="1"/>
          <p:nvPr/>
        </p:nvSpPr>
        <p:spPr>
          <a:xfrm>
            <a:off x="10360152"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sp>
      <p:sp>
        <p:nvSpPr>
          <p:cNvPr id="25" name="Text 21"/>
          <p:cNvSpPr txBox="1"/>
          <p:nvPr/>
        </p:nvSpPr>
        <p:spPr>
          <a:xfrm>
            <a:off x="10972800"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gridCol w="3063240"/>
                <a:gridCol w="1143000"/>
              </a:tblGrid>
              <a:tr h="292608">
                <a:tc>
                  <a:txBody>
                    <a:bodyPr/>
                    <a:lstStyle/>
                    <a:p>
                      <a:pPr indent="0" marL="0">
                        <a:buNone/>
                      </a:pPr>
                      <a:r>
                        <a:rPr lang="en-US" sz="1100" b="1" dirty="0">
                          <a:solidFill>
                            <a:schemeClr val="bg1"/>
                          </a:solidFill>
                        </a:rPr>
                        <a:t>We predicted (before testing)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We measured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548640">
                <a:tc>
                  <a:txBody>
                    <a:bodyPr/>
                    <a:lstStyle/>
                    <a:p>
                      <a:pPr indent="0" marL="0">
                        <a:buNone/>
                      </a:pPr>
                      <a:r>
                        <a:rPr lang="en-US" sz="1100" dirty="0">
                          <a:solidFill>
                            <a:schemeClr val="tx1"/>
                          </a:solidFill>
                        </a:rPr>
                        <a:t>Slow part: the model reading each ticket; it keeps ≥ 9 cores busy, our service &lt; 10% of one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Reading = 82% of the large model's time; ~10.4 cores busy; our service ≤ 6.8%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Typical time per ticket: 0.8 / 0.9 / 6.1 s (small Qwen / Llama / large Qwen)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0.40 / 0.46 / 2.84 s: about half</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02920">
                <a:tc>
                  <a:txBody>
                    <a:bodyPr/>
                    <a:lstStyle/>
                    <a:p>
                      <a:pPr indent="0" marL="0">
                        <a:buNone/>
                      </a:pPr>
                      <a:r>
                        <a:rPr lang="en-US" sz="1100" dirty="0">
                          <a:solidFill>
                            <a:schemeClr val="tx1"/>
                          </a:solidFill>
                        </a:rPr>
                        <a:t>Large model overwhelmed near 9.4 /min; delays grow without end at 9.6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Kept up at 9.6 /min: 95% within 17.3 s, none 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100" dirty="0">
                          <a:solidFill>
                            <a:schemeClr val="tx1"/>
                          </a:solidFill>
                        </a:rPr>
                        <a:t>Accuracy 45% / 55% / 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17.9% / 32.8% / 82.6%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2 of 3 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Small Qwen over-uses Credit reporting (&gt; 35% of answers)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It over-uses Credit card instead (79%)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66928">
                <a:tc>
                  <a:txBody>
                    <a:bodyPr/>
                    <a:lstStyle/>
                    <a:p>
                      <a:pPr indent="0" marL="0">
                        <a:buNone/>
                      </a:pPr>
                      <a:r>
                        <a:rPr lang="en-US" sz="1100" dirty="0">
                          <a:solidFill>
                            <a:schemeClr val="tx1"/>
                          </a:solidFill>
                        </a:rPr>
                        <a:t>Hardest: Debt collection, Consumer loan; ≥ 25% of money transfers put in Bank account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Money transfer 66.7% (30% put in Bank account), Consumer loan 70.8%; but Debt collection 82.4%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Mostly 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95% of searches answered in under 0.1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0.22–0.46 s as JMeter sees it (under 7 ms inside the system)</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indent="0" marL="0">
              <a:buNone/>
            </a:pPr>
            <a:r>
              <a:rPr lang="en-US" sz="1200" b="1" dirty="0">
                <a:solidFill>
                  <a:schemeClr val="tx2"/>
                </a:solidFill>
              </a:rPr>
              <a:t>Why we were wrong: </a:t>
            </a:r>
            <a:pPr indent="0" marL="0">
              <a:buNone/>
            </a:pP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sp>
      <p:sp>
        <p:nvSpPr>
          <p:cNvPr id="7" name="Text 3"/>
          <p:cNvSpPr txBox="1"/>
          <p:nvPr/>
        </p:nvSpPr>
        <p:spPr>
          <a:xfrm>
            <a:off x="8321040" y="1417320"/>
            <a:ext cx="3093415" cy="274320"/>
          </a:xfrm>
          <a:prstGeom prst="rect">
            <a:avLst/>
          </a:prstGeom>
          <a:noFill/>
          <a:ln/>
        </p:spPr>
        <p:txBody>
          <a:bodyPr wrap="square" lIns="0" tIns="0" rIns="0" bIns="0" rtlCol="0" anchor="t"/>
          <a:lstStyle/>
          <a:p>
            <a:pPr indent="0" marL="0">
              <a:buNone/>
            </a:pPr>
            <a:r>
              <a:rPr lang="en-US" sz="1100" b="1" spc="100" kern="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Its licence (Apache 2.0) allows commercial use; runs on one standard server</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sp>
      <p:sp>
        <p:nvSpPr>
          <p:cNvPr id="11" name="Text 7"/>
          <p:cNvSpPr txBox="1"/>
          <p:nvPr/>
        </p:nvSpPr>
        <p:spPr>
          <a:xfrm>
            <a:off x="8458200" y="4434840"/>
            <a:ext cx="2819095" cy="274320"/>
          </a:xfrm>
          <a:prstGeom prst="rect">
            <a:avLst/>
          </a:prstGeom>
          <a:noFill/>
          <a:ln/>
        </p:spPr>
        <p:txBody>
          <a:bodyPr wrap="square" lIns="0" tIns="0" rIns="0" bIns="0" rtlCol="0" anchor="t"/>
          <a:lstStyle/>
          <a:p>
            <a:pPr indent="0" marL="0">
              <a:buNone/>
            </a:pPr>
            <a:r>
              <a:rPr lang="en-US" sz="1300" b="1" dirty="0">
                <a:solidFill>
                  <a:schemeClr val="accent2"/>
                </a:solidFill>
              </a:rPr>
              <a:t>Stated plainly</a:t>
            </a:r>
            <a:endParaRPr lang="en-US" sz="1300" dirty="0"/>
          </a:p>
        </p:txBody>
      </p:sp>
      <p:sp>
        <p:nvSpPr>
          <p:cNvPr id="12" name="Text 8"/>
          <p:cNvSpPr txBox="1"/>
          <p:nvPr/>
        </p:nvSpPr>
        <p:spPr>
          <a:xfrm>
            <a:off x="8458200" y="4727448"/>
            <a:ext cx="2819095" cy="1371600"/>
          </a:xfrm>
          <a:prstGeom prst="rect">
            <a:avLst/>
          </a:prstGeom>
          <a:noFill/>
          <a:ln/>
        </p:spPr>
        <p:txBody>
          <a:bodyPr wrap="square" lIns="0" tIns="0" rIns="0" bIns="0" rtlCol="0" anchor="t"/>
          <a:lstStyle/>
          <a:p>
            <a:pPr indent="0" marL="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667512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References</a:t>
            </a:r>
            <a:endParaRPr lang="en-US" sz="1600" dirty="0"/>
          </a:p>
        </p:txBody>
      </p:sp>
      <p:sp>
        <p:nvSpPr>
          <p:cNvPr id="5" name="Text 2"/>
          <p:cNvSpPr txBox="1"/>
          <p:nvPr/>
        </p:nvSpPr>
        <p:spPr>
          <a:xfrm>
            <a:off x="548640" y="1691640"/>
            <a:ext cx="6675120" cy="45720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[1] Lloyds Banking Group (2026). Complaints publication report: Bank of Scotland plc, 1 July – 31 December 2025. lloydsbankinggroup.com</a:t>
            </a:r>
            <a:endParaRPr lang="en-US" sz="1100" dirty="0"/>
          </a:p>
          <a:p>
            <a:pPr indent="0" marL="0">
              <a:spcAft>
                <a:spcPts val="600"/>
              </a:spcAft>
              <a:buNone/>
            </a:pPr>
            <a:r>
              <a:rPr lang="en-US" sz="1100" dirty="0">
                <a:solidFill>
                  <a:schemeClr val="tx1"/>
                </a:solidFill>
              </a:rPr>
              <a:t>[2] Financial Conduct Authority (2026). Aggregate complaints data: 2025 H2. fca.org.uk/data/complaints-data/aggregate-complaints-data-2025-h2</a:t>
            </a:r>
            <a:endParaRPr lang="en-US" sz="1100" dirty="0"/>
          </a:p>
          <a:p>
            <a:pPr indent="0" marL="0">
              <a:spcAft>
                <a:spcPts val="600"/>
              </a:spcAft>
              <a:buNone/>
            </a:pPr>
            <a:r>
              <a:rPr lang="en-US" sz="1100" dirty="0">
                <a:solidFill>
                  <a:schemeClr val="tx1"/>
                </a:solidFill>
              </a:rPr>
              <a:t>[3] Brown, L. et al. (2005). Statistical analysis of a telephone call center: a queueing-science perspective. JASA, 100(469), 36–50.</a:t>
            </a:r>
            <a:endParaRPr lang="en-US" sz="1100" dirty="0"/>
          </a:p>
          <a:p>
            <a:pPr indent="0" marL="0">
              <a:spcAft>
                <a:spcPts val="600"/>
              </a:spcAft>
              <a:buNone/>
            </a:pPr>
            <a:r>
              <a:rPr lang="en-US" sz="1100" dirty="0">
                <a:solidFill>
                  <a:schemeClr val="tx1"/>
                </a:solidFill>
              </a:rPr>
              <a:t>[4] Soon. How many agents do you need for 500 calls a day? soon.works/staffing/call-center/500-calls-per-day</a:t>
            </a:r>
            <a:endParaRPr lang="en-US" sz="1100" dirty="0"/>
          </a:p>
          <a:p>
            <a:pPr indent="0" marL="0">
              <a:spcAft>
                <a:spcPts val="600"/>
              </a:spcAft>
              <a:buNone/>
            </a:pPr>
            <a:r>
              <a:rPr lang="en-US" sz="1100" dirty="0">
                <a:solidFill>
                  <a:schemeClr val="tx1"/>
                </a:solidFill>
              </a:rPr>
              <a:t>[5] Financial Conduct Authority. FCA Handbook Glossary: complaint. handbook.fca.org.uk/glossary/G197</a:t>
            </a:r>
            <a:endParaRPr lang="en-US" sz="1100" dirty="0"/>
          </a:p>
          <a:p>
            <a:pPr indent="0" marL="0">
              <a:spcAft>
                <a:spcPts val="600"/>
              </a:spcAft>
              <a:buNone/>
            </a:pPr>
            <a:r>
              <a:rPr lang="en-US" sz="1100" dirty="0">
                <a:solidFill>
                  <a:schemeClr val="tx1"/>
                </a:solidFill>
              </a:rPr>
              <a:t>[6] Consumer Financial Protection Bureau. Consumer Complaint Database. consumerfinance.gov/data-research/consumer-complaints (course extract, rows 3000–3999)</a:t>
            </a:r>
            <a:endParaRPr lang="en-US" sz="1100" dirty="0"/>
          </a:p>
          <a:p>
            <a:pPr indent="0" marL="0">
              <a:spcAft>
                <a:spcPts val="600"/>
              </a:spcAft>
              <a:buNone/>
            </a:pPr>
            <a:r>
              <a:rPr lang="en-US" sz="1100" dirty="0">
                <a:solidFill>
                  <a:schemeClr val="tx1"/>
                </a:solidFill>
              </a:rPr>
              <a:t>[7] Nielsen, J. (1993). Response times: the 3 important limits. Nielsen Norman Group. nngroup.com/articles/response-times-3-important-limits</a:t>
            </a:r>
            <a:endParaRPr lang="en-US" sz="1100" dirty="0"/>
          </a:p>
        </p:txBody>
      </p:sp>
      <p:sp>
        <p:nvSpPr>
          <p:cNvPr id="6" name="Shape 3"/>
          <p:cNvSpPr/>
          <p:nvPr/>
        </p:nvSpPr>
        <p:spPr>
          <a:xfrm>
            <a:off x="7589520" y="1280160"/>
            <a:ext cx="4053535" cy="3017520"/>
          </a:xfrm>
          <a:prstGeom prst="roundRect">
            <a:avLst>
              <a:gd name="adj" fmla="val 2424"/>
            </a:avLst>
          </a:prstGeom>
          <a:solidFill>
            <a:schemeClr val="bg2"/>
          </a:solidFill>
          <a:ln/>
        </p:spPr>
      </p:sp>
      <p:sp>
        <p:nvSpPr>
          <p:cNvPr id="7" name="Text 4"/>
          <p:cNvSpPr txBox="1"/>
          <p:nvPr/>
        </p:nvSpPr>
        <p:spPr>
          <a:xfrm>
            <a:off x="7818120" y="1389888"/>
            <a:ext cx="3596335" cy="320040"/>
          </a:xfrm>
          <a:prstGeom prst="rect">
            <a:avLst/>
          </a:prstGeom>
          <a:noFill/>
          <a:ln/>
        </p:spPr>
        <p:txBody>
          <a:bodyPr wrap="square" lIns="0" tIns="0" rIns="0" bIns="0" rtlCol="0" anchor="t"/>
          <a:lstStyle/>
          <a:p>
            <a:pPr indent="0" marL="0">
              <a:buNone/>
            </a:pPr>
            <a:r>
              <a:rPr lang="en-US" sz="1400" b="1" dirty="0">
                <a:solidFill>
                  <a:schemeClr val="tx2"/>
                </a:solidFill>
              </a:rPr>
              <a:t>Software and model licences</a:t>
            </a:r>
            <a:endParaRPr lang="en-US" sz="1400" dirty="0"/>
          </a:p>
        </p:txBody>
      </p:sp>
      <p:sp>
        <p:nvSpPr>
          <p:cNvPr id="8" name="Text 5"/>
          <p:cNvSpPr txBox="1"/>
          <p:nvPr/>
        </p:nvSpPr>
        <p:spPr>
          <a:xfrm>
            <a:off x="7818120" y="1755648"/>
            <a:ext cx="3596335" cy="24688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1"/>
                </a:solidFill>
              </a:rPr>
              <a:t>Ollama 0.35.1, MIT License. ollama.com</a:t>
            </a:r>
            <a:endParaRPr lang="en-US" sz="1100" dirty="0"/>
          </a:p>
          <a:p>
            <a:pPr marL="342900" indent="-342900">
              <a:spcAft>
                <a:spcPts val="300"/>
              </a:spcAft>
              <a:buSzPct val="100000"/>
              <a:buChar char="•"/>
            </a:pPr>
            <a:r>
              <a:rPr lang="en-US" sz="1100" dirty="0">
                <a:solidFill>
                  <a:schemeClr val="tx1"/>
                </a:solidFill>
              </a:rPr>
              <a:t>Qwen2.5 0.5B and 7B (Alibaba Cloud), Apache License 2.0</a:t>
            </a:r>
            <a:endParaRPr lang="en-US" sz="1100" dirty="0"/>
          </a:p>
          <a:p>
            <a:pPr marL="342900" indent="-342900">
              <a:spcAft>
                <a:spcPts val="300"/>
              </a:spcAft>
              <a:buSzPct val="100000"/>
              <a:buChar char="•"/>
            </a:pPr>
            <a:r>
              <a:rPr lang="en-US" sz="1100" dirty="0">
                <a:solidFill>
                  <a:schemeClr val="tx1"/>
                </a:solidFill>
              </a:rPr>
              <a:t>Llama 3.2 1B: Llama 3.2 Community License, Meta Platforms. Built with Llama</a:t>
            </a:r>
            <a:endParaRPr lang="en-US" sz="1100" dirty="0"/>
          </a:p>
          <a:p>
            <a:pPr marL="342900" indent="-342900">
              <a:spcAft>
                <a:spcPts val="300"/>
              </a:spcAft>
              <a:buSzPct val="100000"/>
              <a:buChar char="•"/>
            </a:pPr>
            <a:r>
              <a:rPr lang="en-US" sz="1100" dirty="0">
                <a:solidFill>
                  <a:schemeClr val="tx1"/>
                </a:solidFill>
              </a:rPr>
              <a:t>Apache JMeter 5.6.3, Apache License 2.0</a:t>
            </a:r>
            <a:endParaRPr lang="en-US" sz="1100" dirty="0"/>
          </a:p>
          <a:p>
            <a:pPr marL="342900" indent="-342900">
              <a:spcAft>
                <a:spcPts val="300"/>
              </a:spcAft>
              <a:buSzPct val="100000"/>
              <a:buChar char="•"/>
            </a:pPr>
            <a:r>
              <a:rPr lang="en-US" sz="1100" dirty="0">
                <a:solidFill>
                  <a:schemeClr val="tx1"/>
                </a:solidFill>
              </a:rPr>
              <a:t>FastAPI (MIT), SQLite (public domain), Docker</a:t>
            </a:r>
            <a:endParaRPr lang="en-US" sz="1100" dirty="0"/>
          </a:p>
        </p:txBody>
      </p:sp>
      <p:sp>
        <p:nvSpPr>
          <p:cNvPr id="9" name="Shape 6"/>
          <p:cNvSpPr/>
          <p:nvPr/>
        </p:nvSpPr>
        <p:spPr>
          <a:xfrm>
            <a:off x="7589520" y="4480560"/>
            <a:ext cx="4053535" cy="1783080"/>
          </a:xfrm>
          <a:prstGeom prst="roundRect">
            <a:avLst>
              <a:gd name="adj" fmla="val 4103"/>
            </a:avLst>
          </a:prstGeom>
          <a:solidFill>
            <a:schemeClr val="bg1"/>
          </a:solidFill>
          <a:ln w="12700">
            <a:solidFill>
              <a:srgbClr val="D5DFDD"/>
            </a:solidFill>
            <a:prstDash val="solid"/>
          </a:ln>
        </p:spPr>
      </p:sp>
      <p:sp>
        <p:nvSpPr>
          <p:cNvPr id="10" name="Text 7"/>
          <p:cNvSpPr txBox="1"/>
          <p:nvPr/>
        </p:nvSpPr>
        <p:spPr>
          <a:xfrm>
            <a:off x="7818120" y="4572000"/>
            <a:ext cx="3596335" cy="320040"/>
          </a:xfrm>
          <a:prstGeom prst="rect">
            <a:avLst/>
          </a:prstGeom>
          <a:noFill/>
          <a:ln/>
        </p:spPr>
        <p:txBody>
          <a:bodyPr wrap="square" lIns="0" tIns="0" rIns="0" bIns="0" rtlCol="0" anchor="t"/>
          <a:lstStyle/>
          <a:p>
            <a:pPr indent="0" marL="0">
              <a:buNone/>
            </a:pPr>
            <a:r>
              <a:rPr lang="en-US" sz="1400" b="1" dirty="0">
                <a:solidFill>
                  <a:schemeClr val="tx2"/>
                </a:solidFill>
              </a:rPr>
              <a:t>Acknowledgements</a:t>
            </a:r>
            <a:endParaRPr lang="en-US" sz="1400" dirty="0"/>
          </a:p>
        </p:txBody>
      </p:sp>
      <p:sp>
        <p:nvSpPr>
          <p:cNvPr id="11" name="Text 8"/>
          <p:cNvSpPr txBox="1"/>
          <p:nvPr/>
        </p:nvSpPr>
        <p:spPr>
          <a:xfrm>
            <a:off x="7818120" y="4919472"/>
            <a:ext cx="3596335" cy="1280160"/>
          </a:xfrm>
          <a:prstGeom prst="rect">
            <a:avLst/>
          </a:prstGeom>
          <a:noFill/>
          <a:ln/>
        </p:spPr>
        <p:txBody>
          <a:bodyPr wrap="square" lIns="0" tIns="0" rIns="0" bIns="0" rtlCol="0" anchor="t"/>
          <a:lstStyle/>
          <a:p>
            <a:pPr indent="0" marL="0">
              <a:buNone/>
            </a:pPr>
            <a:r>
              <a:rPr lang="en-US" sz="1100" dirty="0">
                <a:solidFill>
                  <a:schemeClr val="tx1"/>
                </a:solidFill>
              </a:rPr>
              <a:t>Complaint narratives published by the CFPB with consumer consent, personal data removed at source.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Group P1-3</cp:lastModifiedBy>
  <cp:revision>1</cp:revision>
  <dcterms:created xsi:type="dcterms:W3CDTF">2026-10-09T04:58:35Z</dcterms:created>
  <dcterms:modified xsi:type="dcterms:W3CDTF">2026-10-09T04:58:35Z</dcterms:modified>
</cp:coreProperties>
</file>