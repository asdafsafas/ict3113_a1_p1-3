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669b80c-15da-8433-079b-bd5bd2e774a7}">
          <p14:sldIdLst>
            <p14:sldId id="256"/>
          </p14:sldIdLst>
        </p14:section>
        <p14:section name="System and workload" id="{36d4cb4f-5de0-b81d-491c-85e7b447aac5}">
          <p14:sldIdLst>
            <p14:sldId id="257"/>
            <p14:sldId id="258"/>
          </p14:sldIdLst>
        </p14:section>
        <p14:section name="Requirements and candidates" id="{2f611fac-b390-d812-f1d7-4447d616887b}">
          <p14:sldIdLst>
            <p14:sldId id="259"/>
            <p14:sldId id="260"/>
          </p14:sldIdLst>
        </p14:section>
        <p14:section name="Golden set and testing" id="{616e4131-2b9a-aed0-93a6-7cb7f4879a5c}">
          <p14:sldIdLst>
            <p14:sldId id="261"/>
            <p14:sldId id="262"/>
            <p14:sldId id="263"/>
          </p14:sldIdLst>
        </p14:section>
        <p14:section name="Results and recommendation" id="{5089b4ab-96f1-0b4f-7fa4-c2385501bf2b}">
          <p14:sldIdLst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34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343B"/>
                </a:solidFill>
                <a:latin typeface="+mn-lt"/>
              </a:rPr>
              <a:t>Ticket length in characters (1,000 rows)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Characters</c:v>
                </c:pt>
              </c:strCache>
            </c:strRef>
          </c:tx>
          <c:spPr>
            <a:solidFill>
              <a:srgbClr val="0F6E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B2A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p5</c:v>
                  </c:pt>
                  <c:pt idx="1">
                    <c:v>p25</c:v>
                  </c:pt>
                  <c:pt idx="2">
                    <c:v>p50</c:v>
                  </c:pt>
                  <c:pt idx="3">
                    <c:v>p75</c:v>
                  </c:pt>
                  <c:pt idx="4">
                    <c:v>p95</c:v>
                  </c:pt>
                  <c:pt idx="5">
                    <c:v>p99</c:v>
                  </c:pt>
                  <c:pt idx="6">
                    <c:v>max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263</c:v>
                </c:pt>
                <c:pt idx="1">
                  <c:v>512</c:v>
                </c:pt>
                <c:pt idx="2">
                  <c:v>797</c:v>
                </c:pt>
                <c:pt idx="3">
                  <c:v>1214</c:v>
                </c:pt>
                <c:pt idx="4">
                  <c:v>1780</c:v>
                </c:pt>
                <c:pt idx="5">
                  <c:v>1938</c:v>
                </c:pt>
                <c:pt idx="6">
                  <c:v>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B2A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4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"/>
          <c:min val="0"/>
        </c:scaling>
        <c:delete val="0"/>
        <c:axPos val="l"/>
        <c:majorGridlines>
          <c:spPr>
            <a:ln w="6350" cap="flat">
              <a:solidFill>
                <a:srgbClr val="E2E8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4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234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2343B"/>
                </a:solidFill>
                <a:latin typeface="+mn-lt"/>
              </a:rPr>
              <a:t>Per-category recall on the golden set (%), tickets per category in brackets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qwen2.5:0.5b</c:v>
                </c:pt>
              </c:strCache>
            </c:strRef>
          </c:tx>
          <c:spPr>
            <a:solidFill>
              <a:srgbClr val="9BC1B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Credit reporting (42)</c:v>
                  </c:pt>
                  <c:pt idx="1">
                    <c:v>Debt collection (17)</c:v>
                  </c:pt>
                  <c:pt idx="2">
                    <c:v>Mortgage (27)</c:v>
                  </c:pt>
                  <c:pt idx="3">
                    <c:v>Credit card (18)</c:v>
                  </c:pt>
                  <c:pt idx="4">
                    <c:v>Bank account (37)</c:v>
                  </c:pt>
                  <c:pt idx="5">
                    <c:v>Consumer loan (24)</c:v>
                  </c:pt>
                  <c:pt idx="6">
                    <c:v>Money transfer (30)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40.5</c:v>
                </c:pt>
                <c:pt idx="1">
                  <c:v>0</c:v>
                </c:pt>
                <c:pt idx="2">
                  <c:v>0</c:v>
                </c:pt>
                <c:pt idx="3">
                  <c:v>94.4</c:v>
                </c:pt>
                <c:pt idx="4">
                  <c:v>2.7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llama3.2:1b</c:v>
                </c:pt>
              </c:strCache>
            </c:strRef>
          </c:tx>
          <c:spPr>
            <a:solidFill>
              <a:srgbClr val="5F747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Credit reporting (42)</c:v>
                  </c:pt>
                  <c:pt idx="1">
                    <c:v>Debt collection (17)</c:v>
                  </c:pt>
                  <c:pt idx="2">
                    <c:v>Mortgage (27)</c:v>
                  </c:pt>
                  <c:pt idx="3">
                    <c:v>Credit card (18)</c:v>
                  </c:pt>
                  <c:pt idx="4">
                    <c:v>Bank account (37)</c:v>
                  </c:pt>
                  <c:pt idx="5">
                    <c:v>Consumer loan (24)</c:v>
                  </c:pt>
                  <c:pt idx="6">
                    <c:v>Money transfer (30)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85.7</c:v>
                </c:pt>
                <c:pt idx="1">
                  <c:v>58.8</c:v>
                </c:pt>
                <c:pt idx="2">
                  <c:v>29.6</c:v>
                </c:pt>
                <c:pt idx="3">
                  <c:v>16.7</c:v>
                </c:pt>
                <c:pt idx="4">
                  <c:v>16.2</c:v>
                </c:pt>
                <c:pt idx="5">
                  <c:v>0</c:v>
                </c:pt>
                <c:pt idx="6">
                  <c:v>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qwen2.5:7b</c:v>
                </c:pt>
              </c:strCache>
            </c:strRef>
          </c:tx>
          <c:spPr>
            <a:solidFill>
              <a:srgbClr val="0F6E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Credit reporting (42)</c:v>
                  </c:pt>
                  <c:pt idx="1">
                    <c:v>Debt collection (17)</c:v>
                  </c:pt>
                  <c:pt idx="2">
                    <c:v>Mortgage (27)</c:v>
                  </c:pt>
                  <c:pt idx="3">
                    <c:v>Credit card (18)</c:v>
                  </c:pt>
                  <c:pt idx="4">
                    <c:v>Bank account (37)</c:v>
                  </c:pt>
                  <c:pt idx="5">
                    <c:v>Consumer loan (24)</c:v>
                  </c:pt>
                  <c:pt idx="6">
                    <c:v>Money transfer (30)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81</c:v>
                </c:pt>
                <c:pt idx="1">
                  <c:v>82.4</c:v>
                </c:pt>
                <c:pt idx="2">
                  <c:v>92.6</c:v>
                </c:pt>
                <c:pt idx="3">
                  <c:v>88.9</c:v>
                </c:pt>
                <c:pt idx="4">
                  <c:v>94.6</c:v>
                </c:pt>
                <c:pt idx="5">
                  <c:v>70.8</c:v>
                </c:pt>
                <c:pt idx="6">
                  <c:v>66.7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R5 bar (70%)</c:v>
                </c:pt>
              </c:strCache>
            </c:strRef>
          </c:tx>
          <c:spPr>
            <a:solidFill>
              <a:srgbClr val="B83A2E"/>
            </a:solidFill>
            <a:ln w="19050" cap="flat">
              <a:solidFill>
                <a:srgbClr val="B83A2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83A2E"/>
              </a:solidFill>
              <a:ln w="9525" cap="flat">
                <a:solidFill>
                  <a:srgbClr val="B83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Credit reporting (42)</c:v>
                  </c:pt>
                  <c:pt idx="1">
                    <c:v>Debt collection (17)</c:v>
                  </c:pt>
                  <c:pt idx="2">
                    <c:v>Mortgage (27)</c:v>
                  </c:pt>
                  <c:pt idx="3">
                    <c:v>Credit card (18)</c:v>
                  </c:pt>
                  <c:pt idx="4">
                    <c:v>Bank account (37)</c:v>
                  </c:pt>
                  <c:pt idx="5">
                    <c:v>Consumer loan (24)</c:v>
                  </c:pt>
                  <c:pt idx="6">
                    <c:v>Money transfer (30)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70</c:v>
                </c:pt>
                <c:pt idx="1">
                  <c:v>70</c:v>
                </c:pt>
                <c:pt idx="2">
                  <c:v>70</c:v>
                </c:pt>
                <c:pt idx="3">
                  <c:v>70</c:v>
                </c:pt>
                <c:pt idx="4">
                  <c:v>70</c:v>
                </c:pt>
                <c:pt idx="5">
                  <c:v>70</c:v>
                </c:pt>
                <c:pt idx="6">
                  <c:v>70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47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47B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B2A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Names/IDs to be completed by the team. Headline figures: results/accuracy/comparison.md (82.6%), results/load/qwen2.5-7b/1.73rpm_s3.5_run*.jtl (p95 6.06 s mean of 3 runs).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docs/architecture.md, docker-compose.yml, service/app/. Baseline settings from .env.example: OLLAMA_NUM_PARALLEL=1, uvicorn --workers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planning/workload-model.md. Ticket lengths reproduced with python scripts/ticket_lengths.py over rows 3000-3999.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planning/requirements.md (frozen with tag prediction-freeze).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models/models.lock.json, docs/models.md. qwen2.5:3b was in the four-model lock at tag prediction-freeze.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golden/PROTOCOL.md, golden/agreement_summary.md, golden/SUMMARY.md, golden/pairs/*.csv. Label sheets committed in 39d4cc2; golden set frozen in 653a98e; tag prediction-freeze 2026-10-06 15:36 SGT; first official benchmark run 17:13 SGT the same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evidence/smoke-prototype/env/service_machine.txt (SUT), results/load/*/..._jmeter.log (LG: os.name, java.version, JMeter version), service logs for search latency, *_stats.csv for docker stats.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step-by-step playbook: docs/actual-jmeter-test.md and docs/load-testing.md. Runners: scripts/run_official_jmeter_suite.py, scripts/run_7b_stress_suite.py, scripts/run_accuracy_suite.py. Reconciliation: scripts/reconcile.py. Summary: scripts/summarise_jtl.py.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python scripts/summarise_jtl.py results/load (POST /tickets) and --label "GET /search". Values are mean (min–max) over 3 runs; no warm-up skip. Error rate 0.0% in all 27 runs: 0 of 594 POSTs, 0 of 1,206 searches. Ollama queue wait from service logs: ollama_total_ms − prompt_eval_ms − eval_ms. CPU from *_stats.csv.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results/accuracy/comparison.md and per-run reports results/accuracy/20261008T*.md (confusion matrices). Run 8 Oct 2026, prompt classify_v1.txt, after the freeze.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Predictions: planning/prediction-record.md at tag prediction-freeze (2026-10-06 15:36 SGT). Outcomes: slides 9 and 10. Latency correlation r computed from service logs of the 27 load runs. Single-request latency from the sequential accuracy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Licences: Qwen2.5 0.5B and 7B are Apache 2.0; Llama 3.2 Community License requires 'Built with Llama' attribution and a copy of the licence on redistribution; Ollama is MIT; Apache JMeter is Apache 2.0.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67665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DD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ICT3113 Assignment 1  ·  Group P1-3  ·  Ticket triage on CPU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sdafsafas/ICT3113_A1_P1-3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Ticket Triage on CPU-only Hardware: What to Deploy, and What We Can Promise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9718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DDA"/>
                </a:solidFill>
              </a:rPr>
              <a:t>Performance requirements, golden-set accuracy and load testing of three local Ollama models for a financial-services complaints desk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0690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BC1BC"/>
                </a:solidFill>
              </a:rPr>
              <a:t>GROUP P1-3  ·  TEAM 3  ·  DATA ROWS 3000–3999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348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Zong Han</a:t>
            </a:r>
            <a:pPr indent="0" marL="0">
              <a:buNone/>
            </a:pPr>
            <a:r>
              <a:rPr lang="en-US" sz="1400" dirty="0">
                <a:solidFill>
                  <a:srgbClr val="CADDDA"/>
                </a:solidFill>
              </a:rPr>
              <a:t>   [student ID]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78231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Ridwan</a:t>
            </a:r>
            <a:pPr indent="0" marL="0">
              <a:buNone/>
            </a:pPr>
            <a:r>
              <a:rPr lang="en-US" sz="1400" dirty="0">
                <a:solidFill>
                  <a:srgbClr val="CADDDA"/>
                </a:solidFill>
              </a:rPr>
              <a:t>   [student ID]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12978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Tze Han</a:t>
            </a:r>
            <a:pPr indent="0" marL="0">
              <a:buNone/>
            </a:pPr>
            <a:r>
              <a:rPr lang="en-US" sz="1400" dirty="0">
                <a:solidFill>
                  <a:srgbClr val="CADDDA"/>
                </a:solidFill>
              </a:rPr>
              <a:t>   [student ID]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44348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Kannan</a:t>
            </a:r>
            <a:pPr indent="0" marL="0">
              <a:buNone/>
            </a:pPr>
            <a:r>
              <a:rPr lang="en-US" sz="1400" dirty="0">
                <a:solidFill>
                  <a:srgbClr val="CADDDA"/>
                </a:solidFill>
              </a:rPr>
              <a:t>   [student ID]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931920" y="478231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Natalie</a:t>
            </a:r>
            <a:pPr indent="0" marL="0">
              <a:buNone/>
            </a:pPr>
            <a:r>
              <a:rPr lang="en-US" sz="1400" dirty="0">
                <a:solidFill>
                  <a:srgbClr val="CADDDA"/>
                </a:solidFill>
              </a:rPr>
              <a:t>   [student ID]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DDA"/>
                </a:solidFill>
              </a:rPr>
              <a:t>Repository (rebuild with docker compose up -d --build):  </a:t>
            </a:r>
            <a:pPr indent="0" marL="0">
              <a:buNone/>
            </a:pPr>
            <a:r>
              <a:rPr lang="en-US" sz="1300" b="1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github.com/asdafsafas/ICT3113_A1_P1-3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01000" y="1097280"/>
            <a:ext cx="3611880" cy="4206240"/>
          </a:xfrm>
          <a:prstGeom prst="roundRect">
            <a:avLst>
              <a:gd name="adj" fmla="val 2532"/>
            </a:avLst>
          </a:prstGeom>
          <a:solidFill>
            <a:srgbClr val="1B4A5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321040" y="1371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9BC1BC"/>
                </a:solidFill>
              </a:rPr>
              <a:t>RECOMMENDATION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qwen2.5:7b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2402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82.6%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1546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DDA"/>
                </a:solidFill>
              </a:rPr>
              <a:t>golden-set accuracy (161 / 195)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36118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6.1 s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41605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ADDDA"/>
                </a:solidFill>
              </a:rPr>
              <a:t>POST /tickets p95 at peak load (limit 30 s)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4572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9BC1BC"/>
                </a:solidFill>
              </a:rPr>
              <a:t>Misses one requirement: Money transfer recall 66.7% vs 70%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One synchronous service in front of one CPU-only model server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600200"/>
            <a:ext cx="224028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LOAD GENERATOR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Separate Mac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Apache JMeter 5.6.3, Open Model Thread Group. Plays the intake (POST) and the handlers (GET /search)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834640" y="2697480"/>
            <a:ext cx="685800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Text 6"/>
          <p:cNvSpPr txBox="1"/>
          <p:nvPr/>
        </p:nvSpPr>
        <p:spPr>
          <a:xfrm>
            <a:off x="2788920" y="23317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HTTP, Wi-Fi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566160" y="1325880"/>
            <a:ext cx="3886200" cy="4846320"/>
          </a:xfrm>
          <a:prstGeom prst="roundRect">
            <a:avLst>
              <a:gd name="adj" fmla="val 1882"/>
            </a:avLst>
          </a:prstGeom>
          <a:solidFill>
            <a:schemeClr val="bg1"/>
          </a:solidFill>
          <a:ln w="15875">
            <a:solidFill>
              <a:schemeClr val="accent6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3749040" y="14356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SYSTEM UNDER TEST · MacBook Pro M5 · Docker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794760" y="1828800"/>
            <a:ext cx="3429000" cy="1051560"/>
          </a:xfrm>
          <a:prstGeom prst="roundRect">
            <a:avLst>
              <a:gd name="adj" fmla="val 6957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977640" y="19202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triage service (FastAPI, port 8000)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977640" y="22402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DDA"/>
                </a:solidFill>
              </a:rPr>
              <a:t>1 uvicorn worker · sync endpoints · writes one JSON log line per request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617720" y="2898648"/>
            <a:ext cx="0" cy="50292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794760" y="3429000"/>
            <a:ext cx="269748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977640" y="3520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Ollama 0.35.1 (CPU only)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8404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One model loaded · NUM_PARALLEL=1: one ticket at a time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858000" y="2898648"/>
            <a:ext cx="0" cy="187452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623560" y="4800600"/>
            <a:ext cx="16002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760720" y="4892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SQLite volume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760720" y="52120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tickets + category; starts empty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3794760" y="4800600"/>
            <a:ext cx="160020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3931920" y="4892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Request log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521208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logs/service/*.jsonl, kept in git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7818120" y="132588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Endpoints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7818120" y="1783080"/>
            <a:ext cx="382493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955280" y="1856232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/tickets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955280" y="2130552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Classifies one narrative into 1 of 7 categories (JSON-schema output), stores it, returns the category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818120" y="2651760"/>
            <a:ext cx="382493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955280" y="2724912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/search?q=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955280" y="2999232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Stored tickets whose text contains the query, newest first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7818120" y="3520440"/>
            <a:ext cx="3824935" cy="749808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7955280" y="3593592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/stats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7955280" y="3867912"/>
            <a:ext cx="35506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Count of stored tickets per category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818120" y="4434840"/>
            <a:ext cx="38249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as specified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7818120" y="4800600"/>
            <a:ext cx="38249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Synchronous: POST returns only after the model answers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caching: the same text is classified again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No queuing in our code; Ollama's own FIFO is the only queue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Search is a LIKE '%q%' scan; new SQLite connection per request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desk peaks at 1.73 tickets per minute, all in business hours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1600200" cy="187452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4447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86,719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in-scope complaints per half-year (Bank of Scotland plc, H2 2025)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8529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SOURCED [1]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258568" y="1325880"/>
            <a:ext cx="1600200" cy="187452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95728" y="14447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694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2395728" y="196596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per business day: ×2 for a year, ÷ 250 days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2395728" y="28529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ESTIMATED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968496" y="1325880"/>
            <a:ext cx="1600200" cy="187452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105656" y="14447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1.45/min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105656" y="196596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average: 694 over 8 business hours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105656" y="28529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ESTIMATED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78424" y="1325880"/>
            <a:ext cx="1600200" cy="187452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815584" y="14447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1.73/min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96596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DDA"/>
                </a:solidFill>
              </a:rPr>
              <a:t>peak hour carries 15% of the day: 104 tickets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815584" y="2852928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BC1BC"/>
                </a:solidFill>
              </a:rPr>
              <a:t>EST. FROM [3][4]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4290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levels tested (POST + search per minute)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6720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234440"/>
                <a:gridCol w="1325880"/>
                <a:gridCol w="28346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Level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Tickets /min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Searches /min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Basis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Average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1.45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2.9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Average business hour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Peak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1.73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3.5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Requirements must hold here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Beyond peak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3.5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× peak: unsized seasonal surges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548640" y="5257800"/>
            <a:ext cx="6720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Searches: 2 per ticket handled (earlier complaints + similar cases). ESTIMATED: no published figure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complaint counted as a ticket, phone included; out-of-hours folded into business hours. Both overstate load</a:t>
            </a:r>
            <a:endParaRPr lang="en-US" sz="1200" dirty="0"/>
          </a:p>
        </p:txBody>
      </p:sp>
      <p:graphicFrame>
        <p:nvGraphicFramePr>
          <p:cNvPr id="23" name="Chart 0" descr=""/>
          <p:cNvGraphicFramePr/>
          <p:nvPr/>
        </p:nvGraphicFramePr>
        <p:xfrm>
          <a:off x="7589520" y="1280160"/>
          <a:ext cx="4053535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4" name="Text 19"/>
          <p:cNvSpPr txBox="1"/>
          <p:nvPr/>
        </p:nvSpPr>
        <p:spPr>
          <a:xfrm>
            <a:off x="7589520" y="4846320"/>
            <a:ext cx="4053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Median 797 chars / 144 words; p95 1,780 chars (2.2 × median)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Max 2,000 chars + 395-char prompt fits num_ctx 4,096: nothing truncated (max 617 prompt tokens logged)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As accurate as a trained human, fast enough for the peak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11094415" cy="749808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1325880"/>
            <a:ext cx="106372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Our position: </a:t>
            </a:r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 misrouted ticket costs more than a slow one. It must be noticed, re-read and re-routed by a second team. A 30 s classification changes nothing for a complaint a person answers over hours or days.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246120"/>
                <a:gridCol w="3017520"/>
                <a:gridCol w="427939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Requirement (testable)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Load condition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Why this number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POST /tickets p95 ≤ 30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Peak 1.73 tickets/min, 10 min, 3 runs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At peak a ticket arrives every ~35 s; slower than that and a one-at-a-time queue never clears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GET /search p95 ≤ 1 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Mixed: 1.73 tickets + 3.5 searches/min, 10 min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 handler waits at the screen; ~1 s keeps their flow of thought unbroken [7]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Throughput ≥ 104 classified/hour (1.73/min), errors ≤ 1%, latency not growing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Peak 1.73 tickets/min, 10 min, 3 runs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Peak-hour volume; throughput below arrivals means a growing backlog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R4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Overall accuracy ≥ 80%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195-ticket golden set, one pass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Our labellers agreed on 78–85% before discussion: the model must match one trained human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R5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Every category recall ≥ 70%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Golden set, per category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Smallest classes have 17–18 tickets (~6 points per error), so the bar sits below R4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760720"/>
            <a:ext cx="11094415" cy="502920"/>
          </a:xfrm>
          <a:prstGeom prst="roundRect">
            <a:avLst>
              <a:gd name="adj" fmla="val 14545"/>
            </a:avLst>
          </a:prstGeom>
          <a:solidFill>
            <a:schemeClr val="bg2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77240" y="576072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Constraints.  C1: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Ollama on CPU only, no public API.   </a:t>
            </a:r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C2: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model's licence must allow the bank's commercial use.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Three candidates span two size classes and 15× in parameters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325880"/>
            <a:ext cx="351525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5" name="Shape 2"/>
          <p:cNvSpPr/>
          <p:nvPr/>
        </p:nvSpPr>
        <p:spPr>
          <a:xfrm>
            <a:off x="777240" y="1508760"/>
            <a:ext cx="292608" cy="292608"/>
          </a:xfrm>
          <a:prstGeom prst="ellipse">
            <a:avLst/>
          </a:prstGeom>
          <a:solidFill>
            <a:srgbClr val="9BC1B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188720" y="1527048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SMALL  · &lt; 1B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2024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qwen2.5:0.5b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494M params · Q4_K_M · 398 MB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633472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Licence: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Apache 2.0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97180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Fastest baseline; same family as the 7B, so size is the only variable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38218" y="1325880"/>
            <a:ext cx="351525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12" name="Shape 9"/>
          <p:cNvSpPr/>
          <p:nvPr/>
        </p:nvSpPr>
        <p:spPr>
          <a:xfrm>
            <a:off x="4566818" y="1508760"/>
            <a:ext cx="292608" cy="292608"/>
          </a:xfrm>
          <a:prstGeom prst="ellipse">
            <a:avLst/>
          </a:prstGeom>
          <a:solidFill>
            <a:srgbClr val="5F747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978298" y="1527048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SMALL  · ~1B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66818" y="192024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llama3.2:1b-instruct-q4_K_M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66818" y="2331720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1.2B params · Q4_K_M · 808 MB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566818" y="2633472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Licence: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Llama 3.2 Community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566818" y="297180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 second family in the small class: does training matter as much as size?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1325880"/>
            <a:ext cx="3515258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19" name="Shape 16"/>
          <p:cNvSpPr/>
          <p:nvPr/>
        </p:nvSpPr>
        <p:spPr>
          <a:xfrm>
            <a:off x="8356397" y="1508760"/>
            <a:ext cx="292608" cy="292608"/>
          </a:xfrm>
          <a:prstGeom prst="ellipse">
            <a:avLst/>
          </a:prstGeom>
          <a:solidFill>
            <a:srgbClr val="0F6E6E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767877" y="1527048"/>
            <a:ext cx="26922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LARGE  · ~7B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356397" y="192024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qwen2.5:7b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356397" y="2331720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7.6B params · Q4_K_M · 4.7 GB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356397" y="2633472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Licence: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Apache 2.0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356397" y="297180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Largest that fits the 9.7 GiB Docker memory budget; expected most accurate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069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Pins (full SHA-256 digests as installed; checked with pull_models.py --check before every session)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891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Tag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Digest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qwen2.5:0.5b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a8b0c51577010a279d933d14c2a8ab4b268079d44c5c8830c0a93900f1827c67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llama3.2:1b-instruct-q4_K_M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22bc6b92eb0160c4629782fca05a9032c59d306ab2058b7dacc8a4644fbafa02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qwen2.5:7b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845dbda0ea48ed749caafd9e6037047aa19acfcfd82e704d7ca97d631a0b697e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ollama/ollama:0.35.1 (image)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sha256:292ee7945dfc3d5840a181f3ab86fedb1e66703e02c8af98b50f4da56b7e278c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3"/>
          <p:cNvSpPr txBox="1"/>
          <p:nvPr/>
        </p:nvSpPr>
        <p:spPr>
          <a:xfrm>
            <a:off x="548640" y="5852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All Q4_K_M, so quantisation is held constant. qwen2.5:3b was in the frozen four-model set but was not measured: its Qwen Research licence is non-commercial and fails C2.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195 golden tickets, labelled twice and frozen before testing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351525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= 0.735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901952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Group A, rows 3000–3099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1762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Cohen's kappa, 2 labellers (78% raw agreement)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38218" y="1280160"/>
            <a:ext cx="351525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66818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 = 0.778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4566818" y="1901952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Group B, rows 3100–3199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66818" y="21762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Fleiss' kappa, 3 labellers (pairwise Cohen 0.745–0.826)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127797" y="1280160"/>
            <a:ext cx="351525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56397" y="1371600"/>
            <a:ext cx="30580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8356397" y="1901952"/>
            <a:ext cx="3058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disagreements, all recorded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356397" y="21762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44 resolved to a category · 5 excluded (no identifiable product)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788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 revisions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3392424"/>
            <a:ext cx="10728655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v0.1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675888"/>
            <a:ext cx="34238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Definitions for 7 categories; tie-break: the product the complaint is mainly about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338218" y="3200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338218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v0.2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338218" y="3675888"/>
            <a:ext cx="34238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From 16 Group A rows: decide Credit reporting vs Debt collection by who the complaint is against; student loans → Consumer loan; bank-account fraud → Bank account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127797" y="320040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27797" y="3200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v0.3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27797" y="3675888"/>
            <a:ext cx="34238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From 12 Group B rows: prepaid cards and crypto → Money transfer; scams follow the product the money left through; when to EXCLUDE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548640" y="4617720"/>
            <a:ext cx="5410048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rgbClr val="D5DFD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470916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Same situation, two answers (3025 vs 3072, rule v0.2)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5047488"/>
            <a:ext cx="495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Both: a collection account on a credit report. 3025 demands TransUnion delete it → Credit reporting. 3072 says Midland, the collector, never proved the debt → Debt collection.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33008" y="4617720"/>
            <a:ext cx="5410048" cy="164592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12700">
            <a:solidFill>
              <a:srgbClr val="D5DFD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461608" y="4709160"/>
            <a:ext cx="4952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 rule overturning the majority (3141)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6461608" y="5047488"/>
            <a:ext cx="49528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 of 3 labellers chose Credit reporting: the person wants a repossession removed. The request is to Ally Financial, the auto lender, so v0.2 makes it Consumer loan.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Two Macs over Wi-Fi; model CPU time is what scales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5090008" cy="2697480"/>
          </a:xfrm>
          <a:prstGeom prst="roundRect">
            <a:avLst>
              <a:gd name="adj" fmla="val 2712"/>
            </a:avLst>
          </a:prstGeom>
          <a:solidFill>
            <a:schemeClr val="tx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77240" y="1389888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BC1BC"/>
                </a:solidFill>
              </a:rPr>
              <a:t>SYSTEM UNDER TEST: triage + Ollama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1737360"/>
            <a:ext cx="46328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MacBook Pro (Mac17,2), Apple M5, 10 cores (4 P + 6 E), 16 GB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macOS 26.6.2 · Docker 29.8.2, VM with 10 CPUs and 9.7 GiB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Ollama 0.35.1, CPU only (ollama ps: 100% CPU)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NUM_PARALLEL=1 · num_ctx 4096 · temperature 0 · seed 42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730088" y="2606040"/>
            <a:ext cx="7315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656936" y="2240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phone hotspot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553048" y="1280160"/>
            <a:ext cx="5090008" cy="2697480"/>
          </a:xfrm>
          <a:prstGeom prst="roundRect">
            <a:avLst>
              <a:gd name="adj" fmla="val 2712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781648" y="1389888"/>
            <a:ext cx="4632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1"/>
                </a:solidFill>
              </a:rPr>
              <a:t>LOAD GENERATOR: a separate machine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781648" y="1737360"/>
            <a:ext cx="463280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 second Mac (Ridwan's), macOS 26.5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Java 17.0.17 · Apache JMeter 5.6.3, non-GUI mode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Reaches the SUT at 172.20.10.2:8000 over Wi-Fi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Confirmed separate: different OS build from the SUT (26.5 vs 26.6.2); every JMeter log targets host 172.20.10.2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206240"/>
            <a:ext cx="541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results scale to the client's servers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572000"/>
            <a:ext cx="54100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82–89% of model time is reading the prompt: a CPU and memory-bandwidth cost that moves with the server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Capacity ≈ 60 ÷ mean model time: 3.1 s here, about 19 tickets/min for 7B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Estimate: a server ~3× slower per ticket still keeps peak p95 &lt; 30 s. Re-measure one 7B ticket on the client's CPU first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233008" y="4206240"/>
            <a:ext cx="54100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make our numbers unrepresentative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33008" y="4572000"/>
            <a:ext cx="54100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Apple Silicon (ARM, unified memory) ≠ x86 DDR servers; laptop thermals; power state not logged for official runs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Wi-Fi: search takes ≤ 7 ms in the service (p95) but 0.2–0.5 s at JMeter, so the network dominates 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10-min runs carry 14–35 POSTs: at ≤ 17 samples p99 equals the maximum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Every run follows the same reset, load, reconcile loop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48640" y="1280160"/>
            <a:ext cx="1696669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5" name="Shape 2"/>
          <p:cNvSpPr/>
          <p:nvPr/>
        </p:nvSpPr>
        <p:spPr>
          <a:xfrm>
            <a:off x="685800" y="13898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143000" y="1417320"/>
            <a:ext cx="10108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Reset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874520"/>
            <a:ext cx="14223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Restart Ollama, delete the DB volume, check /health tag and digest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254453" y="2075688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28189" y="1280160"/>
            <a:ext cx="1696669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2565349" y="13898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565349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022549" y="1417320"/>
            <a:ext cx="10108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Warm up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565349" y="1874520"/>
            <a:ext cx="14223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One invented ticket loads the model; recreate the DB empty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134002" y="2075688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4307738" y="1280160"/>
            <a:ext cx="1696669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7" name="Shape 14"/>
          <p:cNvSpPr/>
          <p:nvPr/>
        </p:nvSpPr>
        <p:spPr>
          <a:xfrm>
            <a:off x="4444898" y="13898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444898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02098" y="1417320"/>
            <a:ext cx="10108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Monitor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444898" y="1874520"/>
            <a:ext cx="14223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docker stats every 5 s into _stats.csv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013552" y="2075688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187288" y="1280160"/>
            <a:ext cx="1696669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23" name="Shape 20"/>
          <p:cNvSpPr/>
          <p:nvPr/>
        </p:nvSpPr>
        <p:spPr>
          <a:xfrm>
            <a:off x="6324448" y="1389888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24448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781648" y="1417320"/>
            <a:ext cx="10108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Load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324448" y="1874520"/>
            <a:ext cx="14223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JMeter non-GUI on the separate Mac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893101" y="2075688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8066837" y="1280160"/>
            <a:ext cx="1696669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29" name="Shape 26"/>
          <p:cNvSpPr/>
          <p:nvPr/>
        </p:nvSpPr>
        <p:spPr>
          <a:xfrm>
            <a:off x="8203997" y="13898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203997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61197" y="1417320"/>
            <a:ext cx="10108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Collect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203997" y="1874520"/>
            <a:ext cx="14223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Commit .jtl, JMeter log, service log, stats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9772650" y="2075688"/>
            <a:ext cx="164592" cy="0"/>
          </a:xfrm>
          <a:prstGeom prst="line">
            <a:avLst/>
          </a:prstGeom>
          <a:noFill/>
          <a:ln w="2222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9946386" y="1280160"/>
            <a:ext cx="1696669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35" name="Shape 32"/>
          <p:cNvSpPr/>
          <p:nvPr/>
        </p:nvSpPr>
        <p:spPr>
          <a:xfrm>
            <a:off x="10083546" y="1389888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0083546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0540746" y="1417320"/>
            <a:ext cx="101086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Reconcile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0083546" y="1874520"/>
            <a:ext cx="142234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Match every request ID; no unknown requests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548640" y="3108960"/>
            <a:ext cx="3515258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12700">
            <a:solidFill>
              <a:srgbClr val="D5DFDD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324612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tests: 27 runs</a:t>
            </a:r>
            <a:endParaRPr lang="en-US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777240" y="365760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Open Model Thread Group: random (Poisson) arrivals at a fixed rate, so a slow server cannot slow the arrivals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3 models × {1.45/2.9, 1.73/3.5, 3.5/7} tickets/searches per min × 3 runs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10 min arrivals + 5 min drain; timeout 600 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Tickets from rows 3200–3999 (golden rows excluded), same order each run; X-Request-ID on every request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4338218" y="3108960"/>
            <a:ext cx="3515258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12700">
            <a:solidFill>
              <a:srgbClr val="D5DFDD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566818" y="324612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test: 3 passes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4566818" y="365760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All 195 golden tickets sent once each through POST /tickets, one at a time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Scored against golden labels: overall, per-category recall and precision, confusion matrix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Run 8 Oct, after the freeze; no load test running at the same time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8127797" y="3108960"/>
            <a:ext cx="3515258" cy="3154680"/>
          </a:xfrm>
          <a:prstGeom prst="roundRect">
            <a:avLst>
              <a:gd name="adj" fmla="val 2319"/>
            </a:avLst>
          </a:prstGeom>
          <a:solidFill>
            <a:schemeClr val="bg1"/>
          </a:solidFill>
          <a:ln w="12700">
            <a:solidFill>
              <a:srgbClr val="D5DFDD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356397" y="324612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 test: qwen2.5:7b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356397" y="3657600"/>
            <a:ext cx="305805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Ramp 3.5 → 12 tickets/min over 30 min (+ 7 searches/min, 10 min drain)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Confirm with 15-min constant runs at 7.2 and 9.6/min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Limit = throughput stops tracking arrivals and latency grows through the run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Diagnose: Ollama queue wait = total − prompt − generation time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All models meet R1–R3 easily; Ollama is the bottleneck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955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960120"/>
                <a:gridCol w="1371600"/>
                <a:gridCol w="1371600"/>
                <a:gridCol w="640080"/>
                <a:gridCol w="777240"/>
                <a:gridCol w="548640"/>
                <a:gridCol w="1097280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Load /min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p50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p95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p99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Thru /min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Err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Search p95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38328">
                <a:tc rowSpan="3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qwen2.5:0.5b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1.45 + 2.9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0.77 (0.65–0.84)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1.95 (1.19–3.33)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0.36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1.73 + 3.5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0.67 (0.63–0.69)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1.02 (1.00–1.04)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1.02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2.02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</a:tr>
              <a:tr h="33832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3.5 + 7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0.68 (0.60–0.81)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1.27 (1.16–1.40)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3.69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 rowSpan="3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llama3.2:1b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1.45 + 2.9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0.76 (0.66–0.93)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1.46 (1.19–1.70)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1.46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0.56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1.73 + 3.5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0.72 (0.63–0.79)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1.74 (1.07–2.88)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1.74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1.82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</a:tr>
              <a:tr h="33832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3.5 + 7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0.86 (0.79–0.97)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1.41 (1.08–1.69)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0.56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 rowSpan="3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2"/>
                          </a:solidFill>
                        </a:rPr>
                        <a:t>qwen2.5:7b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1.45 + 2.9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3.38 (3.07–3.91)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6.60 (5.55–8.37)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6.60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1.62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832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1.73 + 3.5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3.74 (3.69–3.78)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6.06 (5.55–6.71)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6.06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1.90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0.46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C"/>
                    </a:solidFill>
                  </a:tcPr>
                </a:tc>
              </a:tr>
              <a:tr h="338328">
                <a:tc vMerge="1">
                  <a:tcPr/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3.5 + 7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3.54 (3.16–3.99)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6.71 (6.09–7.13)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0.35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7091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POST /tickets latency; mean (min–max) of 3 runs. Shaded = peak, where R1–R3 apply. p99 range in repo summary.</a:t>
            </a:r>
            <a:endParaRPr lang="en-US" sz="1000" dirty="0"/>
          </a:p>
        </p:txBody>
      </p:sp>
      <p:sp>
        <p:nvSpPr>
          <p:cNvPr id="6" name="Shape 2"/>
          <p:cNvSpPr/>
          <p:nvPr/>
        </p:nvSpPr>
        <p:spPr>
          <a:xfrm>
            <a:off x="548640" y="5120640"/>
            <a:ext cx="2560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7" name="Shape 3"/>
          <p:cNvSpPr/>
          <p:nvPr/>
        </p:nvSpPr>
        <p:spPr>
          <a:xfrm>
            <a:off x="731520" y="5257800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31520" y="5257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R1 PASS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5257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All 3 models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56235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peak p95 ≤ 30 s: worst 6.06 s (7B)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246120" y="5120640"/>
            <a:ext cx="2560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12" name="Shape 8"/>
          <p:cNvSpPr/>
          <p:nvPr/>
        </p:nvSpPr>
        <p:spPr>
          <a:xfrm>
            <a:off x="3429000" y="5257800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3429000" y="5257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R2 PASS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480560" y="5257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All 3 models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56235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search p95 ≤ 1 s: worst 0.46 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943600" y="5120640"/>
            <a:ext cx="2560320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/>
        </p:spPr>
      </p:sp>
      <p:sp>
        <p:nvSpPr>
          <p:cNvPr id="17" name="Shape 13"/>
          <p:cNvSpPr/>
          <p:nvPr/>
        </p:nvSpPr>
        <p:spPr>
          <a:xfrm>
            <a:off x="6126480" y="5257800"/>
            <a:ext cx="96012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126480" y="525780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R3 PASS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7178040" y="52578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All 3 models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126480" y="562356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 errors in 27 runs; throughput tracks arrivals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778240" y="1280160"/>
            <a:ext cx="2864815" cy="4983480"/>
          </a:xfrm>
          <a:prstGeom prst="roundRect">
            <a:avLst>
              <a:gd name="adj" fmla="val 2553"/>
            </a:avLst>
          </a:prstGeom>
          <a:solidFill>
            <a:schemeClr val="tx2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8961120" y="1389888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BC1BC"/>
                </a:solidFill>
              </a:rPr>
              <a:t>STRESS TEST · qwen2.5:7b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8961120" y="1755648"/>
            <a:ext cx="2499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Ramp 3.5 → 12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961120" y="2002536"/>
            <a:ext cx="2499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DDA"/>
                </a:solidFill>
              </a:rPr>
              <a:t>232 POSTs · p95 10.2 s · 0 errors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8961120" y="2304288"/>
            <a:ext cx="2499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7.2 /min, 15 min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961120" y="2551176"/>
            <a:ext cx="2499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DDA"/>
                </a:solidFill>
              </a:rPr>
              <a:t>108 POSTs · p95 8.7 s · 0 errors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961120" y="2852928"/>
            <a:ext cx="2499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9.6 /min, 15 min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961120" y="3099816"/>
            <a:ext cx="2499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DDA"/>
                </a:solidFill>
              </a:rPr>
              <a:t>144 POSTs · p95 17.3 s · 0 errors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8961120" y="352044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limit found up to 12 /min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8961120" y="3858768"/>
            <a:ext cx="24990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Sustained 9.6 /min with no latency growth: 5.5× peak. Estimated limit ≈ 19 /min (60 ÷ 3.1 s), not yet confirmed.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8961120" y="4709160"/>
            <a:ext cx="24990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Bottleneck: Ollama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8961120" y="5047488"/>
            <a:ext cx="24990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Wait in our service &lt; 0.1 s; at 9.6 /min the wait inside Ollama's FIFO reaches p95 14.6 s. Ollama CPU p99 1,040% vs triage ≤ 6.8%.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Only the 7B model classifies usefully, and it misses one category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34440"/>
          <a:ext cx="722376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1"/>
          <p:cNvSpPr/>
          <p:nvPr/>
        </p:nvSpPr>
        <p:spPr>
          <a:xfrm>
            <a:off x="8092440" y="1280160"/>
            <a:ext cx="3550615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8229600" y="12801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qwen2.5:0.5b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9326880" y="128016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17.9%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0360152" y="1463040"/>
            <a:ext cx="566928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10360152" y="14630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R4 ✗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10972800" y="1463040"/>
            <a:ext cx="566928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10972800" y="14630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R5 ✗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092440" y="2029968"/>
            <a:ext cx="3550615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229600" y="202996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llama3.2:1b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9326880" y="20299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32.8%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10360152" y="2212848"/>
            <a:ext cx="566928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10360152" y="22128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R4 ✗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10972800" y="2212848"/>
            <a:ext cx="566928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10972800" y="221284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R5 ✗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2440" y="2779776"/>
            <a:ext cx="3550615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22960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qwen2.5:7b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9326880" y="277977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82.6%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10360152" y="2962656"/>
            <a:ext cx="566928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10360152" y="296265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R4 ✓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10972800" y="2962656"/>
            <a:ext cx="566928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10972800" y="296265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R5 ✗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8092440" y="3611880"/>
            <a:ext cx="3550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model goes wrong</a:t>
            </a:r>
            <a:endParaRPr lang="en-US" sz="1500" dirty="0"/>
          </a:p>
        </p:txBody>
      </p:sp>
      <p:sp>
        <p:nvSpPr>
          <p:cNvPr id="27" name="Text 23"/>
          <p:cNvSpPr txBox="1"/>
          <p:nvPr/>
        </p:nvSpPr>
        <p:spPr>
          <a:xfrm>
            <a:off x="8092440" y="3977640"/>
            <a:ext cx="355061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0.5B labels 155 of 195 tickets (79%) Credit card, whatever the content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1B labels 121 (62%) Credit reporting; 0 of 24 Consumer loans right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7B sends 9 of 30 Money transfers to Bank account, the split our own labellers argued over most. It needs 21 of 30 correct for R5 and gets 20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7B also: 4 Credit reporting → Debt collection; 3 Consumer loan → Credit reporting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Right about the bottleneck, wrong about its size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26948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63240"/>
                <a:gridCol w="1143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We predicted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We measured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Bottleneck: Ollama reading the prompt; Ollama ≥ 900% CPU, triage &lt; 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Prompt = 82% of 7B model time; Ollama p99 1,040%, triage max 6.8%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Right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Single-ticket p50: 0.8 / 0.9 / 6.1 s (0.5B / 1B / 7B)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0.40 / 0.46 / 2.84 s, about half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Wrong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7B saturates near 9.4 /min; latency grows without bound at 9.6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Stable at 9.6 /min, p95 17.3 s, 0 errors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Wrong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Accuracy 45% / 55% / 78%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17.9% / 32.8% / 82.6%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2 of 3 wrong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0.5B defaults to Credit reporting (&gt; 35% of answers)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Defaults to Credit card (79%)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Wrong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Hardest: Debt collection, Consumer loan; ≥ 25% of Money transfer → Bank account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Money transfer 66.7% (30% → Bank account), Consumer loan 70.8%; Debt collection 82.4%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Mostly right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Search p95 &lt; 100 ms at peak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0.22–0.46 s at JMeter (≤ 7 ms inside the service)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4"/>
                          </a:solidFill>
                        </a:rPr>
                        <a:t>Wrong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F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892040"/>
            <a:ext cx="7269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Why: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latency was extrapolated from a prototype prompt with category definitions, ~170 tokens longer than the frozen one, so every time and the 7B capacity came out ~2× too slow. We underestimated how badly sub-1B models fail without definitions: each collapses onto a single label. Search time is network, not SQLite.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8092440" y="1280160"/>
            <a:ext cx="3550615" cy="4983480"/>
          </a:xfrm>
          <a:prstGeom prst="roundRect">
            <a:avLst>
              <a:gd name="adj" fmla="val 2060"/>
            </a:avLst>
          </a:prstGeom>
          <a:solidFill>
            <a:schemeClr val="tx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8321040" y="1417320"/>
            <a:ext cx="3093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BC1BC"/>
                </a:solidFill>
              </a:rPr>
              <a:t>WE RECOMMEND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321040" y="169164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qwen2.5:7b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8321040" y="2240280"/>
            <a:ext cx="30934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Meets R1–R4: p95 6.1 s (limit 30), search 0.46 s (limit 1), 0 errors, 82.6% (bar 80)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Apache 2.0 licence passes C2; fits on one CPU server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bg1"/>
                </a:solidFill>
              </a:rPr>
              <a:t>Small models fail R4 by 47–62 points. Under our position their speed does not matter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275320" y="4343400"/>
            <a:ext cx="3184855" cy="1783080"/>
          </a:xfrm>
          <a:prstGeom prst="roundRect">
            <a:avLst>
              <a:gd name="adj" fmla="val 4103"/>
            </a:avLst>
          </a:prstGeom>
          <a:solidFill>
            <a:srgbClr val="1B4A5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458200" y="4434840"/>
            <a:ext cx="2819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Stated plainly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458200" y="4727448"/>
            <a:ext cx="28190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No candidate meets every requirement. R5 fails for all three; for 7B, Money transfer reaches 66.7%, one ticket short of 70%. Until a prompt fix in A2, double-check tickets routed to Money transfer and Bank account.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References and acknowledgements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66751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[1] Lloyds Banking Group (2026). Complaints publication report: Bank of Scotland plc, 1 July – 31 December 2025. lloydsbankinggroup.com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[2] Financial Conduct Authority (2026). Aggregate complaints data: 2025 H2. fca.org.uk/data/complaints-data/aggregate-complaints-data-2025-h2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[3] Brown, L. et al. (2005). Statistical analysis of a telephone call center: a queueing-science perspective. JASA, 100(469), 36–50.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[4] Soon. How many agents do you need for 500 calls a day? soon.works/staffing/call-center/500-calls-per-day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[5] Financial Conduct Authority. FCA Handbook Glossary: complaint. handbook.fca.org.uk/glossary/G197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[6] Consumer Financial Protection Bureau. Consumer Complaint Database. consumerfinance.gov/data-research/consumer-complaints (course extract, rows 3000–3999)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[7] Nielsen, J. (1993). Response times: the 3 important limits. Nielsen Norman Group. nngroup.com/articles/response-times-3-important-limits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589520" y="1280160"/>
            <a:ext cx="4053535" cy="3017520"/>
          </a:xfrm>
          <a:prstGeom prst="roundRect">
            <a:avLst>
              <a:gd name="adj" fmla="val 2424"/>
            </a:avLst>
          </a:prstGeom>
          <a:solidFill>
            <a:schemeClr val="bg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18120" y="1389888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Software and model licences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818120" y="1755648"/>
            <a:ext cx="359633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Ollama 0.35.1, MIT License. ollama.com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Qwen2.5 0.5B and 7B (Alibaba Cloud), Apache License 2.0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Llama 3.2 1B: Llama 3.2 Community License, Meta Platforms. Built with Llama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Apache JMeter 5.6.3, Apache License 2.0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FastAPI (MIT), SQLite (public domain), Docker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589520" y="4480560"/>
            <a:ext cx="4053535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12700">
            <a:solidFill>
              <a:srgbClr val="D5DF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4572000"/>
            <a:ext cx="3596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Acknowledgements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4919472"/>
            <a:ext cx="35963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Complaint narratives published by the CFPB with consumer consent, personal data removed at source. AI coding tools (Claude Code) helped build the service and test scripts and draft documents; all labels, test runs and the recommendation are the team's own.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iage Ledger">
  <a:themeElements>
    <a:clrScheme name="Triage Ledger">
      <a:dk1>
        <a:srgbClr val="1B2A30"/>
      </a:dk1>
      <a:lt1>
        <a:srgbClr val="FFFFFF"/>
      </a:lt1>
      <a:dk2>
        <a:srgbClr val="12343B"/>
      </a:dk2>
      <a:lt2>
        <a:srgbClr val="EEF3F2"/>
      </a:lt2>
      <a:accent1>
        <a:srgbClr val="0F6E6E"/>
      </a:accent1>
      <a:accent2>
        <a:srgbClr val="D9962B"/>
      </a:accent2>
      <a:accent3>
        <a:srgbClr val="2E7D4F"/>
      </a:accent3>
      <a:accent4>
        <a:srgbClr val="B83A2E"/>
      </a:accent4>
      <a:accent5>
        <a:srgbClr val="5F747B"/>
      </a:accent5>
      <a:accent6>
        <a:srgbClr val="9BC1BC"/>
      </a:accent6>
      <a:hlink>
        <a:srgbClr val="0F6E6E"/>
      </a:hlink>
      <a:folHlink>
        <a:srgbClr val="5F747B"/>
      </a:folHlink>
    </a:clrScheme>
    <a:fontScheme name="Triage Ledg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Ticket Triage on CPU-only Hardware</dc:title>
  <dc:subject>PptxGenJS Presentation</dc:subject>
  <dc:creator>Group P1-3</dc:creator>
  <cp:lastModifiedBy>Group P1-3</cp:lastModifiedBy>
  <cp:revision>1</cp:revision>
  <dcterms:created xsi:type="dcterms:W3CDTF">2026-10-08T13:17:54Z</dcterms:created>
  <dcterms:modified xsi:type="dcterms:W3CDTF">2026-10-08T13:17:54Z</dcterms:modified>
</cp:coreProperties>
</file>